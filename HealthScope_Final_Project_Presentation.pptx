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5E519BB-908C-7054-988E-A737C8B42486}">
          <p14:sldIdLst>
            <p14:sldId id="256"/>
          </p14:sldIdLst>
        </p14:section>
        <p14:section name="Introduction" id="{FB74DDAE-A495-2556-DB12-0BFA8BE163F3}">
          <p14:sldIdLst>
            <p14:sldId id="259"/>
            <p14:sldId id="260"/>
            <p14:sldId id="261"/>
          </p14:sldIdLst>
        </p14:section>
        <p14:section name="Design" id="{3170D106-C7CB-F10D-B84B-7D18C87C541F}">
          <p14:sldIdLst>
            <p14:sldId id="262"/>
            <p14:sldId id="263"/>
            <p14:sldId id="264"/>
          </p14:sldIdLst>
        </p14:section>
        <p14:section name="Data &amp; Modules" id="{CCC749E1-25E2-0FF7-5765-91348A529919}">
          <p14:sldIdLst>
            <p14:sldId id="265"/>
            <p14:sldId id="266"/>
            <p14:sldId id="267"/>
          </p14:sldIdLst>
        </p14:section>
        <p14:section name="Implementation" id="{345CE970-9249-0A84-2059-6D87FD76B9A6}">
          <p14:sldIdLst>
            <p14:sldId id="268"/>
            <p14:sldId id="269"/>
            <p14:sldId id="270"/>
          </p14:sldIdLst>
        </p14:section>
        <p14:section name="Results" id="{D5D51475-46C5-7E36-47B8-2EA0AD9A178F}">
          <p14:sldIdLst>
            <p14:sldId id="271"/>
            <p14:sldId id="272"/>
            <p14:sldId id="273"/>
          </p14:sldIdLst>
        </p14:section>
        <p14:section name="Wrap-up" id="{1355F605-AFD4-FF77-F015-35620F12C2F6}">
          <p14:sldIdLst>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2" autoAdjust="0"/>
    <p:restoredTop sz="94610"/>
  </p:normalViewPr>
  <p:slideViewPr>
    <p:cSldViewPr snapToGrid="0" snapToObjects="1">
      <p:cViewPr>
        <p:scale>
          <a:sx n="92" d="100"/>
          <a:sy n="92" d="100"/>
        </p:scale>
        <p:origin x="10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4205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all bracketed text. Use the full project title, list every team member with registration number, and name your guide. Insert the institution logo in the dashed box.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domain, the exact problem and why it matters. Keep it to about 2 minutes. Add one real-world statistic if you can, with a citation.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should be measurable and start with action verbs. The scope slide tells the panel what you did and did not attempt.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four to six relevant papers or existing systems. End with the research gap, because that gap justifies your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left to right. Rename the steps to match your project (for example, Requirement Analysis, Design, Coding, Testing, Deployment). End with your novelty.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a clear block diagram: input, processing, storage, output. Number each block and explain them on the right. Redraw the figure yourself rather than copying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only what you actually used, with versions. For a pure software project, shorten the hardware list and add cloud or deployment resources.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where the data came from and what it contains. Show a screenshot of the first rows or the info summary. For non-data projects, replace this slide with “Requirement Analysis” or “Input Specification”.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two or three plots that tell a story: distributions, correlations, outliers. Explain what each plot told you and what you did about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 the project into three to five modules. For each, state its purpose, inputs, outputs and who built it. Duplicate a card if you have more modules.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each model, algorithm or technology, say why you chose it, and list the key settings. Then explain how you picked the final 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build in the order you did it. Paste only the most important code or pseudocode, not entire files. For hardware projects, show the circuit or wiring summary instead.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real screenshots, photos of the hardware or a short demo video link. Caption each one with what the viewer should notice.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Right-click the chart and choose Edit Data to enter your real numbers. Replace the metrics with the ones that fit your project (accuracy, latency, power, throughput, user rating). State clearly which option performed best.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the numbers mean. Use a confusion matrix, ROC curve, feature-importance chart or output comparison. Be honest about weak results; panels value that.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representative test cases with expected and actual outcomes. Name the validation methods you used. Delete rows you do not need.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Pair every challenge with how you solved it, and list limitations that the panel would otherwise spot themselves.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Revisit each objective and say whether you met it. Quote your headline result with numbers. Do not introduce new material here.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concrete next steps, ideally tied to the limitations. Then name two or three real-world uses.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work was planned and shared. Every member should be able to explain their own module.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IEEE style, numbered in order of first citation in the deck. Include datasets, documentation and code repositories.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questions. Make sure every team member can answer questions about their own module.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Health Scope  |  Department of CSE  |  Final Project Review</a:t>
            </a:r>
            <a:endParaRPr lang="en-US" sz="1000" dirty="0"/>
          </a:p>
        </p:txBody>
      </p:sp>
      <p:sp>
        <p:nvSpPr>
          <p:cNvPr id="3" name="Text 1"/>
          <p:cNvSpPr>
            <a:spLocks noGrp="1"/>
          </p:cNvSpPr>
          <p:nvPr>
            <p:ph type="title" idx="101" hasCustomPrompt="1"/>
          </p:nvPr>
        </p:nvSpPr>
        <p:spPr>
          <a:xfrm>
            <a:off x="548640" y="365760"/>
            <a:ext cx="11091672" cy="77724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r>
              <a:rPr lang="en-US" sz="3200" b="1" dirty="0">
                <a:solidFill>
                  <a:schemeClr val="tx2"/>
                </a:solidFill>
              </a:rPr>
              <a:t>Slide Title</a:t>
            </a:r>
            <a:endParaRPr lang="en-US" sz="3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txBody>
          <a:bodyPr/>
          <a:lstStyle/>
          <a:p>
            <a:endParaRPr lang="en-IN"/>
          </a:p>
        </p:txBody>
      </p:sp>
      <p:pic>
        <p:nvPicPr>
          <p:cNvPr id="3" name="Image 0" descr="circles.png"/>
          <p:cNvPicPr>
            <a:picLocks noChangeAspect="1"/>
          </p:cNvPicPr>
          <p:nvPr/>
        </p:nvPicPr>
        <p:blipFill>
          <a:blip r:embed="rId2"/>
          <a:stretch>
            <a:fillRect/>
          </a:stretch>
        </p:blipFill>
        <p:spPr>
          <a:xfrm>
            <a:off x="0" y="0"/>
            <a:ext cx="12188952" cy="6858000"/>
          </a:xfrm>
          <a:prstGeom prst="rect">
            <a:avLst/>
          </a:prstGeom>
        </p:spPr>
      </p:pic>
      <p:sp>
        <p:nvSpPr>
          <p:cNvPr id="4" name="Text 1"/>
          <p:cNvSpPr>
            <a:spLocks noGrp="1"/>
          </p:cNvSpPr>
          <p:nvPr>
            <p:ph type="title" idx="102" hasCustomPrompt="1"/>
          </p:nvPr>
        </p:nvSpPr>
        <p:spPr>
          <a:xfrm>
            <a:off x="731520" y="1554480"/>
            <a:ext cx="7680960" cy="173736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r>
              <a:rPr lang="en-US" sz="3800" b="1" dirty="0">
                <a:solidFill>
                  <a:schemeClr val="bg1"/>
                </a:solidFill>
              </a:rPr>
              <a:t>[PROJECT TITLE]</a:t>
            </a:r>
            <a:endParaRPr lang="en-US" sz="3800" dirty="0"/>
          </a:p>
        </p:txBody>
      </p:sp>
      <p:sp>
        <p:nvSpPr>
          <p:cNvPr id="5" name="Text 1"/>
          <p:cNvSpPr>
            <a:spLocks noGrp="1"/>
          </p:cNvSpPr>
          <p:nvPr>
            <p:ph type="body" idx="103" hasCustomPrompt="1"/>
          </p:nvPr>
        </p:nvSpPr>
        <p:spPr>
          <a:xfrm>
            <a:off x="731520" y="3474720"/>
            <a:ext cx="7680960" cy="457200"/>
          </a:xfrm>
          <a:prstGeom prst="rect">
            <a:avLst/>
          </a:prstGeom>
          <a:noFill/>
          <a:ln/>
        </p:spPr>
        <p:txBody>
          <a:bodyPr wrap="square" rtlCol="0"/>
          <a:lstStyle>
            <a:lvl1pPr marL="0" indent="0">
              <a:buNone/>
              <a:defRPr lang="en-US" sz="1800" dirty="0">
                <a:solidFill>
                  <a:schemeClr val="bg2"/>
                </a:solidFill>
              </a:defRPr>
            </a:lvl1pPr>
          </a:lstStyle>
          <a:p>
            <a:pPr marL="0" indent="0">
              <a:buNone/>
            </a:pPr>
            <a:r>
              <a:rPr lang="en-US" sz="1800" dirty="0">
                <a:solidFill>
                  <a:schemeClr val="bg2"/>
                </a:solidFill>
              </a:rPr>
              <a:t>[Subtitle]</a:t>
            </a:r>
            <a:endParaRPr lang="en-US" sz="1800" dirty="0"/>
          </a:p>
        </p:txBody>
      </p:sp>
      <p:sp>
        <p:nvSpPr>
          <p:cNvPr id="6" name="Text 1"/>
          <p:cNvSpPr>
            <a:spLocks noGrp="1"/>
          </p:cNvSpPr>
          <p:nvPr>
            <p:ph type="body" idx="104" hasCustomPrompt="1"/>
          </p:nvPr>
        </p:nvSpPr>
        <p:spPr>
          <a:xfrm>
            <a:off x="731520" y="4206240"/>
            <a:ext cx="6949440" cy="1920240"/>
          </a:xfrm>
          <a:prstGeom prst="rect">
            <a:avLst/>
          </a:prstGeom>
          <a:noFill/>
          <a:ln/>
        </p:spPr>
        <p:txBody>
          <a:bodyPr wrap="square" rtlCol="0"/>
          <a:lstStyle>
            <a:lvl1pPr marL="0" indent="0">
              <a:buNone/>
              <a:defRPr lang="en-US" sz="1600" dirty="0">
                <a:solidFill>
                  <a:schemeClr val="bg1"/>
                </a:solidFill>
              </a:defRPr>
            </a:lvl1pPr>
          </a:lstStyle>
          <a:p>
            <a:pPr marL="0" indent="0">
              <a:buNone/>
            </a:pPr>
            <a:r>
              <a:rPr lang="en-US" sz="1600" dirty="0">
                <a:solidFill>
                  <a:schemeClr val="bg1"/>
                </a:solidFill>
              </a:rPr>
              <a:t>[Team]</a:t>
            </a: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txBody>
          <a:bodyPr/>
          <a:lstStyle/>
          <a:p>
            <a:endParaRPr lang="en-IN"/>
          </a:p>
        </p:txBody>
      </p:sp>
      <p:pic>
        <p:nvPicPr>
          <p:cNvPr id="3" name="Image 0" descr="circles.png"/>
          <p:cNvPicPr>
            <a:picLocks noChangeAspect="1"/>
          </p:cNvPicPr>
          <p:nvPr/>
        </p:nvPicPr>
        <p:blipFill>
          <a:blip r:embed="rId2"/>
          <a:stretch>
            <a:fillRect/>
          </a:stretch>
        </p:blipFill>
        <p:spPr>
          <a:xfrm>
            <a:off x="0" y="0"/>
            <a:ext cx="12188952" cy="6858000"/>
          </a:xfrm>
          <a:prstGeom prst="rect">
            <a:avLst/>
          </a:prstGeom>
        </p:spPr>
      </p:pic>
      <p:sp>
        <p:nvSpPr>
          <p:cNvPr id="4" name="Text 1"/>
          <p:cNvSpPr>
            <a:spLocks noGrp="1"/>
          </p:cNvSpPr>
          <p:nvPr>
            <p:ph type="title" idx="102" hasCustomPrompt="1"/>
          </p:nvPr>
        </p:nvSpPr>
        <p:spPr>
          <a:xfrm>
            <a:off x="731520" y="2011680"/>
            <a:ext cx="7680960" cy="118872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r>
              <a:rPr lang="en-US" sz="5400" b="1" dirty="0">
                <a:solidFill>
                  <a:schemeClr val="bg1"/>
                </a:solidFill>
              </a:rPr>
              <a:t>THANK YOU</a:t>
            </a:r>
            <a:endParaRPr lang="en-US" sz="5400" dirty="0"/>
          </a:p>
        </p:txBody>
      </p:sp>
      <p:sp>
        <p:nvSpPr>
          <p:cNvPr id="5" name="Text 1"/>
          <p:cNvSpPr>
            <a:spLocks noGrp="1"/>
          </p:cNvSpPr>
          <p:nvPr>
            <p:ph type="body" idx="103" hasCustomPrompt="1"/>
          </p:nvPr>
        </p:nvSpPr>
        <p:spPr>
          <a:xfrm>
            <a:off x="731520" y="3383280"/>
            <a:ext cx="7680960" cy="548640"/>
          </a:xfrm>
          <a:prstGeom prst="rect">
            <a:avLst/>
          </a:prstGeom>
          <a:noFill/>
          <a:ln/>
        </p:spPr>
        <p:txBody>
          <a:bodyPr wrap="square" rtlCol="0"/>
          <a:lstStyle>
            <a:lvl1pPr marL="0" indent="0">
              <a:buNone/>
              <a:defRPr lang="en-US" sz="2400" dirty="0">
                <a:solidFill>
                  <a:schemeClr val="bg2"/>
                </a:solidFill>
              </a:defRPr>
            </a:lvl1pPr>
          </a:lstStyle>
          <a:p>
            <a:pPr marL="0" indent="0">
              <a:buNone/>
            </a:pPr>
            <a:r>
              <a:rPr lang="en-US" sz="2400" dirty="0">
                <a:solidFill>
                  <a:schemeClr val="bg2"/>
                </a:solidFill>
              </a:rPr>
              <a:t>Questions</a:t>
            </a:r>
            <a:endParaRPr lang="en-US" sz="2400" dirty="0"/>
          </a:p>
        </p:txBody>
      </p:sp>
      <p:sp>
        <p:nvSpPr>
          <p:cNvPr id="6" name="Text 1"/>
          <p:cNvSpPr>
            <a:spLocks noGrp="1"/>
          </p:cNvSpPr>
          <p:nvPr>
            <p:ph type="body" idx="104" hasCustomPrompt="1"/>
          </p:nvPr>
        </p:nvSpPr>
        <p:spPr>
          <a:xfrm>
            <a:off x="731520" y="4297680"/>
            <a:ext cx="6949440" cy="1463040"/>
          </a:xfrm>
          <a:prstGeom prst="rect">
            <a:avLst/>
          </a:prstGeom>
          <a:noFill/>
          <a:ln/>
        </p:spPr>
        <p:txBody>
          <a:bodyPr wrap="square" rtlCol="0"/>
          <a:lstStyle>
            <a:lvl1pPr marL="0" indent="0">
              <a:buNone/>
              <a:defRPr lang="en-US" sz="1600" dirty="0">
                <a:solidFill>
                  <a:schemeClr val="bg1"/>
                </a:solidFill>
              </a:defRPr>
            </a:lvl1pPr>
          </a:lstStyle>
          <a:p>
            <a:pPr marL="0" indent="0">
              <a:buNone/>
            </a:pPr>
            <a:r>
              <a:rPr lang="en-US" sz="1600" dirty="0">
                <a:solidFill>
                  <a:schemeClr val="bg1"/>
                </a:solidFill>
              </a:rPr>
              <a:t>Contact</a:t>
            </a: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9.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731520" y="1554480"/>
            <a:ext cx="7680960" cy="1737360"/>
          </a:xfrm>
          <a:prstGeom prst="rect">
            <a:avLst/>
          </a:prstGeom>
          <a:noFill/>
          <a:ln/>
        </p:spPr>
        <p:txBody>
          <a:bodyPr wrap="square" lIns="0" tIns="0" rIns="0" bIns="0" rtlCol="0" anchor="b"/>
          <a:lstStyle/>
          <a:p>
            <a:pPr marL="0" indent="0" algn="l">
              <a:buNone/>
            </a:pPr>
            <a:r>
              <a:rPr lang="en-US" sz="2800" b="1" dirty="0">
                <a:solidFill>
                  <a:schemeClr val="bg1"/>
                </a:solidFill>
              </a:rPr>
              <a:t>HEALTH SCOPE – A FULL-LIFECYCLE PUBLIC HEALTH ANALYTICS &amp; RISK DASHBOARD</a:t>
            </a:r>
            <a:endParaRPr lang="en-US" sz="2800" dirty="0"/>
          </a:p>
        </p:txBody>
      </p:sp>
      <p:sp>
        <p:nvSpPr>
          <p:cNvPr id="3" name="Text 1"/>
          <p:cNvSpPr>
            <a:spLocks noGrp="1"/>
          </p:cNvSpPr>
          <p:nvPr>
            <p:ph type="body" idx="103" hasCustomPrompt="1"/>
          </p:nvPr>
        </p:nvSpPr>
        <p:spPr>
          <a:xfrm>
            <a:off x="731520" y="3474720"/>
            <a:ext cx="7680960" cy="457200"/>
          </a:xfrm>
          <a:prstGeom prst="rect">
            <a:avLst/>
          </a:prstGeom>
          <a:noFill/>
          <a:ln/>
        </p:spPr>
        <p:txBody>
          <a:bodyPr wrap="square" lIns="0" tIns="0" rIns="0" bIns="0" rtlCol="0"/>
          <a:lstStyle/>
          <a:p>
            <a:pPr marL="0" indent="0">
              <a:buNone/>
            </a:pPr>
            <a:r>
              <a:rPr lang="en-US" sz="1800" dirty="0">
                <a:solidFill>
                  <a:schemeClr val="bg2"/>
                </a:solidFill>
              </a:rPr>
              <a:t>Final Project Review  |  Department of CSE  |  KLH Bowrampet Campus</a:t>
            </a:r>
            <a:endParaRPr lang="en-US" sz="1800" dirty="0"/>
          </a:p>
        </p:txBody>
      </p:sp>
      <p:sp>
        <p:nvSpPr>
          <p:cNvPr id="4" name="Text 1"/>
          <p:cNvSpPr>
            <a:spLocks noGrp="1"/>
          </p:cNvSpPr>
          <p:nvPr>
            <p:ph type="body" idx="104" hasCustomPrompt="1"/>
          </p:nvPr>
        </p:nvSpPr>
        <p:spPr>
          <a:xfrm>
            <a:off x="731520" y="4206240"/>
            <a:ext cx="6949440" cy="1920240"/>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rPr>
              <a:t>TEAM MEMBERS</a:t>
            </a:r>
            <a:endParaRPr lang="en-US" sz="1600" dirty="0"/>
          </a:p>
          <a:p>
            <a:pPr marL="0" indent="0">
              <a:spcAft>
                <a:spcPts val="400"/>
              </a:spcAft>
              <a:buNone/>
            </a:pPr>
            <a:r>
              <a:rPr lang="en-US" sz="1600" dirty="0">
                <a:solidFill>
                  <a:schemeClr val="bg1"/>
                </a:solidFill>
              </a:rPr>
              <a:t>2420030300 – SIRIL PUNNA</a:t>
            </a:r>
            <a:endParaRPr lang="en-US" sz="1600" dirty="0"/>
          </a:p>
          <a:p>
            <a:pPr marL="0" indent="0">
              <a:spcAft>
                <a:spcPts val="400"/>
              </a:spcAft>
              <a:buNone/>
            </a:pPr>
            <a:r>
              <a:rPr lang="en-US" sz="1600" dirty="0">
                <a:solidFill>
                  <a:schemeClr val="bg1"/>
                </a:solidFill>
              </a:rPr>
              <a:t>2420030169 – D. DINESH KUMAR</a:t>
            </a:r>
            <a:endParaRPr lang="en-US" sz="1600" dirty="0"/>
          </a:p>
          <a:p>
            <a:pPr marL="0" indent="0">
              <a:spcAft>
                <a:spcPts val="400"/>
              </a:spcAft>
              <a:buNone/>
            </a:pPr>
            <a:r>
              <a:rPr lang="en-US" sz="1600" dirty="0">
                <a:solidFill>
                  <a:schemeClr val="bg1"/>
                </a:solidFill>
              </a:rPr>
              <a:t>2420030320 – T. SRI VATSAV</a:t>
            </a:r>
            <a:endParaRPr lang="en-US" sz="1600" dirty="0"/>
          </a:p>
          <a:p>
            <a:pPr marL="0" indent="0">
              <a:spcAft>
                <a:spcPts val="400"/>
              </a:spcAft>
              <a:buNone/>
            </a:pPr>
            <a:r>
              <a:rPr lang="en-US" sz="1600" dirty="0">
                <a:solidFill>
                  <a:schemeClr val="bg1"/>
                </a:solidFill>
              </a:rPr>
              <a:t>Guide: Dr. N. Sunanda   |   Data Science (24AD3107)   |   Batch 20   |   A.Y. 2026–27</a:t>
            </a:r>
            <a:endParaRPr lang="en-US" sz="1600" dirty="0"/>
          </a:p>
        </p:txBody>
      </p:sp>
      <p:sp>
        <p:nvSpPr>
          <p:cNvPr id="5" name="Logo backing"/>
          <p:cNvSpPr/>
          <p:nvPr/>
        </p:nvSpPr>
        <p:spPr>
          <a:xfrm>
            <a:off x="731520" y="457200"/>
            <a:ext cx="4754880" cy="701040"/>
          </a:xfrm>
          <a:prstGeom prst="roundRect">
            <a:avLst>
              <a:gd name="adj" fmla="val 6000"/>
            </a:avLst>
          </a:prstGeom>
          <a:solidFill>
            <a:schemeClr val="bg1"/>
          </a:solidFill>
          <a:ln>
            <a:noFill/>
          </a:ln>
        </p:spPr>
        <p:txBody>
          <a:bodyPr rtlCol="0" anchor="ctr"/>
          <a:lstStyle/>
          <a:p>
            <a:pPr algn="ctr"/>
          </a:p>
        </p:txBody>
      </p:sp>
      <p:pic>
        <p:nvPicPr>
          <p:cNvPr id="6" name="Institution logo" descr="logo-000.png"/>
          <p:cNvPicPr>
            <a:picLocks noChangeAspect="1"/>
          </p:cNvPicPr>
          <p:nvPr/>
        </p:nvPicPr>
        <p:blipFill>
          <a:blip r:embed="rId3"/>
          <a:stretch>
            <a:fillRect/>
          </a:stretch>
        </p:blipFill>
        <p:spPr>
          <a:xfrm>
            <a:off x="868680" y="548640"/>
            <a:ext cx="4480560" cy="5060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Introduction &amp; Problem Statement</a:t>
            </a:r>
            <a:endParaRPr lang="en-US" sz="3200" dirty="0"/>
          </a:p>
        </p:txBody>
      </p:sp>
      <p:sp>
        <p:nvSpPr>
          <p:cNvPr id="4" name="Card"/>
          <p:cNvSpPr/>
          <p:nvPr/>
        </p:nvSpPr>
        <p:spPr>
          <a:xfrm>
            <a:off x="548640" y="1371600"/>
            <a:ext cx="6766560" cy="1463040"/>
          </a:xfrm>
          <a:prstGeom prst="roundRect">
            <a:avLst>
              <a:gd name="adj" fmla="val 7500"/>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sp>
        <p:nvSpPr>
          <p:cNvPr id="7" name="Text 3"/>
          <p:cNvSpPr txBox="1"/>
          <p:nvPr/>
        </p:nvSpPr>
        <p:spPr>
          <a:xfrm>
            <a:off x="1508760" y="1554480"/>
            <a:ext cx="5577840" cy="502920"/>
          </a:xfrm>
          <a:prstGeom prst="rect">
            <a:avLst/>
          </a:prstGeom>
          <a:noFill/>
          <a:ln/>
        </p:spPr>
        <p:txBody>
          <a:bodyPr wrap="square" lIns="0" tIns="0" rIns="0" bIns="0" rtlCol="0" anchor="ctr"/>
          <a:lstStyle/>
          <a:p>
            <a:pPr marL="0" indent="0">
              <a:buNone/>
            </a:pPr>
            <a:r>
              <a:rPr lang="en-US" sz="1800" b="1" dirty="0">
                <a:solidFill>
                  <a:schemeClr val="tx2"/>
                </a:solidFill>
              </a:rPr>
              <a:t>Background</a:t>
            </a:r>
            <a:endParaRPr lang="en-US" sz="1800" dirty="0"/>
          </a:p>
        </p:txBody>
      </p:sp>
      <p:sp>
        <p:nvSpPr>
          <p:cNvPr id="8" name="Text 4"/>
          <p:cNvSpPr txBox="1"/>
          <p:nvPr/>
        </p:nvSpPr>
        <p:spPr>
          <a:xfrm>
            <a:off x="822960" y="2240280"/>
            <a:ext cx="6217920" cy="457200"/>
          </a:xfrm>
          <a:prstGeom prst="rect">
            <a:avLst/>
          </a:prstGeom>
          <a:noFill/>
          <a:ln/>
        </p:spPr>
        <p:txBody>
          <a:bodyPr wrap="square" lIns="0" tIns="0" rIns="0" bIns="0" rtlCol="0" anchor="t"/>
          <a:lstStyle/>
          <a:p>
            <a:pPr marL="0" indent="0">
              <a:buNone/>
            </a:pPr>
            <a:r>
              <a:rPr lang="en-US" sz="1400" dirty="0">
                <a:solidFill>
                  <a:schemeClr val="tx1"/>
                </a:solidFill>
              </a:rPr>
              <a:t>Healthcare and demographic data is large and hard to interpret without an integrated analytics pipeline.</a:t>
            </a:r>
            <a:endParaRPr lang="en-US" sz="1400" dirty="0"/>
          </a:p>
        </p:txBody>
      </p:sp>
      <p:sp>
        <p:nvSpPr>
          <p:cNvPr id="9" name="Card"/>
          <p:cNvSpPr/>
          <p:nvPr/>
        </p:nvSpPr>
        <p:spPr>
          <a:xfrm>
            <a:off x="548640" y="3017520"/>
            <a:ext cx="6766560" cy="1463040"/>
          </a:xfrm>
          <a:prstGeom prst="roundRect">
            <a:avLst>
              <a:gd name="adj" fmla="val 7500"/>
            </a:avLst>
          </a:prstGeom>
          <a:solidFill>
            <a:schemeClr val="bg2"/>
          </a:solidFill>
          <a:ln/>
        </p:spPr>
        <p:txBody>
          <a:bodyPr/>
          <a:lstStyle/>
          <a:p>
            <a:endParaRPr lang="en-IN"/>
          </a:p>
        </p:txBody>
      </p:sp>
      <p:sp>
        <p:nvSpPr>
          <p:cNvPr id="10" name="Icon badge"/>
          <p:cNvSpPr/>
          <p:nvPr/>
        </p:nvSpPr>
        <p:spPr>
          <a:xfrm>
            <a:off x="822960" y="3200400"/>
            <a:ext cx="502920" cy="502920"/>
          </a:xfrm>
          <a:prstGeom prst="ellipse">
            <a:avLst/>
          </a:prstGeom>
          <a:solidFill>
            <a:schemeClr val="accent1"/>
          </a:solidFill>
          <a:ln/>
        </p:spPr>
        <p:txBody>
          <a:bodyPr/>
          <a:lstStyle/>
          <a:p>
            <a:endParaRPr lang="en-IN"/>
          </a:p>
        </p:txBody>
      </p:sp>
      <p:sp>
        <p:nvSpPr>
          <p:cNvPr id="12" name="Text 7"/>
          <p:cNvSpPr txBox="1"/>
          <p:nvPr/>
        </p:nvSpPr>
        <p:spPr>
          <a:xfrm>
            <a:off x="1508760" y="3200400"/>
            <a:ext cx="5577840" cy="502920"/>
          </a:xfrm>
          <a:prstGeom prst="rect">
            <a:avLst/>
          </a:prstGeom>
          <a:noFill/>
          <a:ln/>
        </p:spPr>
        <p:txBody>
          <a:bodyPr wrap="square" lIns="0" tIns="0" rIns="0" bIns="0" rtlCol="0" anchor="ctr"/>
          <a:lstStyle/>
          <a:p>
            <a:pPr marL="0" indent="0">
              <a:buNone/>
            </a:pPr>
            <a:r>
              <a:rPr lang="en-US" sz="1800" b="1" dirty="0">
                <a:solidFill>
                  <a:schemeClr val="tx2"/>
                </a:solidFill>
              </a:rPr>
              <a:t>Problem Statement</a:t>
            </a:r>
            <a:endParaRPr lang="en-US" sz="1800" dirty="0"/>
          </a:p>
        </p:txBody>
      </p:sp>
      <p:sp>
        <p:nvSpPr>
          <p:cNvPr id="13" name="Text 8"/>
          <p:cNvSpPr txBox="1"/>
          <p:nvPr/>
        </p:nvSpPr>
        <p:spPr>
          <a:xfrm>
            <a:off x="822960" y="3886200"/>
            <a:ext cx="6217920" cy="457200"/>
          </a:xfrm>
          <a:prstGeom prst="rect">
            <a:avLst/>
          </a:prstGeom>
          <a:noFill/>
          <a:ln/>
        </p:spPr>
        <p:txBody>
          <a:bodyPr wrap="square" lIns="0" tIns="0" rIns="0" bIns="0" rtlCol="0" anchor="t"/>
          <a:lstStyle/>
          <a:p>
            <a:pPr marL="0" indent="0">
              <a:buNone/>
            </a:pPr>
            <a:r>
              <a:rPr lang="en-US" sz="1400" dirty="0">
                <a:solidFill>
                  <a:schemeClr val="tx1"/>
                </a:solidFill>
              </a:rPr>
              <a:t>Public health data is scattered and reported statically, with no single platform for analysis, risk prediction and exploration.</a:t>
            </a:r>
            <a:endParaRPr lang="en-US" sz="1400" dirty="0"/>
          </a:p>
        </p:txBody>
      </p:sp>
      <p:sp>
        <p:nvSpPr>
          <p:cNvPr id="14" name="Card"/>
          <p:cNvSpPr/>
          <p:nvPr/>
        </p:nvSpPr>
        <p:spPr>
          <a:xfrm>
            <a:off x="548640" y="4663440"/>
            <a:ext cx="6766560" cy="1463040"/>
          </a:xfrm>
          <a:prstGeom prst="roundRect">
            <a:avLst>
              <a:gd name="adj" fmla="val 7500"/>
            </a:avLst>
          </a:prstGeom>
          <a:solidFill>
            <a:schemeClr val="bg2"/>
          </a:solidFill>
          <a:ln/>
        </p:spPr>
        <p:txBody>
          <a:bodyPr/>
          <a:lstStyle/>
          <a:p>
            <a:endParaRPr lang="en-IN"/>
          </a:p>
        </p:txBody>
      </p:sp>
      <p:sp>
        <p:nvSpPr>
          <p:cNvPr id="15" name="Icon badge"/>
          <p:cNvSpPr/>
          <p:nvPr/>
        </p:nvSpPr>
        <p:spPr>
          <a:xfrm>
            <a:off x="822960" y="4846320"/>
            <a:ext cx="502920" cy="502920"/>
          </a:xfrm>
          <a:prstGeom prst="ellipse">
            <a:avLst/>
          </a:prstGeom>
          <a:solidFill>
            <a:schemeClr val="accent1"/>
          </a:solidFill>
          <a:ln/>
        </p:spPr>
        <p:txBody>
          <a:bodyPr/>
          <a:lstStyle/>
          <a:p>
            <a:endParaRPr lang="en-IN"/>
          </a:p>
        </p:txBody>
      </p:sp>
      <p:sp>
        <p:nvSpPr>
          <p:cNvPr id="17" name="Text 11"/>
          <p:cNvSpPr txBox="1"/>
          <p:nvPr/>
        </p:nvSpPr>
        <p:spPr>
          <a:xfrm>
            <a:off x="1508760" y="4846320"/>
            <a:ext cx="5577840" cy="502920"/>
          </a:xfrm>
          <a:prstGeom prst="rect">
            <a:avLst/>
          </a:prstGeom>
          <a:noFill/>
          <a:ln/>
        </p:spPr>
        <p:txBody>
          <a:bodyPr wrap="square" lIns="0" tIns="0" rIns="0" bIns="0" rtlCol="0" anchor="ctr"/>
          <a:lstStyle/>
          <a:p>
            <a:pPr marL="0" indent="0">
              <a:buNone/>
            </a:pPr>
            <a:r>
              <a:rPr lang="en-US" sz="1800" b="1" dirty="0">
                <a:solidFill>
                  <a:schemeClr val="tx2"/>
                </a:solidFill>
              </a:rPr>
              <a:t>Motivation / Need</a:t>
            </a:r>
            <a:endParaRPr lang="en-US" sz="1800" dirty="0"/>
          </a:p>
        </p:txBody>
      </p:sp>
      <p:sp>
        <p:nvSpPr>
          <p:cNvPr id="18" name="Text 12"/>
          <p:cNvSpPr txBox="1"/>
          <p:nvPr/>
        </p:nvSpPr>
        <p:spPr>
          <a:xfrm>
            <a:off x="822960" y="5532120"/>
            <a:ext cx="6217920" cy="457200"/>
          </a:xfrm>
          <a:prstGeom prst="rect">
            <a:avLst/>
          </a:prstGeom>
          <a:noFill/>
          <a:ln/>
        </p:spPr>
        <p:txBody>
          <a:bodyPr wrap="square" lIns="0" tIns="0" rIns="0" bIns="0" rtlCol="0" anchor="t"/>
          <a:lstStyle/>
          <a:p>
            <a:pPr marL="0" indent="0">
              <a:buNone/>
            </a:pPr>
            <a:r>
              <a:rPr lang="en-US" sz="1400" dirty="0">
                <a:solidFill>
                  <a:schemeClr val="tx1"/>
                </a:solidFill>
              </a:rPr>
              <a:t>Health officials and researchers need early, data-driven insight; without it, risk factors and trends go unnoticed.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
        <p:nvSpPr>
          <p:cNvPr id="26" name="Card"/>
          <p:cNvSpPr/>
          <p:nvPr/>
        </p:nvSpPr>
        <p:spPr>
          <a:xfrm>
            <a:off x="7589520" y="1371600"/>
            <a:ext cx="4050792" cy="4754880"/>
          </a:xfrm>
          <a:prstGeom prst="roundRect">
            <a:avLst>
              <a:gd name="adj" fmla="val 6000"/>
            </a:avLst>
          </a:prstGeom>
          <a:solidFill>
            <a:schemeClr val="bg2"/>
          </a:solidFill>
          <a:ln>
            <a:noFill/>
          </a:ln>
        </p:spPr>
        <p:txBody>
          <a:bodyPr rtlCol="0" anchor="ctr"/>
          <a:lstStyle/>
          <a:p>
            <a:pPr algn="ctr"/>
          </a:p>
        </p:txBody>
      </p:sp>
      <p:sp>
        <p:nvSpPr>
          <p:cNvPr id="27" name="Text"/>
          <p:cNvSpPr txBox="1"/>
          <p:nvPr/>
        </p:nvSpPr>
        <p:spPr>
          <a:xfrm>
            <a:off x="7863840" y="1554480"/>
            <a:ext cx="3502152" cy="400000"/>
          </a:xfrm>
          <a:prstGeom prst="rect">
            <a:avLst/>
          </a:prstGeom>
          <a:noFill/>
        </p:spPr>
        <p:txBody>
          <a:bodyPr wrap="square" lIns="0" rIns="0" tIns="0" bIns="0" anchor="ctr">
            <a:spAutoFit/>
          </a:bodyPr>
          <a:lstStyle/>
          <a:p>
            <a:pPr>
              <a:spcAft>
                <a:spcPts val="400"/>
              </a:spcAft>
            </a:pPr>
            <a:r>
              <a:rPr sz="1800" b="1">
                <a:solidFill>
                  <a:schemeClr val="tx2"/>
                </a:solidFill>
              </a:rPr>
              <a:t>HealthScope Lifecycle</a:t>
            </a:r>
          </a:p>
        </p:txBody>
      </p:sp>
      <p:sp>
        <p:nvSpPr>
          <p:cNvPr id="28" name="Number badge"/>
          <p:cNvSpPr/>
          <p:nvPr/>
        </p:nvSpPr>
        <p:spPr>
          <a:xfrm>
            <a:off x="7863840" y="2148840"/>
            <a:ext cx="502920" cy="502920"/>
          </a:xfrm>
          <a:prstGeom prst="ellipse">
            <a:avLst/>
          </a:prstGeom>
          <a:solidFill>
            <a:schemeClr val="accent1"/>
          </a:solidFill>
          <a:ln>
            <a:noFill/>
          </a:ln>
        </p:spPr>
        <p:txBody>
          <a:bodyPr rtlCol="0" anchor="ctr" lIns="0" rIns="0" tIns="0" bIns="0"/>
          <a:lstStyle/>
          <a:p>
            <a:pPr algn="ctr"/>
            <a:r>
              <a:rPr sz="1400" b="1">
                <a:solidFill>
                  <a:schemeClr val="bg1"/>
                </a:solidFill>
              </a:rPr>
              <a:t>1</a:t>
            </a:r>
          </a:p>
        </p:txBody>
      </p:sp>
      <p:sp>
        <p:nvSpPr>
          <p:cNvPr id="29" name="Text"/>
          <p:cNvSpPr txBox="1"/>
          <p:nvPr/>
        </p:nvSpPr>
        <p:spPr>
          <a:xfrm>
            <a:off x="8549640" y="2148840"/>
            <a:ext cx="2816352" cy="502920"/>
          </a:xfrm>
          <a:prstGeom prst="rect">
            <a:avLst/>
          </a:prstGeom>
          <a:noFill/>
        </p:spPr>
        <p:txBody>
          <a:bodyPr wrap="square" lIns="0" rIns="0" tIns="0" bIns="0" anchor="ctr">
            <a:spAutoFit/>
          </a:bodyPr>
          <a:lstStyle/>
          <a:p>
            <a:pPr>
              <a:spcAft>
                <a:spcPts val="0"/>
              </a:spcAft>
            </a:pPr>
            <a:r>
              <a:rPr sz="1300" b="1">
                <a:solidFill>
                  <a:schemeClr val="tx1"/>
                </a:solidFill>
              </a:rPr>
              <a:t>Collect</a:t>
            </a:r>
          </a:p>
          <a:p>
            <a:pPr>
              <a:spcAft>
                <a:spcPts val="0"/>
              </a:spcAft>
            </a:pPr>
            <a:r>
              <a:rPr sz="1300" b="0">
                <a:solidFill>
                  <a:schemeClr val="tx1"/>
                </a:solidFill>
              </a:rPr>
              <a:t>Public health datasets</a:t>
            </a:r>
          </a:p>
        </p:txBody>
      </p:sp>
      <p:sp>
        <p:nvSpPr>
          <p:cNvPr id="30" name="Number badge"/>
          <p:cNvSpPr/>
          <p:nvPr/>
        </p:nvSpPr>
        <p:spPr>
          <a:xfrm>
            <a:off x="7863840" y="2935224"/>
            <a:ext cx="502920" cy="502920"/>
          </a:xfrm>
          <a:prstGeom prst="ellipse">
            <a:avLst/>
          </a:prstGeom>
          <a:solidFill>
            <a:schemeClr val="accent1"/>
          </a:solidFill>
          <a:ln>
            <a:noFill/>
          </a:ln>
        </p:spPr>
        <p:txBody>
          <a:bodyPr rtlCol="0" anchor="ctr" lIns="0" rIns="0" tIns="0" bIns="0"/>
          <a:lstStyle/>
          <a:p>
            <a:pPr algn="ctr"/>
            <a:r>
              <a:rPr sz="1400" b="1">
                <a:solidFill>
                  <a:schemeClr val="bg1"/>
                </a:solidFill>
              </a:rPr>
              <a:t>2</a:t>
            </a:r>
          </a:p>
        </p:txBody>
      </p:sp>
      <p:sp>
        <p:nvSpPr>
          <p:cNvPr id="31" name="Text"/>
          <p:cNvSpPr txBox="1"/>
          <p:nvPr/>
        </p:nvSpPr>
        <p:spPr>
          <a:xfrm>
            <a:off x="8549640" y="2935224"/>
            <a:ext cx="2816352" cy="502920"/>
          </a:xfrm>
          <a:prstGeom prst="rect">
            <a:avLst/>
          </a:prstGeom>
          <a:noFill/>
        </p:spPr>
        <p:txBody>
          <a:bodyPr wrap="square" lIns="0" rIns="0" tIns="0" bIns="0" anchor="ctr">
            <a:spAutoFit/>
          </a:bodyPr>
          <a:lstStyle/>
          <a:p>
            <a:pPr>
              <a:spcAft>
                <a:spcPts val="0"/>
              </a:spcAft>
            </a:pPr>
            <a:r>
              <a:rPr sz="1300" b="1">
                <a:solidFill>
                  <a:schemeClr val="tx1"/>
                </a:solidFill>
              </a:rPr>
              <a:t>Clean</a:t>
            </a:r>
          </a:p>
          <a:p>
            <a:pPr>
              <a:spcAft>
                <a:spcPts val="0"/>
              </a:spcAft>
            </a:pPr>
            <a:r>
              <a:rPr sz="1300" b="0">
                <a:solidFill>
                  <a:schemeClr val="tx1"/>
                </a:solidFill>
              </a:rPr>
              <a:t>Preprocess and validate</a:t>
            </a:r>
          </a:p>
        </p:txBody>
      </p:sp>
      <p:sp>
        <p:nvSpPr>
          <p:cNvPr id="32" name="Number badge"/>
          <p:cNvSpPr/>
          <p:nvPr/>
        </p:nvSpPr>
        <p:spPr>
          <a:xfrm>
            <a:off x="7863840" y="3721608"/>
            <a:ext cx="502920" cy="502920"/>
          </a:xfrm>
          <a:prstGeom prst="ellipse">
            <a:avLst/>
          </a:prstGeom>
          <a:solidFill>
            <a:schemeClr val="accent1"/>
          </a:solidFill>
          <a:ln>
            <a:noFill/>
          </a:ln>
        </p:spPr>
        <p:txBody>
          <a:bodyPr rtlCol="0" anchor="ctr" lIns="0" rIns="0" tIns="0" bIns="0"/>
          <a:lstStyle/>
          <a:p>
            <a:pPr algn="ctr"/>
            <a:r>
              <a:rPr sz="1400" b="1">
                <a:solidFill>
                  <a:schemeClr val="bg1"/>
                </a:solidFill>
              </a:rPr>
              <a:t>3</a:t>
            </a:r>
          </a:p>
        </p:txBody>
      </p:sp>
      <p:sp>
        <p:nvSpPr>
          <p:cNvPr id="33" name="Text"/>
          <p:cNvSpPr txBox="1"/>
          <p:nvPr/>
        </p:nvSpPr>
        <p:spPr>
          <a:xfrm>
            <a:off x="8549640" y="3721608"/>
            <a:ext cx="2816352" cy="502920"/>
          </a:xfrm>
          <a:prstGeom prst="rect">
            <a:avLst/>
          </a:prstGeom>
          <a:noFill/>
        </p:spPr>
        <p:txBody>
          <a:bodyPr wrap="square" lIns="0" rIns="0" tIns="0" bIns="0" anchor="ctr">
            <a:spAutoFit/>
          </a:bodyPr>
          <a:lstStyle/>
          <a:p>
            <a:pPr>
              <a:spcAft>
                <a:spcPts val="0"/>
              </a:spcAft>
            </a:pPr>
            <a:r>
              <a:rPr sz="1300" b="1">
                <a:solidFill>
                  <a:schemeClr val="tx1"/>
                </a:solidFill>
              </a:rPr>
              <a:t>Analyse</a:t>
            </a:r>
          </a:p>
          <a:p>
            <a:pPr>
              <a:spcAft>
                <a:spcPts val="0"/>
              </a:spcAft>
            </a:pPr>
            <a:r>
              <a:rPr sz="1300" b="0">
                <a:solidFill>
                  <a:schemeClr val="tx1"/>
                </a:solidFill>
              </a:rPr>
              <a:t>EDA and feature engineering</a:t>
            </a:r>
          </a:p>
        </p:txBody>
      </p:sp>
      <p:sp>
        <p:nvSpPr>
          <p:cNvPr id="34" name="Number badge"/>
          <p:cNvSpPr/>
          <p:nvPr/>
        </p:nvSpPr>
        <p:spPr>
          <a:xfrm>
            <a:off x="7863840" y="4507992"/>
            <a:ext cx="502920" cy="502920"/>
          </a:xfrm>
          <a:prstGeom prst="ellipse">
            <a:avLst/>
          </a:prstGeom>
          <a:solidFill>
            <a:schemeClr val="accent1"/>
          </a:solidFill>
          <a:ln>
            <a:noFill/>
          </a:ln>
        </p:spPr>
        <p:txBody>
          <a:bodyPr rtlCol="0" anchor="ctr" lIns="0" rIns="0" tIns="0" bIns="0"/>
          <a:lstStyle/>
          <a:p>
            <a:pPr algn="ctr"/>
            <a:r>
              <a:rPr sz="1400" b="1">
                <a:solidFill>
                  <a:schemeClr val="bg1"/>
                </a:solidFill>
              </a:rPr>
              <a:t>4</a:t>
            </a:r>
          </a:p>
        </p:txBody>
      </p:sp>
      <p:sp>
        <p:nvSpPr>
          <p:cNvPr id="35" name="Text"/>
          <p:cNvSpPr txBox="1"/>
          <p:nvPr/>
        </p:nvSpPr>
        <p:spPr>
          <a:xfrm>
            <a:off x="8549640" y="4507992"/>
            <a:ext cx="2816352" cy="502920"/>
          </a:xfrm>
          <a:prstGeom prst="rect">
            <a:avLst/>
          </a:prstGeom>
          <a:noFill/>
        </p:spPr>
        <p:txBody>
          <a:bodyPr wrap="square" lIns="0" rIns="0" tIns="0" bIns="0" anchor="ctr">
            <a:spAutoFit/>
          </a:bodyPr>
          <a:lstStyle/>
          <a:p>
            <a:pPr>
              <a:spcAft>
                <a:spcPts val="0"/>
              </a:spcAft>
            </a:pPr>
            <a:r>
              <a:rPr sz="1300" b="1">
                <a:solidFill>
                  <a:schemeClr val="tx1"/>
                </a:solidFill>
              </a:rPr>
              <a:t>Predict</a:t>
            </a:r>
          </a:p>
          <a:p>
            <a:pPr>
              <a:spcAft>
                <a:spcPts val="0"/>
              </a:spcAft>
            </a:pPr>
            <a:r>
              <a:rPr sz="1300" b="0">
                <a:solidFill>
                  <a:schemeClr val="tx1"/>
                </a:solidFill>
              </a:rPr>
              <a:t>Five ML models compared</a:t>
            </a:r>
          </a:p>
        </p:txBody>
      </p:sp>
      <p:sp>
        <p:nvSpPr>
          <p:cNvPr id="36" name="Number badge"/>
          <p:cNvSpPr/>
          <p:nvPr/>
        </p:nvSpPr>
        <p:spPr>
          <a:xfrm>
            <a:off x="7863840" y="5294376"/>
            <a:ext cx="502920" cy="502920"/>
          </a:xfrm>
          <a:prstGeom prst="ellipse">
            <a:avLst/>
          </a:prstGeom>
          <a:solidFill>
            <a:schemeClr val="accent1"/>
          </a:solidFill>
          <a:ln>
            <a:noFill/>
          </a:ln>
        </p:spPr>
        <p:txBody>
          <a:bodyPr rtlCol="0" anchor="ctr" lIns="0" rIns="0" tIns="0" bIns="0"/>
          <a:lstStyle/>
          <a:p>
            <a:pPr algn="ctr"/>
            <a:r>
              <a:rPr sz="1400" b="1">
                <a:solidFill>
                  <a:schemeClr val="bg1"/>
                </a:solidFill>
              </a:rPr>
              <a:t>5</a:t>
            </a:r>
          </a:p>
        </p:txBody>
      </p:sp>
      <p:sp>
        <p:nvSpPr>
          <p:cNvPr id="37" name="Text"/>
          <p:cNvSpPr txBox="1"/>
          <p:nvPr/>
        </p:nvSpPr>
        <p:spPr>
          <a:xfrm>
            <a:off x="8549640" y="5294376"/>
            <a:ext cx="2816352" cy="502920"/>
          </a:xfrm>
          <a:prstGeom prst="rect">
            <a:avLst/>
          </a:prstGeom>
          <a:noFill/>
        </p:spPr>
        <p:txBody>
          <a:bodyPr wrap="square" lIns="0" rIns="0" tIns="0" bIns="0" anchor="ctr">
            <a:spAutoFit/>
          </a:bodyPr>
          <a:lstStyle/>
          <a:p>
            <a:pPr>
              <a:spcAft>
                <a:spcPts val="0"/>
              </a:spcAft>
            </a:pPr>
            <a:r>
              <a:rPr sz="1300" b="1">
                <a:solidFill>
                  <a:schemeClr val="tx1"/>
                </a:solidFill>
              </a:rPr>
              <a:t>Visualise</a:t>
            </a:r>
          </a:p>
          <a:p>
            <a:pPr>
              <a:spcAft>
                <a:spcPts val="0"/>
              </a:spcAft>
            </a:pPr>
            <a:r>
              <a:rPr sz="1300" b="0">
                <a:solidFill>
                  <a:schemeClr val="tx1"/>
                </a:solidFill>
              </a:rPr>
              <a:t>Interactive risk dashboard</a:t>
            </a:r>
          </a:p>
        </p:txBody>
      </p:sp>
      <p:pic>
        <p:nvPicPr>
          <p:cNvPr id="6" name="Image 0" descr="Lightbulb icon"/>
          <p:cNvPicPr>
            <a:picLocks noChangeAspect="1"/>
          </p:cNvPicPr>
          <p:nvPr/>
        </p:nvPicPr>
        <p:blipFill>
          <a:blip r:embed="rId3"/>
          <a:stretch>
            <a:fillRect/>
          </a:stretch>
        </p:blipFill>
        <p:spPr>
          <a:xfrm>
            <a:off x="933602" y="1665122"/>
            <a:ext cx="281635" cy="281635"/>
          </a:xfrm>
          <a:prstGeom prst="rect">
            <a:avLst/>
          </a:prstGeom>
        </p:spPr>
      </p:pic>
      <p:pic>
        <p:nvPicPr>
          <p:cNvPr id="11" name="Image 1" descr="ExclamationTriangle icon"/>
          <p:cNvPicPr>
            <a:picLocks noChangeAspect="1"/>
          </p:cNvPicPr>
          <p:nvPr/>
        </p:nvPicPr>
        <p:blipFill>
          <a:blip r:embed="rId4"/>
          <a:stretch>
            <a:fillRect/>
          </a:stretch>
        </p:blipFill>
        <p:spPr>
          <a:xfrm>
            <a:off x="933602" y="3311042"/>
            <a:ext cx="281635" cy="281635"/>
          </a:xfrm>
          <a:prstGeom prst="rect">
            <a:avLst/>
          </a:prstGeom>
        </p:spPr>
      </p:pic>
      <p:pic>
        <p:nvPicPr>
          <p:cNvPr id="16" name="Image 2" descr="Rocket icon"/>
          <p:cNvPicPr>
            <a:picLocks noChangeAspect="1"/>
          </p:cNvPicPr>
          <p:nvPr/>
        </p:nvPicPr>
        <p:blipFill>
          <a:blip r:embed="rId5"/>
          <a:stretch>
            <a:fillRect/>
          </a:stretch>
        </p:blipFill>
        <p:spPr>
          <a:xfrm>
            <a:off x="933602" y="4956962"/>
            <a:ext cx="281635" cy="2816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Objectives &amp; Scope</a:t>
            </a:r>
            <a:endParaRPr lang="en-US" sz="3200" dirty="0"/>
          </a:p>
        </p:txBody>
      </p:sp>
      <p:sp>
        <p:nvSpPr>
          <p:cNvPr id="4" name="Text 1"/>
          <p:cNvSpPr txBox="1"/>
          <p:nvPr/>
        </p:nvSpPr>
        <p:spPr>
          <a:xfrm>
            <a:off x="548640" y="1371600"/>
            <a:ext cx="5852160" cy="365760"/>
          </a:xfrm>
          <a:prstGeom prst="rect">
            <a:avLst/>
          </a:prstGeom>
          <a:noFill/>
          <a:ln/>
        </p:spPr>
        <p:txBody>
          <a:bodyPr wrap="square" lIns="0" tIns="0" rIns="0" bIns="0" rtlCol="0" anchor="t"/>
          <a:lstStyle/>
          <a:p>
            <a:pPr marL="0" indent="0">
              <a:buNone/>
            </a:pPr>
            <a:r>
              <a:rPr lang="en-US" sz="2000" b="1" dirty="0">
                <a:solidFill>
                  <a:schemeClr val="tx2"/>
                </a:solidFill>
              </a:rPr>
              <a:t>Objectives</a:t>
            </a:r>
            <a:endParaRPr lang="en-US" sz="2000" dirty="0"/>
          </a:p>
        </p:txBody>
      </p:sp>
      <p:sp>
        <p:nvSpPr>
          <p:cNvPr id="5" name="Number badge"/>
          <p:cNvSpPr/>
          <p:nvPr/>
        </p:nvSpPr>
        <p:spPr>
          <a:xfrm>
            <a:off x="548640" y="1965960"/>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371600" y="1965960"/>
            <a:ext cx="5029200" cy="594360"/>
          </a:xfrm>
          <a:prstGeom prst="rect">
            <a:avLst/>
          </a:prstGeom>
          <a:noFill/>
          <a:ln/>
        </p:spPr>
        <p:txBody>
          <a:bodyPr wrap="square" lIns="0" tIns="0" rIns="0" bIns="0" rtlCol="0" anchor="ctr"/>
          <a:lstStyle/>
          <a:p>
            <a:pPr marL="0" indent="0">
              <a:buNone/>
            </a:pPr>
            <a:r>
              <a:rPr lang="en-US" sz="1600" dirty="0">
                <a:solidFill>
                  <a:schemeClr val="tx1"/>
                </a:solidFill>
              </a:rPr>
              <a:t>Design an end-to-end pipeline for ingestion, cleaning, EDA and feature engineering of public health data</a:t>
            </a:r>
            <a:endParaRPr lang="en-US" sz="1600" dirty="0"/>
          </a:p>
        </p:txBody>
      </p:sp>
      <p:sp>
        <p:nvSpPr>
          <p:cNvPr id="7" name="Number badge"/>
          <p:cNvSpPr/>
          <p:nvPr/>
        </p:nvSpPr>
        <p:spPr>
          <a:xfrm>
            <a:off x="548640" y="3017520"/>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8" name="Text 5"/>
          <p:cNvSpPr txBox="1"/>
          <p:nvPr/>
        </p:nvSpPr>
        <p:spPr>
          <a:xfrm>
            <a:off x="1371600" y="3017520"/>
            <a:ext cx="5029200" cy="594360"/>
          </a:xfrm>
          <a:prstGeom prst="rect">
            <a:avLst/>
          </a:prstGeom>
          <a:noFill/>
          <a:ln/>
        </p:spPr>
        <p:txBody>
          <a:bodyPr wrap="square" lIns="0" tIns="0" rIns="0" bIns="0" rtlCol="0" anchor="ctr"/>
          <a:lstStyle/>
          <a:p>
            <a:pPr marL="0" indent="0">
              <a:buNone/>
            </a:pPr>
            <a:r>
              <a:rPr lang="en-US" sz="1600" dirty="0">
                <a:solidFill>
                  <a:schemeClr val="tx1"/>
                </a:solidFill>
              </a:rPr>
              <a:t>Train and compare Logistic Regression, Decision Tree, Random Forest, KNN and Naïve Bayes for health-risk prediction</a:t>
            </a:r>
            <a:endParaRPr lang="en-US" sz="1600" dirty="0"/>
          </a:p>
        </p:txBody>
      </p:sp>
      <p:sp>
        <p:nvSpPr>
          <p:cNvPr id="9" name="Number badge"/>
          <p:cNvSpPr/>
          <p:nvPr/>
        </p:nvSpPr>
        <p:spPr>
          <a:xfrm>
            <a:off x="548640" y="4069080"/>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0" name="Text 7"/>
          <p:cNvSpPr txBox="1"/>
          <p:nvPr/>
        </p:nvSpPr>
        <p:spPr>
          <a:xfrm>
            <a:off x="1371600" y="4069080"/>
            <a:ext cx="5029200" cy="594360"/>
          </a:xfrm>
          <a:prstGeom prst="rect">
            <a:avLst/>
          </a:prstGeom>
          <a:noFill/>
          <a:ln/>
        </p:spPr>
        <p:txBody>
          <a:bodyPr wrap="square" lIns="0" tIns="0" rIns="0" bIns="0" rtlCol="0" anchor="ctr"/>
          <a:lstStyle/>
          <a:p>
            <a:pPr marL="0" indent="0">
              <a:buNone/>
            </a:pPr>
            <a:r>
              <a:rPr lang="en-US" sz="1600" dirty="0">
                <a:solidFill>
                  <a:schemeClr val="tx1"/>
                </a:solidFill>
              </a:rPr>
              <a:t>Evaluate every model using accuracy, precision, recall, F1-score and confusion matrix</a:t>
            </a:r>
            <a:endParaRPr lang="en-US" sz="1600" dirty="0"/>
          </a:p>
        </p:txBody>
      </p:sp>
      <p:sp>
        <p:nvSpPr>
          <p:cNvPr id="11" name="Number badge"/>
          <p:cNvSpPr/>
          <p:nvPr/>
        </p:nvSpPr>
        <p:spPr>
          <a:xfrm>
            <a:off x="548640" y="5120640"/>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2" name="Text 9"/>
          <p:cNvSpPr txBox="1"/>
          <p:nvPr/>
        </p:nvSpPr>
        <p:spPr>
          <a:xfrm>
            <a:off x="1371600" y="5120640"/>
            <a:ext cx="5029200" cy="594360"/>
          </a:xfrm>
          <a:prstGeom prst="rect">
            <a:avLst/>
          </a:prstGeom>
          <a:noFill/>
          <a:ln/>
        </p:spPr>
        <p:txBody>
          <a:bodyPr wrap="square" lIns="0" tIns="0" rIns="0" bIns="0" rtlCol="0" anchor="ctr"/>
          <a:lstStyle/>
          <a:p>
            <a:pPr marL="0" indent="0">
              <a:buNone/>
            </a:pPr>
            <a:r>
              <a:rPr lang="en-US" sz="1600" dirty="0">
                <a:solidFill>
                  <a:schemeClr val="tx1"/>
                </a:solidFill>
              </a:rPr>
              <a:t>Develop an interactive dashboard for health trends, risk factors and risk prediction</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
        <p:nvSpPr>
          <p:cNvPr id="26" name="Card"/>
          <p:cNvSpPr/>
          <p:nvPr/>
        </p:nvSpPr>
        <p:spPr>
          <a:xfrm>
            <a:off x="6766560" y="1371600"/>
            <a:ext cx="4873752" cy="2377440"/>
          </a:xfrm>
          <a:prstGeom prst="roundRect">
            <a:avLst>
              <a:gd name="adj" fmla="val 6000"/>
            </a:avLst>
          </a:prstGeom>
          <a:solidFill>
            <a:schemeClr val="bg2"/>
          </a:solidFill>
          <a:ln>
            <a:noFill/>
          </a:ln>
        </p:spPr>
        <p:txBody>
          <a:bodyPr rtlCol="0" anchor="ctr"/>
          <a:lstStyle/>
          <a:p>
            <a:pPr algn="ctr"/>
          </a:p>
        </p:txBody>
      </p:sp>
      <p:sp>
        <p:nvSpPr>
          <p:cNvPr id="27" name="Icon badge"/>
          <p:cNvSpPr/>
          <p:nvPr/>
        </p:nvSpPr>
        <p:spPr>
          <a:xfrm>
            <a:off x="7040880" y="1554480"/>
            <a:ext cx="502920" cy="502920"/>
          </a:xfrm>
          <a:prstGeom prst="ellipse">
            <a:avLst/>
          </a:prstGeom>
          <a:solidFill>
            <a:schemeClr val="accent1"/>
          </a:solidFill>
          <a:ln>
            <a:noFill/>
          </a:ln>
        </p:spPr>
        <p:txBody>
          <a:bodyPr rtlCol="0" anchor="ctr"/>
          <a:lstStyle/>
          <a:p>
            <a:pPr algn="ctr"/>
          </a:p>
        </p:txBody>
      </p:sp>
      <p:sp>
        <p:nvSpPr>
          <p:cNvPr id="28" name="Text"/>
          <p:cNvSpPr txBox="1"/>
          <p:nvPr/>
        </p:nvSpPr>
        <p:spPr>
          <a:xfrm>
            <a:off x="7726680" y="1554480"/>
            <a:ext cx="3700000" cy="502920"/>
          </a:xfrm>
          <a:prstGeom prst="rect">
            <a:avLst/>
          </a:prstGeom>
          <a:noFill/>
        </p:spPr>
        <p:txBody>
          <a:bodyPr wrap="square" lIns="0" rIns="0" tIns="0" bIns="0" anchor="ctr">
            <a:spAutoFit/>
          </a:bodyPr>
          <a:lstStyle/>
          <a:p>
            <a:pPr>
              <a:spcAft>
                <a:spcPts val="400"/>
              </a:spcAft>
            </a:pPr>
            <a:r>
              <a:rPr sz="1800" b="1">
                <a:solidFill>
                  <a:schemeClr val="tx2"/>
                </a:solidFill>
              </a:rPr>
              <a:t>In Scope</a:t>
            </a:r>
          </a:p>
        </p:txBody>
      </p:sp>
      <p:sp>
        <p:nvSpPr>
          <p:cNvPr id="29" name="Text"/>
          <p:cNvSpPr txBox="1"/>
          <p:nvPr/>
        </p:nvSpPr>
        <p:spPr>
          <a:xfrm>
            <a:off x="7040880" y="2194560"/>
            <a:ext cx="4343400" cy="1417440"/>
          </a:xfrm>
          <a:prstGeom prst="rect">
            <a:avLst/>
          </a:prstGeom>
          <a:noFill/>
        </p:spPr>
        <p:txBody>
          <a:bodyPr wrap="square" lIns="0" rIns="0" tIns="0" bIns="0" anchor="t">
            <a:spAutoFit/>
          </a:bodyPr>
          <a:lstStyle/>
          <a:p>
            <a:pPr marL="228600" indent="-228600">
              <a:spcAft>
                <a:spcPts val="600"/>
              </a:spcAft>
              <a:buChar char="•"/>
            </a:pPr>
            <a:r>
              <a:rPr sz="1300" b="0">
                <a:solidFill>
                  <a:schemeClr val="tx1"/>
                </a:solidFill>
              </a:rPr>
              <a:t>Public datasets: NFHS, hospital admissions, disease-specific data</a:t>
            </a:r>
          </a:p>
          <a:p>
            <a:pPr marL="228600" indent="-228600">
              <a:spcAft>
                <a:spcPts val="600"/>
              </a:spcAft>
              <a:buChar char="•"/>
            </a:pPr>
            <a:r>
              <a:rPr sz="1300" b="0">
                <a:solidFill>
                  <a:schemeClr val="tx1"/>
                </a:solidFill>
              </a:rPr>
              <a:t>Full pipeline from ingestion to feature engineering</a:t>
            </a:r>
          </a:p>
          <a:p>
            <a:pPr marL="228600" indent="-228600">
              <a:spcAft>
                <a:spcPts val="600"/>
              </a:spcAft>
              <a:buChar char="•"/>
            </a:pPr>
            <a:r>
              <a:rPr sz="1300" b="0">
                <a:solidFill>
                  <a:schemeClr val="tx1"/>
                </a:solidFill>
              </a:rPr>
              <a:t>Five ML models compared on standard metrics</a:t>
            </a:r>
          </a:p>
          <a:p>
            <a:pPr marL="228600" indent="-228600">
              <a:spcAft>
                <a:spcPts val="600"/>
              </a:spcAft>
              <a:buChar char="•"/>
            </a:pPr>
            <a:r>
              <a:rPr sz="1300" b="0">
                <a:solidFill>
                  <a:schemeClr val="tx1"/>
                </a:solidFill>
              </a:rPr>
              <a:t>Interactive dashboard with risk prediction</a:t>
            </a:r>
          </a:p>
        </p:txBody>
      </p:sp>
      <p:sp>
        <p:nvSpPr>
          <p:cNvPr id="30" name="Card"/>
          <p:cNvSpPr/>
          <p:nvPr/>
        </p:nvSpPr>
        <p:spPr>
          <a:xfrm>
            <a:off x="6766560" y="3886200"/>
            <a:ext cx="4873752" cy="2194560"/>
          </a:xfrm>
          <a:prstGeom prst="roundRect">
            <a:avLst>
              <a:gd name="adj" fmla="val 6000"/>
            </a:avLst>
          </a:prstGeom>
          <a:solidFill>
            <a:schemeClr val="bg2"/>
          </a:solidFill>
          <a:ln>
            <a:noFill/>
          </a:ln>
        </p:spPr>
        <p:txBody>
          <a:bodyPr rtlCol="0" anchor="ctr"/>
          <a:lstStyle/>
          <a:p>
            <a:pPr algn="ctr"/>
          </a:p>
        </p:txBody>
      </p:sp>
      <p:sp>
        <p:nvSpPr>
          <p:cNvPr id="31" name="Icon badge"/>
          <p:cNvSpPr/>
          <p:nvPr/>
        </p:nvSpPr>
        <p:spPr>
          <a:xfrm>
            <a:off x="7040880" y="4069080"/>
            <a:ext cx="502920" cy="502920"/>
          </a:xfrm>
          <a:prstGeom prst="ellipse">
            <a:avLst/>
          </a:prstGeom>
          <a:solidFill>
            <a:schemeClr val="accent1"/>
          </a:solidFill>
          <a:ln>
            <a:noFill/>
          </a:ln>
        </p:spPr>
        <p:txBody>
          <a:bodyPr rtlCol="0" anchor="ctr"/>
          <a:lstStyle/>
          <a:p>
            <a:pPr algn="ctr"/>
          </a:p>
        </p:txBody>
      </p:sp>
      <p:sp>
        <p:nvSpPr>
          <p:cNvPr id="32" name="Text"/>
          <p:cNvSpPr txBox="1"/>
          <p:nvPr/>
        </p:nvSpPr>
        <p:spPr>
          <a:xfrm>
            <a:off x="7726680" y="4069080"/>
            <a:ext cx="3700000" cy="502920"/>
          </a:xfrm>
          <a:prstGeom prst="rect">
            <a:avLst/>
          </a:prstGeom>
          <a:noFill/>
        </p:spPr>
        <p:txBody>
          <a:bodyPr wrap="square" lIns="0" rIns="0" tIns="0" bIns="0" anchor="ctr">
            <a:spAutoFit/>
          </a:bodyPr>
          <a:lstStyle/>
          <a:p>
            <a:pPr>
              <a:spcAft>
                <a:spcPts val="400"/>
              </a:spcAft>
            </a:pPr>
            <a:r>
              <a:rPr sz="1800" b="1">
                <a:solidFill>
                  <a:schemeClr val="tx2"/>
                </a:solidFill>
              </a:rPr>
              <a:t>Out of Scope</a:t>
            </a:r>
          </a:p>
        </p:txBody>
      </p:sp>
      <p:sp>
        <p:nvSpPr>
          <p:cNvPr id="33" name="Text"/>
          <p:cNvSpPr txBox="1"/>
          <p:nvPr/>
        </p:nvSpPr>
        <p:spPr>
          <a:xfrm>
            <a:off x="7040880" y="4709160"/>
            <a:ext cx="4343400" cy="1234560"/>
          </a:xfrm>
          <a:prstGeom prst="rect">
            <a:avLst/>
          </a:prstGeom>
          <a:noFill/>
        </p:spPr>
        <p:txBody>
          <a:bodyPr wrap="square" lIns="0" rIns="0" tIns="0" bIns="0" anchor="t">
            <a:spAutoFit/>
          </a:bodyPr>
          <a:lstStyle/>
          <a:p>
            <a:pPr marL="228600" indent="-228600">
              <a:spcAft>
                <a:spcPts val="600"/>
              </a:spcAft>
              <a:buChar char="•"/>
            </a:pPr>
            <a:r>
              <a:rPr sz="1300" b="0">
                <a:solidFill>
                  <a:schemeClr val="tx1"/>
                </a:solidFill>
              </a:rPr>
              <a:t>Clinical diagnosis or treatment decisions</a:t>
            </a:r>
          </a:p>
          <a:p>
            <a:pPr marL="228600" indent="-228600">
              <a:spcAft>
                <a:spcPts val="600"/>
              </a:spcAft>
              <a:buChar char="•"/>
            </a:pPr>
            <a:r>
              <a:rPr sz="1300" b="0">
                <a:solidFill>
                  <a:schemeClr val="tx1"/>
                </a:solidFill>
              </a:rPr>
              <a:t>Live hospital or wearable data streams</a:t>
            </a:r>
          </a:p>
          <a:p>
            <a:pPr marL="228600" indent="-228600">
              <a:spcAft>
                <a:spcPts val="600"/>
              </a:spcAft>
              <a:buChar char="•"/>
            </a:pPr>
            <a:r>
              <a:rPr sz="1300" b="0">
                <a:solidFill>
                  <a:schemeClr val="tx1"/>
                </a:solidFill>
              </a:rPr>
              <a:t>Deep-learning and big-data (Spark) models</a:t>
            </a:r>
          </a:p>
        </p:txBody>
      </p:sp>
      <p:pic>
        <p:nvPicPr>
          <p:cNvPr id="15" name="Image 0" descr="CheckCircle icon"/>
          <p:cNvPicPr>
            <a:picLocks noChangeAspect="1"/>
          </p:cNvPicPr>
          <p:nvPr/>
        </p:nvPicPr>
        <p:blipFill>
          <a:blip r:embed="rId3"/>
          <a:stretch>
            <a:fillRect/>
          </a:stretch>
        </p:blipFill>
        <p:spPr>
          <a:xfrm>
            <a:off x="7151522" y="1665122"/>
            <a:ext cx="281635" cy="281635"/>
          </a:xfrm>
          <a:prstGeom prst="rect">
            <a:avLst/>
          </a:prstGeom>
        </p:spPr>
      </p:pic>
      <p:pic>
        <p:nvPicPr>
          <p:cNvPr id="20" name="Image 1" descr="TimesCircle icon"/>
          <p:cNvPicPr>
            <a:picLocks noChangeAspect="1"/>
          </p:cNvPicPr>
          <p:nvPr/>
        </p:nvPicPr>
        <p:blipFill>
          <a:blip r:embed="rId4"/>
          <a:stretch>
            <a:fillRect/>
          </a:stretch>
        </p:blipFill>
        <p:spPr>
          <a:xfrm>
            <a:off x="7151522" y="4179722"/>
            <a:ext cx="281635" cy="2816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Literature Survey</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2651760"/>
        </p:xfrm>
        <a:graphic>
          <a:graphicData uri="http://schemas.openxmlformats.org/drawingml/2006/table">
            <a:tbl>
              <a:tblPr/>
              <a:tblGrid>
                <a:gridCol w="8229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gridCol w="2221992">
                  <a:extLst>
                    <a:ext uri="{9D8B030D-6E8A-4147-A177-3AD203B41FA5}">
                      <a16:colId xmlns:a16="http://schemas.microsoft.com/office/drawing/2014/main" val="20004"/>
                    </a:ext>
                  </a:extLst>
                </a:gridCol>
              </a:tblGrid>
              <a:tr h="457200">
                <a:tc>
                  <a:txBody>
                    <a:bodyPr/>
                    <a:lstStyle/>
                    <a:p>
                      <a:pPr marL="0" indent="0">
                        <a:buNone/>
                      </a:pPr>
                      <a:r>
                        <a:rPr lang="en-US" sz="1400" b="1" dirty="0">
                          <a:solidFill>
                            <a:srgbClr val="FFFFFF"/>
                          </a:solidFill>
                        </a:rPr>
                        <a:t>S.No</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Author(s) &amp; Year</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Method / Technique</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Key Findings</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Limitation / Gap</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48640">
                <a:tc>
                  <a:txBody>
                    <a:bodyPr/>
                    <a:lstStyle/>
                    <a:p>
                      <a:pPr marL="0" indent="0" algn="ctr">
                        <a:buNone/>
                      </a:pPr>
                      <a:r>
                        <a:rPr lang="en-US" sz="1400" dirty="0">
                          <a:solidFill>
                            <a:srgbClr val="1B1F2A"/>
                          </a:solidFill>
                        </a:rPr>
                        <a:t>1</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Wang, Song &amp; Bi (2025)</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Random Forest with out-of-bag error on community health survey data</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Strong accuracy; ranked socio-economic and health risk factors</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Single older-adult population; no streaming or multi-institution data</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lang="en-US" sz="1400" dirty="0">
                          <a:solidFill>
                            <a:srgbClr val="1B1F2A"/>
                          </a:solidFill>
                        </a:rPr>
                        <a:t>2</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Chen &amp; Long (2025)</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SVM feature elimination (14 predictors) on NHIS data; nomogram risk model</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AUC 0.813 for arthritis risk; age, BMI and comorbidities lead</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One disease, self-reported data; no real-time monitoring</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ctr">
                        <a:buNone/>
                      </a:pPr>
                      <a:r>
                        <a:rPr lang="en-US" sz="1400" dirty="0">
                          <a:solidFill>
                            <a:srgbClr val="1B1F2A"/>
                          </a:solidFill>
                        </a:rPr>
                        <a:t>3</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Liu et al. (2025)</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Meta-analysis of 20 studies: ML vs. conventional CVD risk models on EHR data</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Random Forest and deep learning beat QRISK3 and ASCVD; pooled AUC up to 0.865</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Variable methods; not validated for real-world deployment</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lang="en-US" sz="1400" dirty="0">
                          <a:solidFill>
                            <a:srgbClr val="1B1F2A"/>
                          </a:solidFill>
                        </a:rPr>
                        <a:t>4</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Dhanda et al. (2025)</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Narrative review of 170 machine-learning studies in public health</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LightGBM, GRU and LSTM reached 88–95% prediction accuracy</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Privacy and fairness remain open; no ingestion-to-dashboard system</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Card"/>
          <p:cNvSpPr/>
          <p:nvPr/>
        </p:nvSpPr>
        <p:spPr>
          <a:xfrm>
            <a:off x="548640" y="4617720"/>
            <a:ext cx="11091672" cy="1691640"/>
          </a:xfrm>
          <a:prstGeom prst="roundRect">
            <a:avLst>
              <a:gd name="adj" fmla="val 6486"/>
            </a:avLst>
          </a:prstGeom>
          <a:solidFill>
            <a:schemeClr val="bg2"/>
          </a:solidFill>
          <a:ln/>
        </p:spPr>
        <p:txBody>
          <a:bodyPr/>
          <a:lstStyle/>
          <a:p>
            <a:endParaRPr lang="en-IN"/>
          </a:p>
        </p:txBody>
      </p:sp>
      <p:sp>
        <p:nvSpPr>
          <p:cNvPr id="6" name="Icon badge"/>
          <p:cNvSpPr/>
          <p:nvPr/>
        </p:nvSpPr>
        <p:spPr>
          <a:xfrm>
            <a:off x="822960" y="4800600"/>
            <a:ext cx="502920" cy="502920"/>
          </a:xfrm>
          <a:prstGeom prst="ellipse">
            <a:avLst/>
          </a:prstGeom>
          <a:solidFill>
            <a:schemeClr val="accent1"/>
          </a:solidFill>
          <a:ln/>
        </p:spPr>
        <p:txBody>
          <a:bodyPr/>
          <a:lstStyle/>
          <a:p>
            <a:endParaRPr lang="en-IN"/>
          </a:p>
        </p:txBody>
      </p:sp>
      <p:pic>
        <p:nvPicPr>
          <p:cNvPr id="3" name="Image 0" descr="Search icon"/>
          <p:cNvPicPr>
            <a:picLocks noChangeAspect="1"/>
          </p:cNvPicPr>
          <p:nvPr/>
        </p:nvPicPr>
        <p:blipFill>
          <a:blip r:embed="rId3"/>
          <a:stretch>
            <a:fillRect/>
          </a:stretch>
        </p:blipFill>
        <p:spPr>
          <a:xfrm>
            <a:off x="933602" y="4911242"/>
            <a:ext cx="281635" cy="281635"/>
          </a:xfrm>
          <a:prstGeom prst="rect">
            <a:avLst/>
          </a:prstGeom>
        </p:spPr>
      </p:pic>
      <p:sp>
        <p:nvSpPr>
          <p:cNvPr id="8" name="Text 3"/>
          <p:cNvSpPr txBox="1"/>
          <p:nvPr/>
        </p:nvSpPr>
        <p:spPr>
          <a:xfrm>
            <a:off x="1508760" y="4800600"/>
            <a:ext cx="9902952" cy="502920"/>
          </a:xfrm>
          <a:prstGeom prst="rect">
            <a:avLst/>
          </a:prstGeom>
          <a:noFill/>
          <a:ln/>
        </p:spPr>
        <p:txBody>
          <a:bodyPr wrap="square" lIns="0" tIns="0" rIns="0" bIns="0" rtlCol="0" anchor="ctr"/>
          <a:lstStyle/>
          <a:p>
            <a:pPr marL="0" indent="0">
              <a:buNone/>
            </a:pPr>
            <a:r>
              <a:rPr lang="en-US" sz="1800" b="1" dirty="0">
                <a:solidFill>
                  <a:schemeClr val="tx2"/>
                </a:solidFill>
              </a:rPr>
              <a:t>Research Gap</a:t>
            </a:r>
            <a:endParaRPr lang="en-US" sz="1800" dirty="0"/>
          </a:p>
        </p:txBody>
      </p:sp>
      <p:sp>
        <p:nvSpPr>
          <p:cNvPr id="9" name="Text 4"/>
          <p:cNvSpPr txBox="1"/>
          <p:nvPr/>
        </p:nvSpPr>
        <p:spPr>
          <a:xfrm>
            <a:off x="822960" y="5486400"/>
            <a:ext cx="10543032" cy="685800"/>
          </a:xfrm>
          <a:prstGeom prst="rect">
            <a:avLst/>
          </a:prstGeom>
          <a:noFill/>
          <a:ln/>
        </p:spPr>
        <p:txBody>
          <a:bodyPr wrap="square" lIns="0" tIns="0" rIns="0" bIns="0" rtlCol="0" anchor="t"/>
          <a:lstStyle/>
          <a:p>
            <a:pPr marL="0" indent="0">
              <a:buNone/>
            </a:pPr>
            <a:r>
              <a:rPr lang="en-US" sz="1400" dirty="0">
                <a:solidFill>
                  <a:schemeClr val="tx1"/>
                </a:solidFill>
              </a:rPr>
              <a:t>Existing work targets a single disease or population, or only prediction. None combines ingestion, cleaning, ML and an interactive dashboard end to end; HealthScope fills this gap.</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Proposed System &amp; Methodology</a:t>
            </a:r>
            <a:endParaRPr lang="en-US" sz="3200" dirty="0"/>
          </a:p>
        </p:txBody>
      </p:sp>
      <p:sp>
        <p:nvSpPr>
          <p:cNvPr id="4" name="Card"/>
          <p:cNvSpPr/>
          <p:nvPr/>
        </p:nvSpPr>
        <p:spPr>
          <a:xfrm>
            <a:off x="548640" y="1463040"/>
            <a:ext cx="1920240" cy="2834640"/>
          </a:xfrm>
          <a:prstGeom prst="roundRect">
            <a:avLst>
              <a:gd name="adj" fmla="val 5714"/>
            </a:avLst>
          </a:prstGeom>
          <a:solidFill>
            <a:schemeClr val="bg2"/>
          </a:solidFill>
          <a:ln/>
        </p:spPr>
        <p:txBody>
          <a:bodyPr/>
          <a:lstStyle/>
          <a:p>
            <a:endParaRPr lang="en-IN"/>
          </a:p>
        </p:txBody>
      </p:sp>
      <p:sp>
        <p:nvSpPr>
          <p:cNvPr id="5" name="Icon badge"/>
          <p:cNvSpPr/>
          <p:nvPr/>
        </p:nvSpPr>
        <p:spPr>
          <a:xfrm>
            <a:off x="777240" y="1691640"/>
            <a:ext cx="548640" cy="548640"/>
          </a:xfrm>
          <a:prstGeom prst="ellipse">
            <a:avLst/>
          </a:prstGeom>
          <a:solidFill>
            <a:schemeClr val="accent1"/>
          </a:solidFill>
          <a:ln/>
        </p:spPr>
        <p:txBody>
          <a:bodyPr/>
          <a:lstStyle/>
          <a:p>
            <a:endParaRPr lang="en-IN"/>
          </a:p>
        </p:txBody>
      </p:sp>
      <p:pic>
        <p:nvPicPr>
          <p:cNvPr id="6" name="Image 0" descr="ClipboardList icon"/>
          <p:cNvPicPr>
            <a:picLocks noChangeAspect="1"/>
          </p:cNvPicPr>
          <p:nvPr/>
        </p:nvPicPr>
        <p:blipFill>
          <a:blip r:embed="rId3"/>
          <a:stretch>
            <a:fillRect/>
          </a:stretch>
        </p:blipFill>
        <p:spPr>
          <a:xfrm>
            <a:off x="897941" y="1812341"/>
            <a:ext cx="307238" cy="307238"/>
          </a:xfrm>
          <a:prstGeom prst="rect">
            <a:avLst/>
          </a:prstGeom>
        </p:spPr>
      </p:pic>
      <p:sp>
        <p:nvSpPr>
          <p:cNvPr id="7" name="Text 3"/>
          <p:cNvSpPr txBox="1"/>
          <p:nvPr/>
        </p:nvSpPr>
        <p:spPr>
          <a:xfrm>
            <a:off x="777240"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1</a:t>
            </a:r>
            <a:endParaRPr lang="en-US" sz="1200" dirty="0"/>
          </a:p>
        </p:txBody>
      </p:sp>
      <p:sp>
        <p:nvSpPr>
          <p:cNvPr id="8" name="Text 4"/>
          <p:cNvSpPr txBox="1"/>
          <p:nvPr/>
        </p:nvSpPr>
        <p:spPr>
          <a:xfrm>
            <a:off x="777240" y="2651760"/>
            <a:ext cx="1554480" cy="365760"/>
          </a:xfrm>
          <a:prstGeom prst="rect">
            <a:avLst/>
          </a:prstGeom>
          <a:noFill/>
          <a:ln/>
        </p:spPr>
        <p:txBody>
          <a:bodyPr wrap="square" lIns="0" tIns="0" rIns="0" bIns="0" rtlCol="0" anchor="t"/>
          <a:lstStyle/>
          <a:p>
            <a:pPr marL="0" indent="0">
              <a:buNone/>
            </a:pPr>
            <a:r>
              <a:rPr lang="en-US" sz="1600" b="1" dirty="0">
                <a:solidFill>
                  <a:schemeClr val="tx2"/>
                </a:solidFill>
              </a:rPr>
              <a:t>Define Problem</a:t>
            </a:r>
            <a:endParaRPr lang="en-US" sz="1600" dirty="0"/>
          </a:p>
        </p:txBody>
      </p:sp>
      <p:sp>
        <p:nvSpPr>
          <p:cNvPr id="9" name="Text 5"/>
          <p:cNvSpPr txBox="1"/>
          <p:nvPr/>
        </p:nvSpPr>
        <p:spPr>
          <a:xfrm>
            <a:off x="777240" y="3063240"/>
            <a:ext cx="1508760" cy="1097280"/>
          </a:xfrm>
          <a:prstGeom prst="rect">
            <a:avLst/>
          </a:prstGeom>
          <a:noFill/>
          <a:ln/>
        </p:spPr>
        <p:txBody>
          <a:bodyPr wrap="square" lIns="0" tIns="0" rIns="0" bIns="0" rtlCol="0" anchor="t"/>
          <a:lstStyle/>
          <a:p>
            <a:pPr marL="0" indent="0">
              <a:buNone/>
            </a:pPr>
            <a:r>
              <a:rPr lang="en-US" sz="1400" dirty="0">
                <a:solidFill>
                  <a:schemeClr val="tx1"/>
                </a:solidFill>
              </a:rPr>
              <a:t>Identify public health data challenges, scope and success criteria.</a:t>
            </a:r>
            <a:endParaRPr lang="en-US" sz="1400" dirty="0"/>
          </a:p>
        </p:txBody>
      </p:sp>
      <p:sp>
        <p:nvSpPr>
          <p:cNvPr id="10" name="Flow arrow"/>
          <p:cNvSpPr/>
          <p:nvPr/>
        </p:nvSpPr>
        <p:spPr>
          <a:xfrm>
            <a:off x="2527173" y="2743200"/>
            <a:ext cx="256032" cy="274320"/>
          </a:xfrm>
          <a:prstGeom prst="rightArrow">
            <a:avLst/>
          </a:prstGeom>
          <a:solidFill>
            <a:schemeClr val="accent2"/>
          </a:solidFill>
          <a:ln/>
        </p:spPr>
        <p:txBody>
          <a:bodyPr/>
          <a:lstStyle/>
          <a:p>
            <a:endParaRPr lang="en-IN"/>
          </a:p>
        </p:txBody>
      </p:sp>
      <p:sp>
        <p:nvSpPr>
          <p:cNvPr id="11" name="Card"/>
          <p:cNvSpPr/>
          <p:nvPr/>
        </p:nvSpPr>
        <p:spPr>
          <a:xfrm>
            <a:off x="2841498" y="1463040"/>
            <a:ext cx="1920240" cy="2834640"/>
          </a:xfrm>
          <a:prstGeom prst="roundRect">
            <a:avLst>
              <a:gd name="adj" fmla="val 5714"/>
            </a:avLst>
          </a:prstGeom>
          <a:solidFill>
            <a:schemeClr val="bg2"/>
          </a:solidFill>
          <a:ln/>
        </p:spPr>
        <p:txBody>
          <a:bodyPr/>
          <a:lstStyle/>
          <a:p>
            <a:endParaRPr lang="en-IN"/>
          </a:p>
        </p:txBody>
      </p:sp>
      <p:sp>
        <p:nvSpPr>
          <p:cNvPr id="12" name="Icon badge"/>
          <p:cNvSpPr/>
          <p:nvPr/>
        </p:nvSpPr>
        <p:spPr>
          <a:xfrm>
            <a:off x="3070098" y="1691640"/>
            <a:ext cx="548640" cy="548640"/>
          </a:xfrm>
          <a:prstGeom prst="ellipse">
            <a:avLst/>
          </a:prstGeom>
          <a:solidFill>
            <a:schemeClr val="accent1"/>
          </a:solidFill>
          <a:ln/>
        </p:spPr>
        <p:txBody>
          <a:bodyPr/>
          <a:lstStyle/>
          <a:p>
            <a:endParaRPr lang="en-IN"/>
          </a:p>
        </p:txBody>
      </p:sp>
      <p:pic>
        <p:nvPicPr>
          <p:cNvPr id="13" name="Image 1" descr="Database icon"/>
          <p:cNvPicPr>
            <a:picLocks noChangeAspect="1"/>
          </p:cNvPicPr>
          <p:nvPr/>
        </p:nvPicPr>
        <p:blipFill>
          <a:blip r:embed="rId4"/>
          <a:stretch>
            <a:fillRect/>
          </a:stretch>
        </p:blipFill>
        <p:spPr>
          <a:xfrm>
            <a:off x="3190799" y="1812341"/>
            <a:ext cx="307238" cy="307238"/>
          </a:xfrm>
          <a:prstGeom prst="rect">
            <a:avLst/>
          </a:prstGeom>
        </p:spPr>
      </p:pic>
      <p:sp>
        <p:nvSpPr>
          <p:cNvPr id="14" name="Text 9"/>
          <p:cNvSpPr txBox="1"/>
          <p:nvPr/>
        </p:nvSpPr>
        <p:spPr>
          <a:xfrm>
            <a:off x="3070098"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2</a:t>
            </a:r>
            <a:endParaRPr lang="en-US" sz="1200" dirty="0"/>
          </a:p>
        </p:txBody>
      </p:sp>
      <p:sp>
        <p:nvSpPr>
          <p:cNvPr id="15" name="Text 10"/>
          <p:cNvSpPr txBox="1"/>
          <p:nvPr/>
        </p:nvSpPr>
        <p:spPr>
          <a:xfrm>
            <a:off x="3070098" y="2651760"/>
            <a:ext cx="1554480" cy="365760"/>
          </a:xfrm>
          <a:prstGeom prst="rect">
            <a:avLst/>
          </a:prstGeom>
          <a:noFill/>
          <a:ln/>
        </p:spPr>
        <p:txBody>
          <a:bodyPr wrap="square" lIns="0" tIns="0" rIns="0" bIns="0" rtlCol="0" anchor="t"/>
          <a:lstStyle/>
          <a:p>
            <a:pPr marL="0" indent="0">
              <a:buNone/>
            </a:pPr>
            <a:r>
              <a:rPr lang="en-US" sz="1600" b="1" dirty="0">
                <a:solidFill>
                  <a:schemeClr val="tx2"/>
                </a:solidFill>
              </a:rPr>
              <a:t>Collect Data</a:t>
            </a:r>
            <a:endParaRPr lang="en-US" sz="1600" dirty="0"/>
          </a:p>
        </p:txBody>
      </p:sp>
      <p:sp>
        <p:nvSpPr>
          <p:cNvPr id="16" name="Text 11"/>
          <p:cNvSpPr txBox="1"/>
          <p:nvPr/>
        </p:nvSpPr>
        <p:spPr>
          <a:xfrm>
            <a:off x="3070098" y="3063240"/>
            <a:ext cx="1508760" cy="1097280"/>
          </a:xfrm>
          <a:prstGeom prst="rect">
            <a:avLst/>
          </a:prstGeom>
          <a:noFill/>
          <a:ln/>
        </p:spPr>
        <p:txBody>
          <a:bodyPr wrap="square" lIns="0" tIns="0" rIns="0" bIns="0" rtlCol="0" anchor="t"/>
          <a:lstStyle/>
          <a:p>
            <a:pPr marL="0" indent="0">
              <a:buNone/>
            </a:pPr>
            <a:r>
              <a:rPr lang="en-US" sz="1400" dirty="0">
                <a:solidFill>
                  <a:schemeClr val="tx1"/>
                </a:solidFill>
              </a:rPr>
              <a:t>NFHS, hospital admission or disease-specific public datasets.</a:t>
            </a:r>
            <a:endParaRPr lang="en-US" sz="1400" dirty="0"/>
          </a:p>
        </p:txBody>
      </p:sp>
      <p:sp>
        <p:nvSpPr>
          <p:cNvPr id="17" name="Flow arrow"/>
          <p:cNvSpPr/>
          <p:nvPr/>
        </p:nvSpPr>
        <p:spPr>
          <a:xfrm>
            <a:off x="4820031" y="2743200"/>
            <a:ext cx="256032" cy="274320"/>
          </a:xfrm>
          <a:prstGeom prst="rightArrow">
            <a:avLst/>
          </a:prstGeom>
          <a:solidFill>
            <a:schemeClr val="accent2"/>
          </a:solidFill>
          <a:ln/>
        </p:spPr>
        <p:txBody>
          <a:bodyPr/>
          <a:lstStyle/>
          <a:p>
            <a:endParaRPr lang="en-IN"/>
          </a:p>
        </p:txBody>
      </p:sp>
      <p:sp>
        <p:nvSpPr>
          <p:cNvPr id="18" name="Card"/>
          <p:cNvSpPr/>
          <p:nvPr/>
        </p:nvSpPr>
        <p:spPr>
          <a:xfrm>
            <a:off x="5134356" y="1463040"/>
            <a:ext cx="1920240" cy="2834640"/>
          </a:xfrm>
          <a:prstGeom prst="roundRect">
            <a:avLst>
              <a:gd name="adj" fmla="val 5714"/>
            </a:avLst>
          </a:prstGeom>
          <a:solidFill>
            <a:schemeClr val="bg2"/>
          </a:solidFill>
          <a:ln/>
        </p:spPr>
        <p:txBody>
          <a:bodyPr/>
          <a:lstStyle/>
          <a:p>
            <a:endParaRPr lang="en-IN"/>
          </a:p>
        </p:txBody>
      </p:sp>
      <p:sp>
        <p:nvSpPr>
          <p:cNvPr id="19" name="Icon badge"/>
          <p:cNvSpPr/>
          <p:nvPr/>
        </p:nvSpPr>
        <p:spPr>
          <a:xfrm>
            <a:off x="5362956" y="1691640"/>
            <a:ext cx="548640" cy="548640"/>
          </a:xfrm>
          <a:prstGeom prst="ellipse">
            <a:avLst/>
          </a:prstGeom>
          <a:solidFill>
            <a:schemeClr val="accent1"/>
          </a:solidFill>
          <a:ln/>
        </p:spPr>
        <p:txBody>
          <a:bodyPr/>
          <a:lstStyle/>
          <a:p>
            <a:endParaRPr lang="en-IN"/>
          </a:p>
        </p:txBody>
      </p:sp>
      <p:pic>
        <p:nvPicPr>
          <p:cNvPr id="20" name="Image 2" descr="ProjectDiagram icon"/>
          <p:cNvPicPr>
            <a:picLocks noChangeAspect="1"/>
          </p:cNvPicPr>
          <p:nvPr/>
        </p:nvPicPr>
        <p:blipFill>
          <a:blip r:embed="rId5"/>
          <a:stretch>
            <a:fillRect/>
          </a:stretch>
        </p:blipFill>
        <p:spPr>
          <a:xfrm>
            <a:off x="5483657" y="1812341"/>
            <a:ext cx="307238" cy="307238"/>
          </a:xfrm>
          <a:prstGeom prst="rect">
            <a:avLst/>
          </a:prstGeom>
        </p:spPr>
      </p:pic>
      <p:sp>
        <p:nvSpPr>
          <p:cNvPr id="21" name="Text 15"/>
          <p:cNvSpPr txBox="1"/>
          <p:nvPr/>
        </p:nvSpPr>
        <p:spPr>
          <a:xfrm>
            <a:off x="5362956"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3</a:t>
            </a:r>
            <a:endParaRPr lang="en-US" sz="1200" dirty="0"/>
          </a:p>
        </p:txBody>
      </p:sp>
      <p:sp>
        <p:nvSpPr>
          <p:cNvPr id="22" name="Text 16"/>
          <p:cNvSpPr txBox="1"/>
          <p:nvPr/>
        </p:nvSpPr>
        <p:spPr>
          <a:xfrm>
            <a:off x="5362956" y="2651760"/>
            <a:ext cx="1554480" cy="365760"/>
          </a:xfrm>
          <a:prstGeom prst="rect">
            <a:avLst/>
          </a:prstGeom>
          <a:noFill/>
          <a:ln/>
        </p:spPr>
        <p:txBody>
          <a:bodyPr wrap="square" lIns="0" tIns="0" rIns="0" bIns="0" rtlCol="0" anchor="t"/>
          <a:lstStyle/>
          <a:p>
            <a:pPr marL="0" indent="0">
              <a:buNone/>
            </a:pPr>
            <a:r>
              <a:rPr lang="en-US" sz="1600" b="1" dirty="0">
                <a:solidFill>
                  <a:schemeClr val="tx2"/>
                </a:solidFill>
              </a:rPr>
              <a:t>Design</a:t>
            </a:r>
            <a:endParaRPr lang="en-US" sz="1600" dirty="0"/>
          </a:p>
        </p:txBody>
      </p:sp>
      <p:sp>
        <p:nvSpPr>
          <p:cNvPr id="23" name="Text 17"/>
          <p:cNvSpPr txBox="1"/>
          <p:nvPr/>
        </p:nvSpPr>
        <p:spPr>
          <a:xfrm>
            <a:off x="5362956" y="3063240"/>
            <a:ext cx="1508760" cy="1097280"/>
          </a:xfrm>
          <a:prstGeom prst="rect">
            <a:avLst/>
          </a:prstGeom>
          <a:noFill/>
          <a:ln/>
        </p:spPr>
        <p:txBody>
          <a:bodyPr wrap="square" lIns="0" tIns="0" rIns="0" bIns="0" rtlCol="0" anchor="t"/>
          <a:lstStyle/>
          <a:p>
            <a:pPr marL="0" indent="0">
              <a:buNone/>
            </a:pPr>
            <a:r>
              <a:rPr lang="en-US" sz="1400" dirty="0">
                <a:solidFill>
                  <a:schemeClr val="tx1"/>
                </a:solidFill>
              </a:rPr>
              <a:t>EDA, feature engineering and five ML models chosen.</a:t>
            </a:r>
            <a:endParaRPr lang="en-US" sz="1400" dirty="0"/>
          </a:p>
        </p:txBody>
      </p:sp>
      <p:sp>
        <p:nvSpPr>
          <p:cNvPr id="24" name="Flow arrow"/>
          <p:cNvSpPr/>
          <p:nvPr/>
        </p:nvSpPr>
        <p:spPr>
          <a:xfrm>
            <a:off x="7112889" y="2743200"/>
            <a:ext cx="256032" cy="274320"/>
          </a:xfrm>
          <a:prstGeom prst="rightArrow">
            <a:avLst/>
          </a:prstGeom>
          <a:solidFill>
            <a:schemeClr val="accent2"/>
          </a:solidFill>
          <a:ln/>
        </p:spPr>
        <p:txBody>
          <a:bodyPr/>
          <a:lstStyle/>
          <a:p>
            <a:endParaRPr lang="en-IN"/>
          </a:p>
        </p:txBody>
      </p:sp>
      <p:sp>
        <p:nvSpPr>
          <p:cNvPr id="25" name="Card"/>
          <p:cNvSpPr/>
          <p:nvPr/>
        </p:nvSpPr>
        <p:spPr>
          <a:xfrm>
            <a:off x="7427214" y="1463040"/>
            <a:ext cx="1920240" cy="2834640"/>
          </a:xfrm>
          <a:prstGeom prst="roundRect">
            <a:avLst>
              <a:gd name="adj" fmla="val 5714"/>
            </a:avLst>
          </a:prstGeom>
          <a:solidFill>
            <a:schemeClr val="bg2"/>
          </a:solidFill>
          <a:ln/>
        </p:spPr>
        <p:txBody>
          <a:bodyPr/>
          <a:lstStyle/>
          <a:p>
            <a:endParaRPr lang="en-IN"/>
          </a:p>
        </p:txBody>
      </p:sp>
      <p:sp>
        <p:nvSpPr>
          <p:cNvPr id="26" name="Icon badge"/>
          <p:cNvSpPr/>
          <p:nvPr/>
        </p:nvSpPr>
        <p:spPr>
          <a:xfrm>
            <a:off x="7655814" y="1691640"/>
            <a:ext cx="548640" cy="548640"/>
          </a:xfrm>
          <a:prstGeom prst="ellipse">
            <a:avLst/>
          </a:prstGeom>
          <a:solidFill>
            <a:schemeClr val="accent1"/>
          </a:solidFill>
          <a:ln/>
        </p:spPr>
        <p:txBody>
          <a:bodyPr/>
          <a:lstStyle/>
          <a:p>
            <a:endParaRPr lang="en-IN"/>
          </a:p>
        </p:txBody>
      </p:sp>
      <p:pic>
        <p:nvPicPr>
          <p:cNvPr id="27" name="Image 3" descr="LaptopCode icon"/>
          <p:cNvPicPr>
            <a:picLocks noChangeAspect="1"/>
          </p:cNvPicPr>
          <p:nvPr/>
        </p:nvPicPr>
        <p:blipFill>
          <a:blip r:embed="rId6"/>
          <a:stretch>
            <a:fillRect/>
          </a:stretch>
        </p:blipFill>
        <p:spPr>
          <a:xfrm>
            <a:off x="7776515" y="1812341"/>
            <a:ext cx="307238" cy="307238"/>
          </a:xfrm>
          <a:prstGeom prst="rect">
            <a:avLst/>
          </a:prstGeom>
        </p:spPr>
      </p:pic>
      <p:sp>
        <p:nvSpPr>
          <p:cNvPr id="28" name="Text 21"/>
          <p:cNvSpPr txBox="1"/>
          <p:nvPr/>
        </p:nvSpPr>
        <p:spPr>
          <a:xfrm>
            <a:off x="7655814"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4</a:t>
            </a:r>
            <a:endParaRPr lang="en-US" sz="1200" dirty="0"/>
          </a:p>
        </p:txBody>
      </p:sp>
      <p:sp>
        <p:nvSpPr>
          <p:cNvPr id="29" name="Text 22"/>
          <p:cNvSpPr txBox="1"/>
          <p:nvPr/>
        </p:nvSpPr>
        <p:spPr>
          <a:xfrm>
            <a:off x="7655814" y="2651760"/>
            <a:ext cx="1554480" cy="365760"/>
          </a:xfrm>
          <a:prstGeom prst="rect">
            <a:avLst/>
          </a:prstGeom>
          <a:noFill/>
          <a:ln/>
        </p:spPr>
        <p:txBody>
          <a:bodyPr wrap="square" lIns="0" tIns="0" rIns="0" bIns="0" rtlCol="0" anchor="t"/>
          <a:lstStyle/>
          <a:p>
            <a:pPr marL="0" indent="0">
              <a:buNone/>
            </a:pPr>
            <a:r>
              <a:rPr lang="en-US" sz="1600" b="1" dirty="0">
                <a:solidFill>
                  <a:schemeClr val="tx2"/>
                </a:solidFill>
              </a:rPr>
              <a:t>Implement</a:t>
            </a:r>
            <a:endParaRPr lang="en-US" sz="1600" dirty="0"/>
          </a:p>
        </p:txBody>
      </p:sp>
      <p:sp>
        <p:nvSpPr>
          <p:cNvPr id="30" name="Text 23"/>
          <p:cNvSpPr txBox="1"/>
          <p:nvPr/>
        </p:nvSpPr>
        <p:spPr>
          <a:xfrm>
            <a:off x="7655814" y="3063240"/>
            <a:ext cx="1508760" cy="1097280"/>
          </a:xfrm>
          <a:prstGeom prst="rect">
            <a:avLst/>
          </a:prstGeom>
          <a:noFill/>
          <a:ln/>
        </p:spPr>
        <p:txBody>
          <a:bodyPr wrap="square" lIns="0" tIns="0" rIns="0" bIns="0" rtlCol="0" anchor="t"/>
          <a:lstStyle/>
          <a:p>
            <a:pPr marL="0" indent="0">
              <a:buNone/>
            </a:pPr>
            <a:r>
              <a:rPr lang="en-US" sz="1400" dirty="0">
                <a:solidFill>
                  <a:schemeClr val="tx1"/>
                </a:solidFill>
              </a:rPr>
              <a:t>Python pipeline and interactive dashboard built.</a:t>
            </a:r>
            <a:endParaRPr lang="en-US" sz="1400" dirty="0"/>
          </a:p>
        </p:txBody>
      </p:sp>
      <p:sp>
        <p:nvSpPr>
          <p:cNvPr id="31" name="Flow arrow"/>
          <p:cNvSpPr/>
          <p:nvPr/>
        </p:nvSpPr>
        <p:spPr>
          <a:xfrm>
            <a:off x="9405747" y="2743200"/>
            <a:ext cx="256032" cy="274320"/>
          </a:xfrm>
          <a:prstGeom prst="rightArrow">
            <a:avLst/>
          </a:prstGeom>
          <a:solidFill>
            <a:schemeClr val="accent2"/>
          </a:solidFill>
          <a:ln/>
        </p:spPr>
        <p:txBody>
          <a:bodyPr/>
          <a:lstStyle/>
          <a:p>
            <a:endParaRPr lang="en-IN"/>
          </a:p>
        </p:txBody>
      </p:sp>
      <p:sp>
        <p:nvSpPr>
          <p:cNvPr id="32" name="Card"/>
          <p:cNvSpPr/>
          <p:nvPr/>
        </p:nvSpPr>
        <p:spPr>
          <a:xfrm>
            <a:off x="9720072" y="1463040"/>
            <a:ext cx="1920240" cy="2834640"/>
          </a:xfrm>
          <a:prstGeom prst="roundRect">
            <a:avLst>
              <a:gd name="adj" fmla="val 5714"/>
            </a:avLst>
          </a:prstGeom>
          <a:solidFill>
            <a:schemeClr val="bg2"/>
          </a:solidFill>
          <a:ln/>
        </p:spPr>
        <p:txBody>
          <a:bodyPr/>
          <a:lstStyle/>
          <a:p>
            <a:endParaRPr lang="en-IN"/>
          </a:p>
        </p:txBody>
      </p:sp>
      <p:sp>
        <p:nvSpPr>
          <p:cNvPr id="33" name="Icon badge"/>
          <p:cNvSpPr/>
          <p:nvPr/>
        </p:nvSpPr>
        <p:spPr>
          <a:xfrm>
            <a:off x="9948672" y="1691640"/>
            <a:ext cx="548640" cy="548640"/>
          </a:xfrm>
          <a:prstGeom prst="ellipse">
            <a:avLst/>
          </a:prstGeom>
          <a:solidFill>
            <a:schemeClr val="accent1"/>
          </a:solidFill>
          <a:ln/>
        </p:spPr>
        <p:txBody>
          <a:bodyPr/>
          <a:lstStyle/>
          <a:p>
            <a:endParaRPr lang="en-IN"/>
          </a:p>
        </p:txBody>
      </p:sp>
      <p:pic>
        <p:nvPicPr>
          <p:cNvPr id="34" name="Image 4" descr="Flask icon"/>
          <p:cNvPicPr>
            <a:picLocks noChangeAspect="1"/>
          </p:cNvPicPr>
          <p:nvPr/>
        </p:nvPicPr>
        <p:blipFill>
          <a:blip r:embed="rId7"/>
          <a:stretch>
            <a:fillRect/>
          </a:stretch>
        </p:blipFill>
        <p:spPr>
          <a:xfrm>
            <a:off x="10069373" y="1812341"/>
            <a:ext cx="307238" cy="307238"/>
          </a:xfrm>
          <a:prstGeom prst="rect">
            <a:avLst/>
          </a:prstGeom>
        </p:spPr>
      </p:pic>
      <p:sp>
        <p:nvSpPr>
          <p:cNvPr id="35" name="Text 27"/>
          <p:cNvSpPr txBox="1"/>
          <p:nvPr/>
        </p:nvSpPr>
        <p:spPr>
          <a:xfrm>
            <a:off x="9948672"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5</a:t>
            </a:r>
            <a:endParaRPr lang="en-US" sz="1200" dirty="0"/>
          </a:p>
        </p:txBody>
      </p:sp>
      <p:sp>
        <p:nvSpPr>
          <p:cNvPr id="36" name="Text 28"/>
          <p:cNvSpPr txBox="1"/>
          <p:nvPr/>
        </p:nvSpPr>
        <p:spPr>
          <a:xfrm>
            <a:off x="9948672" y="2651760"/>
            <a:ext cx="1554480" cy="365760"/>
          </a:xfrm>
          <a:prstGeom prst="rect">
            <a:avLst/>
          </a:prstGeom>
          <a:noFill/>
          <a:ln/>
        </p:spPr>
        <p:txBody>
          <a:bodyPr wrap="square" lIns="0" tIns="0" rIns="0" bIns="0" rtlCol="0" anchor="t"/>
          <a:lstStyle/>
          <a:p>
            <a:pPr marL="0" indent="0">
              <a:buNone/>
            </a:pPr>
            <a:r>
              <a:rPr lang="en-US" sz="1600" b="1" dirty="0">
                <a:solidFill>
                  <a:schemeClr val="tx2"/>
                </a:solidFill>
              </a:rPr>
              <a:t>Test &amp; Evaluate</a:t>
            </a:r>
            <a:endParaRPr lang="en-US" sz="1600" dirty="0"/>
          </a:p>
        </p:txBody>
      </p:sp>
      <p:sp>
        <p:nvSpPr>
          <p:cNvPr id="37" name="Text 29"/>
          <p:cNvSpPr txBox="1"/>
          <p:nvPr/>
        </p:nvSpPr>
        <p:spPr>
          <a:xfrm>
            <a:off x="9948672" y="3063240"/>
            <a:ext cx="1508760" cy="1097280"/>
          </a:xfrm>
          <a:prstGeom prst="rect">
            <a:avLst/>
          </a:prstGeom>
          <a:noFill/>
          <a:ln/>
        </p:spPr>
        <p:txBody>
          <a:bodyPr wrap="square" lIns="0" tIns="0" rIns="0" bIns="0" rtlCol="0" anchor="t"/>
          <a:lstStyle/>
          <a:p>
            <a:pPr marL="0" indent="0">
              <a:buNone/>
            </a:pPr>
            <a:r>
              <a:rPr lang="en-US" sz="1400" dirty="0">
                <a:solidFill>
                  <a:schemeClr val="tx1"/>
                </a:solidFill>
              </a:rPr>
              <a:t>Accuracy, precision, recall, F1-score, confusion matrix.</a:t>
            </a:r>
            <a:endParaRPr lang="en-US" sz="1400" dirty="0"/>
          </a:p>
        </p:txBody>
      </p:sp>
      <p:sp>
        <p:nvSpPr>
          <p:cNvPr id="38" name="Card"/>
          <p:cNvSpPr/>
          <p:nvPr/>
        </p:nvSpPr>
        <p:spPr>
          <a:xfrm>
            <a:off x="548640" y="4572000"/>
            <a:ext cx="11091672" cy="1508760"/>
          </a:xfrm>
          <a:prstGeom prst="roundRect">
            <a:avLst>
              <a:gd name="adj" fmla="val 7273"/>
            </a:avLst>
          </a:prstGeom>
          <a:solidFill>
            <a:schemeClr val="accent1"/>
          </a:solidFill>
          <a:ln/>
        </p:spPr>
        <p:txBody>
          <a:bodyPr/>
          <a:lstStyle/>
          <a:p>
            <a:endParaRPr lang="en-IN"/>
          </a:p>
        </p:txBody>
      </p:sp>
      <p:sp>
        <p:nvSpPr>
          <p:cNvPr id="39" name="Icon badge"/>
          <p:cNvSpPr/>
          <p:nvPr/>
        </p:nvSpPr>
        <p:spPr>
          <a:xfrm>
            <a:off x="822960" y="4754880"/>
            <a:ext cx="502920" cy="502920"/>
          </a:xfrm>
          <a:prstGeom prst="ellipse">
            <a:avLst/>
          </a:prstGeom>
          <a:solidFill>
            <a:schemeClr val="accent2"/>
          </a:solidFill>
          <a:ln/>
        </p:spPr>
        <p:txBody>
          <a:bodyPr/>
          <a:lstStyle/>
          <a:p>
            <a:endParaRPr lang="en-IN"/>
          </a:p>
        </p:txBody>
      </p:sp>
      <p:pic>
        <p:nvPicPr>
          <p:cNvPr id="40" name="Image 5" descr="Rocket icon"/>
          <p:cNvPicPr>
            <a:picLocks noChangeAspect="1"/>
          </p:cNvPicPr>
          <p:nvPr/>
        </p:nvPicPr>
        <p:blipFill>
          <a:blip r:embed="rId8"/>
          <a:stretch>
            <a:fillRect/>
          </a:stretch>
        </p:blipFill>
        <p:spPr>
          <a:xfrm>
            <a:off x="933602" y="4865522"/>
            <a:ext cx="281635" cy="281635"/>
          </a:xfrm>
          <a:prstGeom prst="rect">
            <a:avLst/>
          </a:prstGeom>
        </p:spPr>
      </p:pic>
      <p:sp>
        <p:nvSpPr>
          <p:cNvPr id="41" name="Text 32"/>
          <p:cNvSpPr txBox="1"/>
          <p:nvPr/>
        </p:nvSpPr>
        <p:spPr>
          <a:xfrm>
            <a:off x="1508760" y="4754880"/>
            <a:ext cx="9902952" cy="502920"/>
          </a:xfrm>
          <a:prstGeom prst="rect">
            <a:avLst/>
          </a:prstGeom>
          <a:noFill/>
          <a:ln/>
        </p:spPr>
        <p:txBody>
          <a:bodyPr wrap="square" lIns="0" tIns="0" rIns="0" bIns="0" rtlCol="0" anchor="ctr"/>
          <a:lstStyle/>
          <a:p>
            <a:pPr marL="0" indent="0">
              <a:buNone/>
            </a:pPr>
            <a:r>
              <a:rPr lang="en-US" sz="1800" b="1" dirty="0">
                <a:solidFill>
                  <a:schemeClr val="bg1"/>
                </a:solidFill>
              </a:rPr>
              <a:t>Key Novelty / Contribution</a:t>
            </a:r>
            <a:endParaRPr lang="en-US" sz="1800" dirty="0"/>
          </a:p>
        </p:txBody>
      </p:sp>
      <p:sp>
        <p:nvSpPr>
          <p:cNvPr id="42" name="Text 33"/>
          <p:cNvSpPr txBox="1"/>
          <p:nvPr/>
        </p:nvSpPr>
        <p:spPr>
          <a:xfrm>
            <a:off x="822960" y="5440680"/>
            <a:ext cx="10543032" cy="502920"/>
          </a:xfrm>
          <a:prstGeom prst="rect">
            <a:avLst/>
          </a:prstGeom>
          <a:noFill/>
          <a:ln/>
        </p:spPr>
        <p:txBody>
          <a:bodyPr wrap="square" lIns="0" tIns="0" rIns="0" bIns="0" rtlCol="0" anchor="t"/>
          <a:lstStyle/>
          <a:p>
            <a:pPr marL="0" indent="0">
              <a:buNone/>
            </a:pPr>
            <a:r>
              <a:rPr lang="en-US" sz="1400" dirty="0">
                <a:solidFill>
                  <a:schemeClr val="bg1"/>
                </a:solidFill>
              </a:rPr>
              <a:t>Unifies data engineering, analytics, machine learning and interactive visualisation in one end-to-end platform, instead of isolated prediction-only or visualisation-only tools.</a:t>
            </a:r>
            <a:endParaRPr lang="en-US" sz="1400" dirty="0"/>
          </a:p>
        </p:txBody>
      </p:sp>
      <p:sp>
        <p:nvSpPr>
          <p:cNvPr id="3"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System Architecture</a:t>
            </a:r>
            <a:endParaRPr lang="en-US" sz="3200" dirty="0"/>
          </a:p>
        </p:txBody>
      </p:sp>
      <p:sp>
        <p:nvSpPr>
          <p:cNvPr id="5" name="Text 2"/>
          <p:cNvSpPr txBox="1"/>
          <p:nvPr/>
        </p:nvSpPr>
        <p:spPr>
          <a:xfrm>
            <a:off x="8046720" y="1371600"/>
            <a:ext cx="3566160" cy="365760"/>
          </a:xfrm>
          <a:prstGeom prst="rect">
            <a:avLst/>
          </a:prstGeom>
          <a:noFill/>
          <a:ln/>
        </p:spPr>
        <p:txBody>
          <a:bodyPr wrap="square" lIns="0" tIns="0" rIns="0" bIns="0" rtlCol="0" anchor="t"/>
          <a:lstStyle/>
          <a:p>
            <a:pPr marL="0" indent="0">
              <a:buNone/>
            </a:pPr>
            <a:r>
              <a:rPr lang="en-US" sz="2000" b="1" dirty="0">
                <a:solidFill>
                  <a:schemeClr val="tx2"/>
                </a:solidFill>
              </a:rPr>
              <a:t>Components</a:t>
            </a:r>
            <a:endParaRPr lang="en-US" sz="2000" dirty="0"/>
          </a:p>
        </p:txBody>
      </p:sp>
      <p:sp>
        <p:nvSpPr>
          <p:cNvPr id="6" name="Card"/>
          <p:cNvSpPr/>
          <p:nvPr/>
        </p:nvSpPr>
        <p:spPr>
          <a:xfrm>
            <a:off x="8046720" y="1874520"/>
            <a:ext cx="3593592" cy="960120"/>
          </a:xfrm>
          <a:prstGeom prst="roundRect">
            <a:avLst>
              <a:gd name="adj" fmla="val 11429"/>
            </a:avLst>
          </a:prstGeom>
          <a:solidFill>
            <a:schemeClr val="bg2"/>
          </a:solidFill>
          <a:ln/>
        </p:spPr>
        <p:txBody>
          <a:bodyPr/>
          <a:lstStyle/>
          <a:p>
            <a:endParaRPr lang="en-IN"/>
          </a:p>
        </p:txBody>
      </p:sp>
      <p:sp>
        <p:nvSpPr>
          <p:cNvPr id="7" name="Number badge"/>
          <p:cNvSpPr/>
          <p:nvPr/>
        </p:nvSpPr>
        <p:spPr>
          <a:xfrm>
            <a:off x="8229600" y="2103120"/>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5"/>
          <p:cNvSpPr txBox="1"/>
          <p:nvPr/>
        </p:nvSpPr>
        <p:spPr>
          <a:xfrm>
            <a:off x="8915400" y="2011680"/>
            <a:ext cx="2606040" cy="731520"/>
          </a:xfrm>
          <a:prstGeom prst="rect">
            <a:avLst/>
          </a:prstGeom>
          <a:noFill/>
          <a:ln/>
        </p:spPr>
        <p:txBody>
          <a:bodyPr wrap="square" lIns="0" tIns="0" rIns="0" bIns="0" rtlCol="0" anchor="ctr"/>
          <a:lstStyle/>
          <a:p>
            <a:pPr marL="0" indent="0">
              <a:buNone/>
            </a:pPr>
            <a:r>
              <a:rPr lang="en-US" sz="1400" b="1" dirty="0">
                <a:solidFill>
                  <a:schemeClr val="tx2"/>
                </a:solidFill>
              </a:rPr>
              <a:t>Data Layer</a:t>
            </a:r>
            <a:endParaRPr lang="en-US" sz="1400" dirty="0"/>
          </a:p>
          <a:p>
            <a:pPr marL="0" indent="0">
              <a:buNone/>
            </a:pPr>
            <a:r>
              <a:rPr lang="en-US" sz="1400" dirty="0">
                <a:solidFill>
                  <a:schemeClr val="tx1"/>
                </a:solidFill>
              </a:rPr>
              <a:t>Collects NFHS, hospital and disease data</a:t>
            </a:r>
            <a:endParaRPr lang="en-US" sz="1400" dirty="0"/>
          </a:p>
        </p:txBody>
      </p:sp>
      <p:sp>
        <p:nvSpPr>
          <p:cNvPr id="9" name="Card"/>
          <p:cNvSpPr/>
          <p:nvPr/>
        </p:nvSpPr>
        <p:spPr>
          <a:xfrm>
            <a:off x="8046720" y="2953512"/>
            <a:ext cx="3593592" cy="960120"/>
          </a:xfrm>
          <a:prstGeom prst="roundRect">
            <a:avLst>
              <a:gd name="adj" fmla="val 11429"/>
            </a:avLst>
          </a:prstGeom>
          <a:solidFill>
            <a:schemeClr val="bg2"/>
          </a:solidFill>
          <a:ln/>
        </p:spPr>
        <p:txBody>
          <a:bodyPr/>
          <a:lstStyle/>
          <a:p>
            <a:endParaRPr lang="en-IN"/>
          </a:p>
        </p:txBody>
      </p:sp>
      <p:sp>
        <p:nvSpPr>
          <p:cNvPr id="10" name="Number badge"/>
          <p:cNvSpPr/>
          <p:nvPr/>
        </p:nvSpPr>
        <p:spPr>
          <a:xfrm>
            <a:off x="8229600" y="3182112"/>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8915400" y="3090672"/>
            <a:ext cx="2606040" cy="731520"/>
          </a:xfrm>
          <a:prstGeom prst="rect">
            <a:avLst/>
          </a:prstGeom>
          <a:noFill/>
          <a:ln/>
        </p:spPr>
        <p:txBody>
          <a:bodyPr wrap="square" lIns="0" tIns="0" rIns="0" bIns="0" rtlCol="0" anchor="ctr"/>
          <a:lstStyle/>
          <a:p>
            <a:pPr marL="0" indent="0">
              <a:buNone/>
            </a:pPr>
            <a:r>
              <a:rPr lang="en-US" sz="1400" b="1" dirty="0">
                <a:solidFill>
                  <a:schemeClr val="tx2"/>
                </a:solidFill>
              </a:rPr>
              <a:t>Processing Layer</a:t>
            </a:r>
            <a:endParaRPr lang="en-US" sz="1400" dirty="0"/>
          </a:p>
          <a:p>
            <a:pPr marL="0" indent="0">
              <a:buNone/>
            </a:pPr>
            <a:r>
              <a:rPr lang="en-US" sz="1400" dirty="0">
                <a:solidFill>
                  <a:schemeClr val="tx1"/>
                </a:solidFill>
              </a:rPr>
              <a:t>Cleans, validates, engineers features</a:t>
            </a:r>
            <a:endParaRPr lang="en-US" sz="1400" dirty="0"/>
          </a:p>
        </p:txBody>
      </p:sp>
      <p:sp>
        <p:nvSpPr>
          <p:cNvPr id="12" name="Card"/>
          <p:cNvSpPr/>
          <p:nvPr/>
        </p:nvSpPr>
        <p:spPr>
          <a:xfrm>
            <a:off x="8046720" y="4032504"/>
            <a:ext cx="3593592" cy="960120"/>
          </a:xfrm>
          <a:prstGeom prst="roundRect">
            <a:avLst>
              <a:gd name="adj" fmla="val 11429"/>
            </a:avLst>
          </a:prstGeom>
          <a:solidFill>
            <a:schemeClr val="bg2"/>
          </a:solidFill>
          <a:ln/>
        </p:spPr>
        <p:txBody>
          <a:bodyPr/>
          <a:lstStyle/>
          <a:p>
            <a:endParaRPr lang="en-IN"/>
          </a:p>
        </p:txBody>
      </p:sp>
      <p:sp>
        <p:nvSpPr>
          <p:cNvPr id="13" name="Number badge"/>
          <p:cNvSpPr/>
          <p:nvPr/>
        </p:nvSpPr>
        <p:spPr>
          <a:xfrm>
            <a:off x="8229600" y="4261104"/>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Text 11"/>
          <p:cNvSpPr txBox="1"/>
          <p:nvPr/>
        </p:nvSpPr>
        <p:spPr>
          <a:xfrm>
            <a:off x="8915400" y="4169664"/>
            <a:ext cx="2606040" cy="731520"/>
          </a:xfrm>
          <a:prstGeom prst="rect">
            <a:avLst/>
          </a:prstGeom>
          <a:noFill/>
          <a:ln/>
        </p:spPr>
        <p:txBody>
          <a:bodyPr wrap="square" lIns="0" tIns="0" rIns="0" bIns="0" rtlCol="0" anchor="ctr"/>
          <a:lstStyle/>
          <a:p>
            <a:pPr marL="0" indent="0">
              <a:buNone/>
            </a:pPr>
            <a:r>
              <a:rPr lang="en-US" sz="1400" b="1" dirty="0">
                <a:solidFill>
                  <a:schemeClr val="tx2"/>
                </a:solidFill>
              </a:rPr>
              <a:t>ML Layer</a:t>
            </a:r>
            <a:endParaRPr lang="en-US" sz="1400" dirty="0"/>
          </a:p>
          <a:p>
            <a:pPr marL="0" indent="0">
              <a:buNone/>
            </a:pPr>
            <a:r>
              <a:rPr lang="en-US" sz="1400" dirty="0">
                <a:solidFill>
                  <a:schemeClr val="tx1"/>
                </a:solidFill>
              </a:rPr>
              <a:t>Trains and compares five classifiers</a:t>
            </a:r>
            <a:endParaRPr lang="en-US" sz="1400" dirty="0"/>
          </a:p>
        </p:txBody>
      </p:sp>
      <p:sp>
        <p:nvSpPr>
          <p:cNvPr id="15" name="Card"/>
          <p:cNvSpPr/>
          <p:nvPr/>
        </p:nvSpPr>
        <p:spPr>
          <a:xfrm>
            <a:off x="8046720" y="5111496"/>
            <a:ext cx="3593592" cy="960120"/>
          </a:xfrm>
          <a:prstGeom prst="roundRect">
            <a:avLst>
              <a:gd name="adj" fmla="val 11429"/>
            </a:avLst>
          </a:prstGeom>
          <a:solidFill>
            <a:schemeClr val="bg2"/>
          </a:solidFill>
          <a:ln/>
        </p:spPr>
        <p:txBody>
          <a:bodyPr/>
          <a:lstStyle/>
          <a:p>
            <a:endParaRPr lang="en-IN"/>
          </a:p>
        </p:txBody>
      </p:sp>
      <p:sp>
        <p:nvSpPr>
          <p:cNvPr id="16" name="Number badge"/>
          <p:cNvSpPr/>
          <p:nvPr/>
        </p:nvSpPr>
        <p:spPr>
          <a:xfrm>
            <a:off x="8229600" y="5340096"/>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7" name="Text 14"/>
          <p:cNvSpPr txBox="1"/>
          <p:nvPr/>
        </p:nvSpPr>
        <p:spPr>
          <a:xfrm>
            <a:off x="8915400" y="5248656"/>
            <a:ext cx="2606040" cy="731520"/>
          </a:xfrm>
          <a:prstGeom prst="rect">
            <a:avLst/>
          </a:prstGeom>
          <a:noFill/>
          <a:ln/>
        </p:spPr>
        <p:txBody>
          <a:bodyPr wrap="square" lIns="0" tIns="0" rIns="0" bIns="0" rtlCol="0" anchor="ctr"/>
          <a:lstStyle/>
          <a:p>
            <a:pPr marL="0" indent="0">
              <a:buNone/>
            </a:pPr>
            <a:r>
              <a:rPr lang="en-US" sz="1400" b="1" dirty="0">
                <a:solidFill>
                  <a:schemeClr val="tx2"/>
                </a:solidFill>
              </a:rPr>
              <a:t>Dashboard Layer</a:t>
            </a:r>
            <a:endParaRPr lang="en-US" sz="1400" dirty="0"/>
          </a:p>
          <a:p>
            <a:pPr marL="0" indent="0">
              <a:buNone/>
            </a:pPr>
            <a:r>
              <a:rPr lang="en-US" sz="1400" dirty="0">
                <a:solidFill>
                  <a:schemeClr val="tx1"/>
                </a:solidFill>
              </a:rPr>
              <a:t>Explores trends, predicts risk</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
        <p:nvSpPr>
          <p:cNvPr id="26" name="Card"/>
          <p:cNvSpPr/>
          <p:nvPr/>
        </p:nvSpPr>
        <p:spPr>
          <a:xfrm>
            <a:off x="548640" y="1371600"/>
            <a:ext cx="7223760" cy="4754880"/>
          </a:xfrm>
          <a:prstGeom prst="roundRect">
            <a:avLst>
              <a:gd name="adj" fmla="val 6000"/>
            </a:avLst>
          </a:prstGeom>
          <a:solidFill>
            <a:schemeClr val="bg2"/>
          </a:solidFill>
          <a:ln>
            <a:noFill/>
          </a:ln>
        </p:spPr>
        <p:txBody>
          <a:bodyPr rtlCol="0" anchor="ctr"/>
          <a:lstStyle/>
          <a:p>
            <a:pPr algn="ctr"/>
          </a:p>
        </p:txBody>
      </p:sp>
      <p:sp>
        <p:nvSpPr>
          <p:cNvPr id="27" name="Stage header"/>
          <p:cNvSpPr/>
          <p:nvPr/>
        </p:nvSpPr>
        <p:spPr>
          <a:xfrm>
            <a:off x="777240" y="1600200"/>
            <a:ext cx="1394460" cy="777240"/>
          </a:xfrm>
          <a:prstGeom prst="roundRect">
            <a:avLst>
              <a:gd name="adj" fmla="val 6000"/>
            </a:avLst>
          </a:prstGeom>
          <a:solidFill>
            <a:schemeClr val="accent1"/>
          </a:solidFill>
          <a:ln>
            <a:noFill/>
          </a:ln>
        </p:spPr>
        <p:txBody>
          <a:bodyPr rtlCol="0" anchor="ctr" wrap="square" lIns="45720" rIns="45720"/>
          <a:lstStyle/>
          <a:p>
            <a:pPr algn="ctr"/>
            <a:r>
              <a:rPr sz="1300" b="1">
                <a:solidFill>
                  <a:schemeClr val="bg1"/>
                </a:solidFill>
              </a:rPr>
              <a:t>1. Data Sources</a:t>
            </a:r>
          </a:p>
        </p:txBody>
      </p:sp>
      <p:sp>
        <p:nvSpPr>
          <p:cNvPr id="28" name="Stage body"/>
          <p:cNvSpPr/>
          <p:nvPr/>
        </p:nvSpPr>
        <p:spPr>
          <a:xfrm>
            <a:off x="777240" y="2514600"/>
            <a:ext cx="1394460" cy="3017520"/>
          </a:xfrm>
          <a:prstGeom prst="roundRect">
            <a:avLst>
              <a:gd name="adj" fmla="val 6000"/>
            </a:avLst>
          </a:prstGeom>
          <a:solidFill>
            <a:schemeClr val="bg1"/>
          </a:solidFill>
          <a:ln>
            <a:noFill/>
          </a:ln>
        </p:spPr>
        <p:txBody>
          <a:bodyPr rtlCol="0" anchor="ctr"/>
          <a:lstStyle/>
          <a:p>
            <a:pPr algn="ctr"/>
          </a:p>
        </p:txBody>
      </p:sp>
      <p:sp>
        <p:nvSpPr>
          <p:cNvPr id="29" name="Text"/>
          <p:cNvSpPr txBox="1"/>
          <p:nvPr/>
        </p:nvSpPr>
        <p:spPr>
          <a:xfrm>
            <a:off x="868680" y="2606040"/>
            <a:ext cx="1211580" cy="2834640"/>
          </a:xfrm>
          <a:prstGeom prst="rect">
            <a:avLst/>
          </a:prstGeom>
          <a:noFill/>
        </p:spPr>
        <p:txBody>
          <a:bodyPr wrap="square" lIns="0" rIns="0" tIns="0" bIns="0" anchor="t">
            <a:spAutoFit/>
          </a:bodyPr>
          <a:lstStyle/>
          <a:p>
            <a:pPr marL="228600" indent="-228600">
              <a:spcAft>
                <a:spcPts val="600"/>
              </a:spcAft>
              <a:buChar char="•"/>
            </a:pPr>
            <a:r>
              <a:rPr sz="1200" b="0">
                <a:solidFill>
                  <a:schemeClr val="tx1"/>
                </a:solidFill>
              </a:rPr>
              <a:t>NFHS survey</a:t>
            </a:r>
          </a:p>
          <a:p>
            <a:pPr marL="228600" indent="-228600">
              <a:spcAft>
                <a:spcPts val="600"/>
              </a:spcAft>
              <a:buChar char="•"/>
            </a:pPr>
            <a:r>
              <a:rPr sz="1200" b="0">
                <a:solidFill>
                  <a:schemeClr val="tx1"/>
                </a:solidFill>
              </a:rPr>
              <a:t>Hospital admissions</a:t>
            </a:r>
          </a:p>
          <a:p>
            <a:pPr marL="228600" indent="-228600">
              <a:spcAft>
                <a:spcPts val="600"/>
              </a:spcAft>
              <a:buChar char="•"/>
            </a:pPr>
            <a:r>
              <a:rPr sz="1200" b="0">
                <a:solidFill>
                  <a:schemeClr val="tx1"/>
                </a:solidFill>
              </a:rPr>
              <a:t>Disease-specific datasets</a:t>
            </a:r>
          </a:p>
        </p:txBody>
      </p:sp>
      <p:sp>
        <p:nvSpPr>
          <p:cNvPr id="30" name="Flow arrow"/>
          <p:cNvSpPr/>
          <p:nvPr/>
        </p:nvSpPr>
        <p:spPr>
          <a:xfrm>
            <a:off x="2217420" y="1881600"/>
            <a:ext cx="283464" cy="228600"/>
          </a:xfrm>
          <a:prstGeom prst="rightArrow">
            <a:avLst/>
          </a:prstGeom>
          <a:solidFill>
            <a:schemeClr val="accent2"/>
          </a:solidFill>
          <a:ln>
            <a:noFill/>
          </a:ln>
        </p:spPr>
        <p:txBody>
          <a:bodyPr rtlCol="0" anchor="ctr"/>
          <a:lstStyle/>
          <a:p>
            <a:pPr algn="ctr"/>
          </a:p>
        </p:txBody>
      </p:sp>
      <p:sp>
        <p:nvSpPr>
          <p:cNvPr id="31" name="Stage header"/>
          <p:cNvSpPr/>
          <p:nvPr/>
        </p:nvSpPr>
        <p:spPr>
          <a:xfrm>
            <a:off x="2546604" y="1600200"/>
            <a:ext cx="1394460" cy="777240"/>
          </a:xfrm>
          <a:prstGeom prst="roundRect">
            <a:avLst>
              <a:gd name="adj" fmla="val 6000"/>
            </a:avLst>
          </a:prstGeom>
          <a:solidFill>
            <a:schemeClr val="accent1"/>
          </a:solidFill>
          <a:ln>
            <a:noFill/>
          </a:ln>
        </p:spPr>
        <p:txBody>
          <a:bodyPr rtlCol="0" anchor="ctr" wrap="square" lIns="45720" rIns="45720"/>
          <a:lstStyle/>
          <a:p>
            <a:pPr algn="ctr"/>
            <a:r>
              <a:rPr sz="1300" b="1">
                <a:solidFill>
                  <a:schemeClr val="bg1"/>
                </a:solidFill>
              </a:rPr>
              <a:t>2. Data Processing</a:t>
            </a:r>
          </a:p>
        </p:txBody>
      </p:sp>
      <p:sp>
        <p:nvSpPr>
          <p:cNvPr id="32" name="Stage body"/>
          <p:cNvSpPr/>
          <p:nvPr/>
        </p:nvSpPr>
        <p:spPr>
          <a:xfrm>
            <a:off x="2546604" y="2514600"/>
            <a:ext cx="1394460" cy="3017520"/>
          </a:xfrm>
          <a:prstGeom prst="roundRect">
            <a:avLst>
              <a:gd name="adj" fmla="val 6000"/>
            </a:avLst>
          </a:prstGeom>
          <a:solidFill>
            <a:schemeClr val="bg1"/>
          </a:solidFill>
          <a:ln>
            <a:noFill/>
          </a:ln>
        </p:spPr>
        <p:txBody>
          <a:bodyPr rtlCol="0" anchor="ctr"/>
          <a:lstStyle/>
          <a:p>
            <a:pPr algn="ctr"/>
          </a:p>
        </p:txBody>
      </p:sp>
      <p:sp>
        <p:nvSpPr>
          <p:cNvPr id="33" name="Text"/>
          <p:cNvSpPr txBox="1"/>
          <p:nvPr/>
        </p:nvSpPr>
        <p:spPr>
          <a:xfrm>
            <a:off x="2638044" y="2606040"/>
            <a:ext cx="1211580" cy="2834640"/>
          </a:xfrm>
          <a:prstGeom prst="rect">
            <a:avLst/>
          </a:prstGeom>
          <a:noFill/>
        </p:spPr>
        <p:txBody>
          <a:bodyPr wrap="square" lIns="0" rIns="0" tIns="0" bIns="0" anchor="t">
            <a:spAutoFit/>
          </a:bodyPr>
          <a:lstStyle/>
          <a:p>
            <a:pPr marL="228600" indent="-228600">
              <a:spcAft>
                <a:spcPts val="600"/>
              </a:spcAft>
              <a:buChar char="•"/>
            </a:pPr>
            <a:r>
              <a:rPr sz="1200" b="0">
                <a:solidFill>
                  <a:schemeClr val="tx1"/>
                </a:solidFill>
              </a:rPr>
              <a:t>Ingestion</a:t>
            </a:r>
          </a:p>
          <a:p>
            <a:pPr marL="228600" indent="-228600">
              <a:spcAft>
                <a:spcPts val="600"/>
              </a:spcAft>
              <a:buChar char="•"/>
            </a:pPr>
            <a:r>
              <a:rPr sz="1200" b="0">
                <a:solidFill>
                  <a:schemeClr val="tx1"/>
                </a:solidFill>
              </a:rPr>
              <a:t>Cleaning, missing values</a:t>
            </a:r>
          </a:p>
          <a:p>
            <a:pPr marL="228600" indent="-228600">
              <a:spcAft>
                <a:spcPts val="600"/>
              </a:spcAft>
              <a:buChar char="•"/>
            </a:pPr>
            <a:r>
              <a:rPr sz="1200" b="0">
                <a:solidFill>
                  <a:schemeClr val="tx1"/>
                </a:solidFill>
              </a:rPr>
              <a:t>Duplicates, outliers</a:t>
            </a:r>
          </a:p>
          <a:p>
            <a:pPr marL="228600" indent="-228600">
              <a:spcAft>
                <a:spcPts val="600"/>
              </a:spcAft>
              <a:buChar char="•"/>
            </a:pPr>
            <a:r>
              <a:rPr sz="1200" b="0">
                <a:solidFill>
                  <a:schemeClr val="tx1"/>
                </a:solidFill>
              </a:rPr>
              <a:t>Feature engineering</a:t>
            </a:r>
          </a:p>
        </p:txBody>
      </p:sp>
      <p:sp>
        <p:nvSpPr>
          <p:cNvPr id="34" name="Flow arrow"/>
          <p:cNvSpPr/>
          <p:nvPr/>
        </p:nvSpPr>
        <p:spPr>
          <a:xfrm>
            <a:off x="3986784" y="1881600"/>
            <a:ext cx="283464" cy="228600"/>
          </a:xfrm>
          <a:prstGeom prst="rightArrow">
            <a:avLst/>
          </a:prstGeom>
          <a:solidFill>
            <a:schemeClr val="accent2"/>
          </a:solidFill>
          <a:ln>
            <a:noFill/>
          </a:ln>
        </p:spPr>
        <p:txBody>
          <a:bodyPr rtlCol="0" anchor="ctr"/>
          <a:lstStyle/>
          <a:p>
            <a:pPr algn="ctr"/>
          </a:p>
        </p:txBody>
      </p:sp>
      <p:sp>
        <p:nvSpPr>
          <p:cNvPr id="35" name="Stage header"/>
          <p:cNvSpPr/>
          <p:nvPr/>
        </p:nvSpPr>
        <p:spPr>
          <a:xfrm>
            <a:off x="4315968" y="1600200"/>
            <a:ext cx="1394460" cy="777240"/>
          </a:xfrm>
          <a:prstGeom prst="roundRect">
            <a:avLst>
              <a:gd name="adj" fmla="val 6000"/>
            </a:avLst>
          </a:prstGeom>
          <a:solidFill>
            <a:schemeClr val="accent1"/>
          </a:solidFill>
          <a:ln>
            <a:noFill/>
          </a:ln>
        </p:spPr>
        <p:txBody>
          <a:bodyPr rtlCol="0" anchor="ctr" wrap="square" lIns="45720" rIns="45720"/>
          <a:lstStyle/>
          <a:p>
            <a:pPr algn="ctr"/>
            <a:r>
              <a:rPr sz="1300" b="1">
                <a:solidFill>
                  <a:schemeClr val="bg1"/>
                </a:solidFill>
              </a:rPr>
              <a:t>3. ML &amp; Analytics</a:t>
            </a:r>
          </a:p>
        </p:txBody>
      </p:sp>
      <p:sp>
        <p:nvSpPr>
          <p:cNvPr id="36" name="Stage body"/>
          <p:cNvSpPr/>
          <p:nvPr/>
        </p:nvSpPr>
        <p:spPr>
          <a:xfrm>
            <a:off x="4315968" y="2514600"/>
            <a:ext cx="1394460" cy="3017520"/>
          </a:xfrm>
          <a:prstGeom prst="roundRect">
            <a:avLst>
              <a:gd name="adj" fmla="val 6000"/>
            </a:avLst>
          </a:prstGeom>
          <a:solidFill>
            <a:schemeClr val="bg1"/>
          </a:solidFill>
          <a:ln>
            <a:noFill/>
          </a:ln>
        </p:spPr>
        <p:txBody>
          <a:bodyPr rtlCol="0" anchor="ctr"/>
          <a:lstStyle/>
          <a:p>
            <a:pPr algn="ctr"/>
          </a:p>
        </p:txBody>
      </p:sp>
      <p:sp>
        <p:nvSpPr>
          <p:cNvPr id="37" name="Text"/>
          <p:cNvSpPr txBox="1"/>
          <p:nvPr/>
        </p:nvSpPr>
        <p:spPr>
          <a:xfrm>
            <a:off x="4407408" y="2606040"/>
            <a:ext cx="1211580" cy="2834640"/>
          </a:xfrm>
          <a:prstGeom prst="rect">
            <a:avLst/>
          </a:prstGeom>
          <a:noFill/>
        </p:spPr>
        <p:txBody>
          <a:bodyPr wrap="square" lIns="0" rIns="0" tIns="0" bIns="0" anchor="t">
            <a:spAutoFit/>
          </a:bodyPr>
          <a:lstStyle/>
          <a:p>
            <a:pPr marL="228600" indent="-228600">
              <a:spcAft>
                <a:spcPts val="600"/>
              </a:spcAft>
              <a:buChar char="•"/>
            </a:pPr>
            <a:r>
              <a:rPr sz="1200" b="0">
                <a:solidFill>
                  <a:schemeClr val="tx1"/>
                </a:solidFill>
              </a:rPr>
              <a:t>EDA</a:t>
            </a:r>
          </a:p>
          <a:p>
            <a:pPr marL="228600" indent="-228600">
              <a:spcAft>
                <a:spcPts val="600"/>
              </a:spcAft>
              <a:buChar char="•"/>
            </a:pPr>
            <a:r>
              <a:rPr sz="1200" b="0">
                <a:solidFill>
                  <a:schemeClr val="tx1"/>
                </a:solidFill>
              </a:rPr>
              <a:t>Logistic Regression</a:t>
            </a:r>
          </a:p>
          <a:p>
            <a:pPr marL="228600" indent="-228600">
              <a:spcAft>
                <a:spcPts val="600"/>
              </a:spcAft>
              <a:buChar char="•"/>
            </a:pPr>
            <a:r>
              <a:rPr sz="1200" b="0">
                <a:solidFill>
                  <a:schemeClr val="tx1"/>
                </a:solidFill>
              </a:rPr>
              <a:t>Decision Tree</a:t>
            </a:r>
          </a:p>
          <a:p>
            <a:pPr marL="228600" indent="-228600">
              <a:spcAft>
                <a:spcPts val="600"/>
              </a:spcAft>
              <a:buChar char="•"/>
            </a:pPr>
            <a:r>
              <a:rPr sz="1200" b="0">
                <a:solidFill>
                  <a:schemeClr val="tx1"/>
                </a:solidFill>
              </a:rPr>
              <a:t>Random Forest</a:t>
            </a:r>
          </a:p>
          <a:p>
            <a:pPr marL="228600" indent="-228600">
              <a:spcAft>
                <a:spcPts val="600"/>
              </a:spcAft>
              <a:buChar char="•"/>
            </a:pPr>
            <a:r>
              <a:rPr sz="1200" b="0">
                <a:solidFill>
                  <a:schemeClr val="tx1"/>
                </a:solidFill>
              </a:rPr>
              <a:t>KNN</a:t>
            </a:r>
          </a:p>
          <a:p>
            <a:pPr marL="228600" indent="-228600">
              <a:spcAft>
                <a:spcPts val="600"/>
              </a:spcAft>
              <a:buChar char="•"/>
            </a:pPr>
            <a:r>
              <a:rPr sz="1200" b="0">
                <a:solidFill>
                  <a:schemeClr val="tx1"/>
                </a:solidFill>
              </a:rPr>
              <a:t>Naïve Bayes</a:t>
            </a:r>
          </a:p>
        </p:txBody>
      </p:sp>
      <p:sp>
        <p:nvSpPr>
          <p:cNvPr id="38" name="Flow arrow"/>
          <p:cNvSpPr/>
          <p:nvPr/>
        </p:nvSpPr>
        <p:spPr>
          <a:xfrm>
            <a:off x="5756148" y="1881600"/>
            <a:ext cx="283464" cy="228600"/>
          </a:xfrm>
          <a:prstGeom prst="rightArrow">
            <a:avLst/>
          </a:prstGeom>
          <a:solidFill>
            <a:schemeClr val="accent2"/>
          </a:solidFill>
          <a:ln>
            <a:noFill/>
          </a:ln>
        </p:spPr>
        <p:txBody>
          <a:bodyPr rtlCol="0" anchor="ctr"/>
          <a:lstStyle/>
          <a:p>
            <a:pPr algn="ctr"/>
          </a:p>
        </p:txBody>
      </p:sp>
      <p:sp>
        <p:nvSpPr>
          <p:cNvPr id="39" name="Stage header"/>
          <p:cNvSpPr/>
          <p:nvPr/>
        </p:nvSpPr>
        <p:spPr>
          <a:xfrm>
            <a:off x="6085332" y="1600200"/>
            <a:ext cx="1394460" cy="777240"/>
          </a:xfrm>
          <a:prstGeom prst="roundRect">
            <a:avLst>
              <a:gd name="adj" fmla="val 6000"/>
            </a:avLst>
          </a:prstGeom>
          <a:solidFill>
            <a:schemeClr val="accent1"/>
          </a:solidFill>
          <a:ln>
            <a:noFill/>
          </a:ln>
        </p:spPr>
        <p:txBody>
          <a:bodyPr rtlCol="0" anchor="ctr" wrap="square" lIns="45720" rIns="45720"/>
          <a:lstStyle/>
          <a:p>
            <a:pPr algn="ctr"/>
            <a:r>
              <a:rPr sz="1300" b="1">
                <a:solidFill>
                  <a:schemeClr val="bg1"/>
                </a:solidFill>
              </a:rPr>
              <a:t>4. Dashboard</a:t>
            </a:r>
          </a:p>
        </p:txBody>
      </p:sp>
      <p:sp>
        <p:nvSpPr>
          <p:cNvPr id="40" name="Stage body"/>
          <p:cNvSpPr/>
          <p:nvPr/>
        </p:nvSpPr>
        <p:spPr>
          <a:xfrm>
            <a:off x="6085332" y="2514600"/>
            <a:ext cx="1394460" cy="3017520"/>
          </a:xfrm>
          <a:prstGeom prst="roundRect">
            <a:avLst>
              <a:gd name="adj" fmla="val 6000"/>
            </a:avLst>
          </a:prstGeom>
          <a:solidFill>
            <a:schemeClr val="bg1"/>
          </a:solidFill>
          <a:ln>
            <a:noFill/>
          </a:ln>
        </p:spPr>
        <p:txBody>
          <a:bodyPr rtlCol="0" anchor="ctr"/>
          <a:lstStyle/>
          <a:p>
            <a:pPr algn="ctr"/>
          </a:p>
        </p:txBody>
      </p:sp>
      <p:sp>
        <p:nvSpPr>
          <p:cNvPr id="41" name="Text"/>
          <p:cNvSpPr txBox="1"/>
          <p:nvPr/>
        </p:nvSpPr>
        <p:spPr>
          <a:xfrm>
            <a:off x="6176772" y="2606040"/>
            <a:ext cx="1211580" cy="2834640"/>
          </a:xfrm>
          <a:prstGeom prst="rect">
            <a:avLst/>
          </a:prstGeom>
          <a:noFill/>
        </p:spPr>
        <p:txBody>
          <a:bodyPr wrap="square" lIns="0" rIns="0" tIns="0" bIns="0" anchor="t">
            <a:spAutoFit/>
          </a:bodyPr>
          <a:lstStyle/>
          <a:p>
            <a:pPr marL="228600" indent="-228600">
              <a:spcAft>
                <a:spcPts val="600"/>
              </a:spcAft>
              <a:buChar char="•"/>
            </a:pPr>
            <a:r>
              <a:rPr sz="1200" b="0">
                <a:solidFill>
                  <a:schemeClr val="tx1"/>
                </a:solidFill>
              </a:rPr>
              <a:t>Health trends</a:t>
            </a:r>
          </a:p>
          <a:p>
            <a:pPr marL="228600" indent="-228600">
              <a:spcAft>
                <a:spcPts val="600"/>
              </a:spcAft>
              <a:buChar char="•"/>
            </a:pPr>
            <a:r>
              <a:rPr sz="1200" b="0">
                <a:solidFill>
                  <a:schemeClr val="tx1"/>
                </a:solidFill>
              </a:rPr>
              <a:t>Demographic patterns</a:t>
            </a:r>
          </a:p>
          <a:p>
            <a:pPr marL="228600" indent="-228600">
              <a:spcAft>
                <a:spcPts val="600"/>
              </a:spcAft>
              <a:buChar char="•"/>
            </a:pPr>
            <a:r>
              <a:rPr sz="1200" b="0">
                <a:solidFill>
                  <a:schemeClr val="tx1"/>
                </a:solidFill>
              </a:rPr>
              <a:t>Risk factors</a:t>
            </a:r>
          </a:p>
          <a:p>
            <a:pPr marL="228600" indent="-228600">
              <a:spcAft>
                <a:spcPts val="600"/>
              </a:spcAft>
              <a:buChar char="•"/>
            </a:pPr>
            <a:r>
              <a:rPr sz="1200" b="0">
                <a:solidFill>
                  <a:schemeClr val="tx1"/>
                </a:solidFill>
              </a:rPr>
              <a:t>Risk prediction</a:t>
            </a:r>
          </a:p>
          <a:p>
            <a:pPr marL="228600" indent="-228600">
              <a:spcAft>
                <a:spcPts val="600"/>
              </a:spcAft>
              <a:buChar char="•"/>
            </a:pPr>
            <a:r>
              <a:rPr sz="1200" b="0">
                <a:solidFill>
                  <a:schemeClr val="tx1"/>
                </a:solidFill>
              </a:rPr>
              <a:t>Model performance</a:t>
            </a:r>
          </a:p>
        </p:txBody>
      </p:sp>
      <p:sp>
        <p:nvSpPr>
          <p:cNvPr id="42" name="Flow band"/>
          <p:cNvSpPr/>
          <p:nvPr/>
        </p:nvSpPr>
        <p:spPr>
          <a:xfrm>
            <a:off x="777240" y="5692140"/>
            <a:ext cx="6766560" cy="320040"/>
          </a:xfrm>
          <a:prstGeom prst="roundRect">
            <a:avLst>
              <a:gd name="adj" fmla="val 6000"/>
            </a:avLst>
          </a:prstGeom>
          <a:solidFill>
            <a:schemeClr val="accent1"/>
          </a:solidFill>
          <a:ln>
            <a:noFill/>
          </a:ln>
        </p:spPr>
        <p:txBody>
          <a:bodyPr rtlCol="0" anchor="ctr"/>
          <a:lstStyle/>
          <a:p>
            <a:pPr algn="ctr"/>
            <a:r>
              <a:rPr sz="1200" b="1">
                <a:solidFill>
                  <a:schemeClr val="bg1"/>
                </a:solidFill>
              </a:rPr>
              <a:t>Input: public health data   →   Processing: clean, analyse, model   →   Output: insights and risk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Hardware &amp; Software Requirements</a:t>
            </a:r>
            <a:endParaRPr lang="en-US" sz="3200" dirty="0"/>
          </a:p>
        </p:txBody>
      </p:sp>
      <p:sp>
        <p:nvSpPr>
          <p:cNvPr id="4" name="Card"/>
          <p:cNvSpPr/>
          <p:nvPr/>
        </p:nvSpPr>
        <p:spPr>
          <a:xfrm>
            <a:off x="548640" y="1371600"/>
            <a:ext cx="3520440" cy="3566160"/>
          </a:xfrm>
          <a:prstGeom prst="roundRect">
            <a:avLst>
              <a:gd name="adj" fmla="val 3117"/>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pic>
        <p:nvPicPr>
          <p:cNvPr id="6" name="Image 0" descr="Microchip icon"/>
          <p:cNvPicPr>
            <a:picLocks noChangeAspect="1"/>
          </p:cNvPicPr>
          <p:nvPr/>
        </p:nvPicPr>
        <p:blipFill>
          <a:blip r:embed="rId3"/>
          <a:stretch>
            <a:fillRect/>
          </a:stretch>
        </p:blipFill>
        <p:spPr>
          <a:xfrm>
            <a:off x="933602" y="1665122"/>
            <a:ext cx="281635" cy="281635"/>
          </a:xfrm>
          <a:prstGeom prst="rect">
            <a:avLst/>
          </a:prstGeom>
        </p:spPr>
      </p:pic>
      <p:sp>
        <p:nvSpPr>
          <p:cNvPr id="7" name="Text 3"/>
          <p:cNvSpPr txBox="1"/>
          <p:nvPr/>
        </p:nvSpPr>
        <p:spPr>
          <a:xfrm>
            <a:off x="1508760"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Hardware</a:t>
            </a:r>
            <a:endParaRPr lang="en-US" sz="1800" dirty="0"/>
          </a:p>
        </p:txBody>
      </p:sp>
      <p:sp>
        <p:nvSpPr>
          <p:cNvPr id="8" name="Text 4"/>
          <p:cNvSpPr txBox="1"/>
          <p:nvPr/>
        </p:nvSpPr>
        <p:spPr>
          <a:xfrm>
            <a:off x="822960" y="2240280"/>
            <a:ext cx="297180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Processor: Core i5 or higher</a:t>
            </a:r>
            <a:endParaRPr lang="en-US" sz="1400" dirty="0"/>
          </a:p>
          <a:p>
            <a:pPr marL="342900" indent="-342900">
              <a:spcAft>
                <a:spcPts val="600"/>
              </a:spcAft>
              <a:buSzPct val="100000"/>
              <a:buChar char="•"/>
            </a:pPr>
            <a:r>
              <a:rPr lang="en-US" sz="1400" dirty="0">
                <a:solidFill>
                  <a:schemeClr val="tx1"/>
                </a:solidFill>
              </a:rPr>
              <a:t>RAM: 8 GB minimum</a:t>
            </a:r>
            <a:endParaRPr lang="en-US" sz="1400" dirty="0"/>
          </a:p>
          <a:p>
            <a:pPr marL="342900" indent="-342900">
              <a:spcAft>
                <a:spcPts val="600"/>
              </a:spcAft>
              <a:buSzPct val="100000"/>
              <a:buChar char="•"/>
            </a:pPr>
            <a:r>
              <a:rPr lang="en-US" sz="1400" dirty="0">
                <a:solidFill>
                  <a:schemeClr val="tx1"/>
                </a:solidFill>
              </a:rPr>
              <a:t>Storage: 10 GB free space</a:t>
            </a:r>
            <a:endParaRPr lang="en-US" sz="1400" dirty="0"/>
          </a:p>
          <a:p>
            <a:pPr marL="342900" indent="-342900">
              <a:spcAft>
                <a:spcPts val="600"/>
              </a:spcAft>
              <a:buSzPct val="100000"/>
              <a:buChar char="•"/>
            </a:pPr>
            <a:r>
              <a:rPr lang="en-US" sz="1400" dirty="0">
                <a:solidFill>
                  <a:schemeClr val="tx1"/>
                </a:solidFill>
              </a:rPr>
              <a:t>Network: Internet connection</a:t>
            </a:r>
            <a:endParaRPr lang="en-US" sz="1400" dirty="0"/>
          </a:p>
        </p:txBody>
      </p:sp>
      <p:sp>
        <p:nvSpPr>
          <p:cNvPr id="9" name="Card"/>
          <p:cNvSpPr/>
          <p:nvPr/>
        </p:nvSpPr>
        <p:spPr>
          <a:xfrm>
            <a:off x="4334256" y="1371600"/>
            <a:ext cx="3520440" cy="3566160"/>
          </a:xfrm>
          <a:prstGeom prst="roundRect">
            <a:avLst>
              <a:gd name="adj" fmla="val 3117"/>
            </a:avLst>
          </a:prstGeom>
          <a:solidFill>
            <a:schemeClr val="bg2"/>
          </a:solidFill>
          <a:ln/>
        </p:spPr>
        <p:txBody>
          <a:bodyPr/>
          <a:lstStyle/>
          <a:p>
            <a:endParaRPr lang="en-IN"/>
          </a:p>
        </p:txBody>
      </p:sp>
      <p:sp>
        <p:nvSpPr>
          <p:cNvPr id="10" name="Icon badge"/>
          <p:cNvSpPr/>
          <p:nvPr/>
        </p:nvSpPr>
        <p:spPr>
          <a:xfrm>
            <a:off x="4608576" y="1554480"/>
            <a:ext cx="502920" cy="502920"/>
          </a:xfrm>
          <a:prstGeom prst="ellipse">
            <a:avLst/>
          </a:prstGeom>
          <a:solidFill>
            <a:schemeClr val="accent1"/>
          </a:solidFill>
          <a:ln/>
        </p:spPr>
        <p:txBody>
          <a:bodyPr/>
          <a:lstStyle/>
          <a:p>
            <a:endParaRPr lang="en-IN"/>
          </a:p>
        </p:txBody>
      </p:sp>
      <p:pic>
        <p:nvPicPr>
          <p:cNvPr id="11" name="Image 1" descr="LaptopCode icon"/>
          <p:cNvPicPr>
            <a:picLocks noChangeAspect="1"/>
          </p:cNvPicPr>
          <p:nvPr/>
        </p:nvPicPr>
        <p:blipFill>
          <a:blip r:embed="rId4"/>
          <a:stretch>
            <a:fillRect/>
          </a:stretch>
        </p:blipFill>
        <p:spPr>
          <a:xfrm>
            <a:off x="4719218" y="1665122"/>
            <a:ext cx="281635" cy="281635"/>
          </a:xfrm>
          <a:prstGeom prst="rect">
            <a:avLst/>
          </a:prstGeom>
        </p:spPr>
      </p:pic>
      <p:sp>
        <p:nvSpPr>
          <p:cNvPr id="12" name="Text 7"/>
          <p:cNvSpPr txBox="1"/>
          <p:nvPr/>
        </p:nvSpPr>
        <p:spPr>
          <a:xfrm>
            <a:off x="5294376"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Software &amp; Tools</a:t>
            </a:r>
            <a:endParaRPr lang="en-US" sz="1800" dirty="0"/>
          </a:p>
        </p:txBody>
      </p:sp>
      <p:sp>
        <p:nvSpPr>
          <p:cNvPr id="13" name="Text 8"/>
          <p:cNvSpPr txBox="1"/>
          <p:nvPr/>
        </p:nvSpPr>
        <p:spPr>
          <a:xfrm>
            <a:off x="4608576" y="2240280"/>
            <a:ext cx="297180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OS: Windows 10 / 11</a:t>
            </a:r>
            <a:endParaRPr lang="en-US" sz="1400" dirty="0"/>
          </a:p>
          <a:p>
            <a:pPr marL="342900" indent="-342900">
              <a:spcAft>
                <a:spcPts val="600"/>
              </a:spcAft>
              <a:buSzPct val="100000"/>
              <a:buChar char="•"/>
            </a:pPr>
            <a:r>
              <a:rPr lang="en-US" sz="1400" dirty="0">
                <a:solidFill>
                  <a:schemeClr val="tx1"/>
                </a:solidFill>
              </a:rPr>
              <a:t>Language: Python 3</a:t>
            </a:r>
            <a:endParaRPr lang="en-US" sz="1400" dirty="0"/>
          </a:p>
          <a:p>
            <a:pPr marL="342900" indent="-342900">
              <a:spcAft>
                <a:spcPts val="600"/>
              </a:spcAft>
              <a:buSzPct val="100000"/>
              <a:buChar char="•"/>
            </a:pPr>
            <a:r>
              <a:rPr lang="en-US" sz="1400" dirty="0">
                <a:solidFill>
                  <a:schemeClr val="tx1"/>
                </a:solidFill>
              </a:rPr>
              <a:t>IDE: Jupyter / Google Colab</a:t>
            </a:r>
            <a:endParaRPr lang="en-US" sz="1400" dirty="0"/>
          </a:p>
          <a:p>
            <a:pPr marL="342900" indent="-342900">
              <a:spcAft>
                <a:spcPts val="600"/>
              </a:spcAft>
              <a:buSzPct val="100000"/>
              <a:buChar char="•"/>
            </a:pPr>
            <a:r>
              <a:rPr lang="en-US" sz="1400" dirty="0">
                <a:solidFill>
                  <a:schemeClr val="tx1"/>
                </a:solidFill>
              </a:rPr>
              <a:t>Version control: GitHub</a:t>
            </a:r>
            <a:endParaRPr lang="en-US" sz="1400" dirty="0"/>
          </a:p>
        </p:txBody>
      </p:sp>
      <p:sp>
        <p:nvSpPr>
          <p:cNvPr id="14" name="Card"/>
          <p:cNvSpPr/>
          <p:nvPr/>
        </p:nvSpPr>
        <p:spPr>
          <a:xfrm>
            <a:off x="8119872" y="1371600"/>
            <a:ext cx="3520440" cy="3566160"/>
          </a:xfrm>
          <a:prstGeom prst="roundRect">
            <a:avLst>
              <a:gd name="adj" fmla="val 3117"/>
            </a:avLst>
          </a:prstGeom>
          <a:solidFill>
            <a:schemeClr val="bg2"/>
          </a:solidFill>
          <a:ln/>
        </p:spPr>
        <p:txBody>
          <a:bodyPr/>
          <a:lstStyle/>
          <a:p>
            <a:endParaRPr lang="en-IN"/>
          </a:p>
        </p:txBody>
      </p:sp>
      <p:sp>
        <p:nvSpPr>
          <p:cNvPr id="15" name="Icon badge"/>
          <p:cNvSpPr/>
          <p:nvPr/>
        </p:nvSpPr>
        <p:spPr>
          <a:xfrm>
            <a:off x="8394192" y="1554480"/>
            <a:ext cx="502920" cy="502920"/>
          </a:xfrm>
          <a:prstGeom prst="ellipse">
            <a:avLst/>
          </a:prstGeom>
          <a:solidFill>
            <a:schemeClr val="accent1"/>
          </a:solidFill>
          <a:ln/>
        </p:spPr>
        <p:txBody>
          <a:bodyPr/>
          <a:lstStyle/>
          <a:p>
            <a:endParaRPr lang="en-IN"/>
          </a:p>
        </p:txBody>
      </p:sp>
      <p:pic>
        <p:nvPicPr>
          <p:cNvPr id="16" name="Image 2" descr="Cubes icon"/>
          <p:cNvPicPr>
            <a:picLocks noChangeAspect="1"/>
          </p:cNvPicPr>
          <p:nvPr/>
        </p:nvPicPr>
        <p:blipFill>
          <a:blip r:embed="rId5"/>
          <a:stretch>
            <a:fillRect/>
          </a:stretch>
        </p:blipFill>
        <p:spPr>
          <a:xfrm>
            <a:off x="8504834" y="1665122"/>
            <a:ext cx="281635" cy="281635"/>
          </a:xfrm>
          <a:prstGeom prst="rect">
            <a:avLst/>
          </a:prstGeom>
        </p:spPr>
      </p:pic>
      <p:sp>
        <p:nvSpPr>
          <p:cNvPr id="17" name="Text 11"/>
          <p:cNvSpPr txBox="1"/>
          <p:nvPr/>
        </p:nvSpPr>
        <p:spPr>
          <a:xfrm>
            <a:off x="9079992"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Libraries / Frameworks</a:t>
            </a:r>
            <a:endParaRPr lang="en-US" sz="1800" dirty="0"/>
          </a:p>
        </p:txBody>
      </p:sp>
      <p:sp>
        <p:nvSpPr>
          <p:cNvPr id="18" name="Text 12"/>
          <p:cNvSpPr txBox="1"/>
          <p:nvPr/>
        </p:nvSpPr>
        <p:spPr>
          <a:xfrm>
            <a:off x="8394192" y="2240280"/>
            <a:ext cx="297180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Pandas and NumPy</a:t>
            </a:r>
            <a:endParaRPr lang="en-US" sz="1400" dirty="0"/>
          </a:p>
          <a:p>
            <a:pPr marL="342900" indent="-342900">
              <a:spcAft>
                <a:spcPts val="600"/>
              </a:spcAft>
              <a:buSzPct val="100000"/>
              <a:buChar char="•"/>
            </a:pPr>
            <a:r>
              <a:rPr lang="en-US" sz="1400" dirty="0">
                <a:solidFill>
                  <a:schemeClr val="tx1"/>
                </a:solidFill>
              </a:rPr>
              <a:t>Scikit-learn</a:t>
            </a:r>
            <a:endParaRPr lang="en-US" sz="1400" dirty="0"/>
          </a:p>
          <a:p>
            <a:pPr marL="342900" indent="-342900">
              <a:spcAft>
                <a:spcPts val="600"/>
              </a:spcAft>
              <a:buSzPct val="100000"/>
              <a:buChar char="•"/>
            </a:pPr>
            <a:r>
              <a:rPr lang="en-US" sz="1400" dirty="0">
                <a:solidFill>
                  <a:schemeClr val="tx1"/>
                </a:solidFill>
              </a:rPr>
              <a:t>Matplotlib / Seaborn / Plotly</a:t>
            </a:r>
            <a:endParaRPr lang="en-US" sz="1400" dirty="0"/>
          </a:p>
          <a:p>
            <a:pPr marL="342900" indent="-342900">
              <a:spcAft>
                <a:spcPts val="600"/>
              </a:spcAft>
              <a:buSzPct val="100000"/>
              <a:buChar char="•"/>
            </a:pPr>
            <a:r>
              <a:rPr lang="en-US" sz="1400" dirty="0">
                <a:solidFill>
                  <a:schemeClr val="tx1"/>
                </a:solidFill>
              </a:rPr>
              <a:t>Streamlit (dashboard)</a:t>
            </a:r>
            <a:endParaRPr lang="en-US" sz="1400" dirty="0"/>
          </a:p>
        </p:txBody>
      </p:sp>
      <p:sp>
        <p:nvSpPr>
          <p:cNvPr id="19" name="Card"/>
          <p:cNvSpPr/>
          <p:nvPr/>
        </p:nvSpPr>
        <p:spPr>
          <a:xfrm>
            <a:off x="548640" y="5212080"/>
            <a:ext cx="11091672" cy="914400"/>
          </a:xfrm>
          <a:prstGeom prst="roundRect">
            <a:avLst>
              <a:gd name="adj" fmla="val 12000"/>
            </a:avLst>
          </a:prstGeom>
          <a:solidFill>
            <a:schemeClr val="bg2"/>
          </a:solidFill>
          <a:ln/>
        </p:spPr>
        <p:txBody>
          <a:bodyPr/>
          <a:lstStyle/>
          <a:p>
            <a:endParaRPr lang="en-IN"/>
          </a:p>
        </p:txBody>
      </p:sp>
      <p:sp>
        <p:nvSpPr>
          <p:cNvPr id="20" name="Text 14"/>
          <p:cNvSpPr txBox="1"/>
          <p:nvPr/>
        </p:nvSpPr>
        <p:spPr>
          <a:xfrm>
            <a:off x="822960" y="5394960"/>
            <a:ext cx="10543032" cy="502920"/>
          </a:xfrm>
          <a:prstGeom prst="rect">
            <a:avLst/>
          </a:prstGeom>
          <a:noFill/>
          <a:ln/>
        </p:spPr>
        <p:txBody>
          <a:bodyPr wrap="square" lIns="0" tIns="0" rIns="0" bIns="0" rtlCol="0" anchor="ctr"/>
          <a:lstStyle/>
          <a:p>
            <a:pPr marL="0" indent="0">
              <a:buNone/>
            </a:pPr>
            <a:r>
              <a:rPr lang="en-US" sz="1800" b="1" dirty="0">
                <a:solidFill>
                  <a:schemeClr val="tx2"/>
                </a:solidFill>
              </a:rPr>
              <a:t>Deployment / Platform:  </a:t>
            </a:r>
            <a:r>
              <a:rPr lang="en-US" sz="1800" b="1" dirty="0">
                <a:solidFill>
                  <a:schemeClr val="tx2"/>
                </a:solidFill>
              </a:rPr>
              <a:t>Local machine and Google Colab; dashboard served through Streamlit</a:t>
            </a:r>
            <a:endParaRPr lang="en-US" sz="1800" dirty="0"/>
          </a:p>
        </p:txBody>
      </p:sp>
      <p:sp>
        <p:nvSpPr>
          <p:cNvPr id="21" name="Text 15"/>
          <p:cNvSpPr txBox="1"/>
          <p:nvPr/>
        </p:nvSpPr>
        <p:spPr>
          <a:xfrm>
            <a:off x="822960" y="6080760"/>
            <a:ext cx="10543032" cy="0"/>
          </a:xfrm>
          <a:prstGeom prst="rect">
            <a:avLst/>
          </a:prstGeom>
          <a:noFill/>
          <a:ln/>
        </p:spPr>
        <p:txBody>
          <a:bodyPr wrap="square" lIns="0" tIns="0" rIns="0" bIns="0" rtlCol="0" anchor="t"/>
          <a:lstStyle/>
          <a:p>
            <a:pPr marL="0" indent="0">
              <a:buNone/>
            </a:pP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Dataset / Data Understanding</a:t>
            </a:r>
            <a:endParaRPr lang="en-US" sz="3200" dirty="0"/>
          </a:p>
        </p:txBody>
      </p:sp>
      <p:sp>
        <p:nvSpPr>
          <p:cNvPr id="4" name="Card"/>
          <p:cNvSpPr/>
          <p:nvPr/>
        </p:nvSpPr>
        <p:spPr>
          <a:xfrm>
            <a:off x="548640" y="1371600"/>
            <a:ext cx="2651760" cy="1417320"/>
          </a:xfrm>
          <a:prstGeom prst="roundRect">
            <a:avLst>
              <a:gd name="adj" fmla="val 7742"/>
            </a:avLst>
          </a:prstGeom>
          <a:solidFill>
            <a:schemeClr val="bg2"/>
          </a:solidFill>
          <a:ln/>
        </p:spPr>
        <p:txBody>
          <a:bodyPr/>
          <a:lstStyle/>
          <a:p>
            <a:endParaRPr lang="en-IN"/>
          </a:p>
        </p:txBody>
      </p:sp>
      <p:sp>
        <p:nvSpPr>
          <p:cNvPr id="5" name="Text 2"/>
          <p:cNvSpPr txBox="1"/>
          <p:nvPr/>
        </p:nvSpPr>
        <p:spPr>
          <a:xfrm>
            <a:off x="777240" y="1554480"/>
            <a:ext cx="219456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3</a:t>
            </a:r>
            <a:endParaRPr lang="en-US" sz="3600" dirty="0"/>
          </a:p>
        </p:txBody>
      </p:sp>
      <p:sp>
        <p:nvSpPr>
          <p:cNvPr id="6" name="Text 3"/>
          <p:cNvSpPr txBox="1"/>
          <p:nvPr/>
        </p:nvSpPr>
        <p:spPr>
          <a:xfrm>
            <a:off x="777240" y="2240280"/>
            <a:ext cx="2194560" cy="365760"/>
          </a:xfrm>
          <a:prstGeom prst="rect">
            <a:avLst/>
          </a:prstGeom>
          <a:noFill/>
          <a:ln/>
        </p:spPr>
        <p:txBody>
          <a:bodyPr wrap="square" lIns="0" tIns="0" rIns="0" bIns="0" rtlCol="0" anchor="t"/>
          <a:lstStyle/>
          <a:p>
            <a:pPr marL="0" indent="0">
              <a:buNone/>
            </a:pPr>
            <a:r>
              <a:rPr lang="en-US" sz="1600" dirty="0">
                <a:solidFill>
                  <a:schemeClr val="tx1"/>
                </a:solidFill>
              </a:rPr>
              <a:t>Candidate source types</a:t>
            </a:r>
            <a:endParaRPr lang="en-US" sz="1600" dirty="0"/>
          </a:p>
        </p:txBody>
      </p:sp>
      <p:sp>
        <p:nvSpPr>
          <p:cNvPr id="7" name="Card"/>
          <p:cNvSpPr/>
          <p:nvPr/>
        </p:nvSpPr>
        <p:spPr>
          <a:xfrm>
            <a:off x="3429000" y="1371600"/>
            <a:ext cx="2651760" cy="1417320"/>
          </a:xfrm>
          <a:prstGeom prst="roundRect">
            <a:avLst>
              <a:gd name="adj" fmla="val 7742"/>
            </a:avLst>
          </a:prstGeom>
          <a:solidFill>
            <a:schemeClr val="bg2"/>
          </a:solidFill>
          <a:ln/>
        </p:spPr>
        <p:txBody>
          <a:bodyPr/>
          <a:lstStyle/>
          <a:p>
            <a:endParaRPr lang="en-IN"/>
          </a:p>
        </p:txBody>
      </p:sp>
      <p:sp>
        <p:nvSpPr>
          <p:cNvPr id="8" name="Text 5"/>
          <p:cNvSpPr txBox="1"/>
          <p:nvPr/>
        </p:nvSpPr>
        <p:spPr>
          <a:xfrm>
            <a:off x="3657600" y="1554480"/>
            <a:ext cx="219456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5</a:t>
            </a:r>
            <a:endParaRPr lang="en-US" sz="3600" dirty="0"/>
          </a:p>
        </p:txBody>
      </p:sp>
      <p:sp>
        <p:nvSpPr>
          <p:cNvPr id="9" name="Text 6"/>
          <p:cNvSpPr txBox="1"/>
          <p:nvPr/>
        </p:nvSpPr>
        <p:spPr>
          <a:xfrm>
            <a:off x="3657600" y="2240280"/>
            <a:ext cx="2194560" cy="365760"/>
          </a:xfrm>
          <a:prstGeom prst="rect">
            <a:avLst/>
          </a:prstGeom>
          <a:noFill/>
          <a:ln/>
        </p:spPr>
        <p:txBody>
          <a:bodyPr wrap="square" lIns="0" tIns="0" rIns="0" bIns="0" rtlCol="0" anchor="t"/>
          <a:lstStyle/>
          <a:p>
            <a:pPr marL="0" indent="0">
              <a:buNone/>
            </a:pPr>
            <a:r>
              <a:rPr lang="en-US" sz="1600" dirty="0">
                <a:solidFill>
                  <a:schemeClr val="tx1"/>
                </a:solidFill>
              </a:rPr>
              <a:t>ML models compared</a:t>
            </a:r>
            <a:endParaRPr lang="en-US" sz="1600" dirty="0"/>
          </a:p>
        </p:txBody>
      </p:sp>
      <p:sp>
        <p:nvSpPr>
          <p:cNvPr id="10" name="Card"/>
          <p:cNvSpPr/>
          <p:nvPr/>
        </p:nvSpPr>
        <p:spPr>
          <a:xfrm>
            <a:off x="548640" y="3017520"/>
            <a:ext cx="2651760" cy="1417320"/>
          </a:xfrm>
          <a:prstGeom prst="roundRect">
            <a:avLst>
              <a:gd name="adj" fmla="val 7742"/>
            </a:avLst>
          </a:prstGeom>
          <a:solidFill>
            <a:schemeClr val="bg2"/>
          </a:solidFill>
          <a:ln/>
        </p:spPr>
        <p:txBody>
          <a:bodyPr/>
          <a:lstStyle/>
          <a:p>
            <a:endParaRPr lang="en-IN"/>
          </a:p>
        </p:txBody>
      </p:sp>
      <p:sp>
        <p:nvSpPr>
          <p:cNvPr id="11" name="Text 8"/>
          <p:cNvSpPr txBox="1"/>
          <p:nvPr/>
        </p:nvSpPr>
        <p:spPr>
          <a:xfrm>
            <a:off x="777240" y="3200400"/>
            <a:ext cx="219456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7</a:t>
            </a:r>
            <a:endParaRPr lang="en-US" sz="3600" dirty="0"/>
          </a:p>
        </p:txBody>
      </p:sp>
      <p:sp>
        <p:nvSpPr>
          <p:cNvPr id="12" name="Text 9"/>
          <p:cNvSpPr txBox="1"/>
          <p:nvPr/>
        </p:nvSpPr>
        <p:spPr>
          <a:xfrm>
            <a:off x="777240" y="3886200"/>
            <a:ext cx="2194560" cy="365760"/>
          </a:xfrm>
          <a:prstGeom prst="rect">
            <a:avLst/>
          </a:prstGeom>
          <a:noFill/>
          <a:ln/>
        </p:spPr>
        <p:txBody>
          <a:bodyPr wrap="square" lIns="0" tIns="0" rIns="0" bIns="0" rtlCol="0" anchor="t"/>
          <a:lstStyle/>
          <a:p>
            <a:pPr marL="0" indent="0">
              <a:buNone/>
            </a:pPr>
            <a:r>
              <a:rPr lang="en-US" sz="1600" dirty="0">
                <a:solidFill>
                  <a:schemeClr val="tx1"/>
                </a:solidFill>
              </a:rPr>
              <a:t>Preprocessing stages</a:t>
            </a:r>
            <a:endParaRPr lang="en-US" sz="1600" dirty="0"/>
          </a:p>
        </p:txBody>
      </p:sp>
      <p:sp>
        <p:nvSpPr>
          <p:cNvPr id="13" name="Card"/>
          <p:cNvSpPr/>
          <p:nvPr/>
        </p:nvSpPr>
        <p:spPr>
          <a:xfrm>
            <a:off x="3429000" y="3017520"/>
            <a:ext cx="2651760" cy="1417320"/>
          </a:xfrm>
          <a:prstGeom prst="roundRect">
            <a:avLst>
              <a:gd name="adj" fmla="val 7742"/>
            </a:avLst>
          </a:prstGeom>
          <a:solidFill>
            <a:schemeClr val="bg2"/>
          </a:solidFill>
          <a:ln/>
        </p:spPr>
        <p:txBody>
          <a:bodyPr/>
          <a:lstStyle/>
          <a:p>
            <a:endParaRPr lang="en-IN"/>
          </a:p>
        </p:txBody>
      </p:sp>
      <p:sp>
        <p:nvSpPr>
          <p:cNvPr id="14" name="Text 11"/>
          <p:cNvSpPr txBox="1"/>
          <p:nvPr/>
        </p:nvSpPr>
        <p:spPr>
          <a:xfrm>
            <a:off x="3657600" y="3200400"/>
            <a:ext cx="219456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5</a:t>
            </a:r>
            <a:endParaRPr lang="en-US" sz="3600" dirty="0"/>
          </a:p>
        </p:txBody>
      </p:sp>
      <p:sp>
        <p:nvSpPr>
          <p:cNvPr id="15" name="Text 12"/>
          <p:cNvSpPr txBox="1"/>
          <p:nvPr/>
        </p:nvSpPr>
        <p:spPr>
          <a:xfrm>
            <a:off x="3657600" y="3886200"/>
            <a:ext cx="2194560" cy="365760"/>
          </a:xfrm>
          <a:prstGeom prst="rect">
            <a:avLst/>
          </a:prstGeom>
          <a:noFill/>
          <a:ln/>
        </p:spPr>
        <p:txBody>
          <a:bodyPr wrap="square" lIns="0" tIns="0" rIns="0" bIns="0" rtlCol="0" anchor="t"/>
          <a:lstStyle/>
          <a:p>
            <a:pPr marL="0" indent="0">
              <a:buNone/>
            </a:pPr>
            <a:r>
              <a:rPr lang="en-US" sz="1600" dirty="0">
                <a:solidFill>
                  <a:schemeClr val="tx1"/>
                </a:solidFill>
              </a:rPr>
              <a:t>Evaluation metrics</a:t>
            </a:r>
            <a:endParaRPr lang="en-US" sz="1600" dirty="0"/>
          </a:p>
        </p:txBody>
      </p:sp>
      <p:sp>
        <p:nvSpPr>
          <p:cNvPr id="16" name="Text 13"/>
          <p:cNvSpPr txBox="1"/>
          <p:nvPr/>
        </p:nvSpPr>
        <p:spPr>
          <a:xfrm>
            <a:off x="548640" y="4754880"/>
            <a:ext cx="553212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Source: </a:t>
            </a:r>
            <a:r>
              <a:rPr lang="en-US" sz="1400" dirty="0">
                <a:solidFill>
                  <a:schemeClr val="tx1"/>
                </a:solidFill>
              </a:rPr>
              <a:t>NFHS, hospital admission or disease-specific public datasets</a:t>
            </a:r>
            <a:endParaRPr lang="en-US" sz="1400" dirty="0"/>
          </a:p>
          <a:p>
            <a:pPr marL="342900" indent="-342900">
              <a:spcAft>
                <a:spcPts val="600"/>
              </a:spcAft>
              <a:buSzPct val="100000"/>
              <a:buChar char="•"/>
            </a:pPr>
            <a:r>
              <a:rPr lang="en-US" sz="1400" dirty="0">
                <a:solidFill>
                  <a:schemeClr val="tx1"/>
                </a:solidFill>
              </a:rPr>
              <a:t>Features: </a:t>
            </a:r>
            <a:r>
              <a:rPr lang="en-US" sz="1400" dirty="0">
                <a:solidFill>
                  <a:schemeClr val="tx1"/>
                </a:solidFill>
              </a:rPr>
              <a:t>demographic and health indicators; target is the health-risk class</a:t>
            </a:r>
            <a:endParaRPr lang="en-US" sz="1400" dirty="0"/>
          </a:p>
          <a:p>
            <a:pPr marL="342900" indent="-342900">
              <a:spcAft>
                <a:spcPts val="600"/>
              </a:spcAft>
              <a:buSzPct val="100000"/>
              <a:buChar char="•"/>
            </a:pPr>
            <a:r>
              <a:rPr lang="en-US" sz="1400" dirty="0">
                <a:solidFill>
                  <a:schemeClr val="tx1"/>
                </a:solidFill>
              </a:rPr>
              <a:t>Quality: </a:t>
            </a:r>
            <a:r>
              <a:rPr lang="en-US" sz="1400" dirty="0">
                <a:solidFill>
                  <a:schemeClr val="tx1"/>
                </a:solidFill>
              </a:rPr>
              <a:t>missing values, duplicates and outliers checked and treated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
        <p:nvSpPr>
          <p:cNvPr id="26" name="Card"/>
          <p:cNvSpPr/>
          <p:nvPr/>
        </p:nvSpPr>
        <p:spPr>
          <a:xfrm>
            <a:off x="6400800" y="1371600"/>
            <a:ext cx="5239512" cy="4754880"/>
          </a:xfrm>
          <a:prstGeom prst="roundRect">
            <a:avLst>
              <a:gd name="adj" fmla="val 6000"/>
            </a:avLst>
          </a:prstGeom>
          <a:solidFill>
            <a:schemeClr val="bg2"/>
          </a:solidFill>
          <a:ln>
            <a:noFill/>
          </a:ln>
        </p:spPr>
        <p:txBody>
          <a:bodyPr rtlCol="0" anchor="ctr"/>
          <a:lstStyle/>
          <a:p>
            <a:pPr algn="ctr"/>
          </a:p>
        </p:txBody>
      </p:sp>
      <p:sp>
        <p:nvSpPr>
          <p:cNvPr id="27" name="Text"/>
          <p:cNvSpPr txBox="1"/>
          <p:nvPr/>
        </p:nvSpPr>
        <p:spPr>
          <a:xfrm>
            <a:off x="6675120" y="1554480"/>
            <a:ext cx="4690872" cy="400000"/>
          </a:xfrm>
          <a:prstGeom prst="rect">
            <a:avLst/>
          </a:prstGeom>
          <a:noFill/>
        </p:spPr>
        <p:txBody>
          <a:bodyPr wrap="square" lIns="0" rIns="0" tIns="0" bIns="0" anchor="ctr">
            <a:spAutoFit/>
          </a:bodyPr>
          <a:lstStyle/>
          <a:p>
            <a:pPr>
              <a:spcAft>
                <a:spcPts val="400"/>
              </a:spcAft>
            </a:pPr>
            <a:r>
              <a:rPr sz="1800" b="1">
                <a:solidFill>
                  <a:schemeClr val="tx2"/>
                </a:solidFill>
              </a:rPr>
              <a:t>Candidate Data Sources</a:t>
            </a:r>
          </a:p>
        </p:txBody>
      </p:sp>
      <p:sp>
        <p:nvSpPr>
          <p:cNvPr id="28" name="Source card"/>
          <p:cNvSpPr/>
          <p:nvPr/>
        </p:nvSpPr>
        <p:spPr>
          <a:xfrm>
            <a:off x="6629400" y="2148840"/>
            <a:ext cx="4782312" cy="1143000"/>
          </a:xfrm>
          <a:prstGeom prst="roundRect">
            <a:avLst>
              <a:gd name="adj" fmla="val 6000"/>
            </a:avLst>
          </a:prstGeom>
          <a:solidFill>
            <a:schemeClr val="bg1"/>
          </a:solidFill>
          <a:ln>
            <a:noFill/>
          </a:ln>
        </p:spPr>
        <p:txBody>
          <a:bodyPr rtlCol="0" anchor="ctr"/>
          <a:lstStyle/>
          <a:p>
            <a:pPr algn="ctr"/>
          </a:p>
        </p:txBody>
      </p:sp>
      <p:sp>
        <p:nvSpPr>
          <p:cNvPr id="29" name="Number badge"/>
          <p:cNvSpPr/>
          <p:nvPr/>
        </p:nvSpPr>
        <p:spPr>
          <a:xfrm>
            <a:off x="6812280" y="2468880"/>
            <a:ext cx="502920" cy="502920"/>
          </a:xfrm>
          <a:prstGeom prst="ellipse">
            <a:avLst/>
          </a:prstGeom>
          <a:solidFill>
            <a:schemeClr val="accent1"/>
          </a:solidFill>
          <a:ln>
            <a:noFill/>
          </a:ln>
        </p:spPr>
        <p:txBody>
          <a:bodyPr rtlCol="0" anchor="ctr" lIns="0" rIns="0" tIns="0" bIns="0"/>
          <a:lstStyle/>
          <a:p>
            <a:pPr algn="ctr"/>
            <a:r>
              <a:rPr sz="1400" b="1">
                <a:solidFill>
                  <a:schemeClr val="bg1"/>
                </a:solidFill>
              </a:rPr>
              <a:t>1</a:t>
            </a:r>
          </a:p>
        </p:txBody>
      </p:sp>
      <p:sp>
        <p:nvSpPr>
          <p:cNvPr id="30" name="Text"/>
          <p:cNvSpPr txBox="1"/>
          <p:nvPr/>
        </p:nvSpPr>
        <p:spPr>
          <a:xfrm>
            <a:off x="7498080" y="2240280"/>
            <a:ext cx="3730752" cy="960120"/>
          </a:xfrm>
          <a:prstGeom prst="rect">
            <a:avLst/>
          </a:prstGeom>
          <a:noFill/>
        </p:spPr>
        <p:txBody>
          <a:bodyPr wrap="square" lIns="0" rIns="0" tIns="0" bIns="0" anchor="ctr">
            <a:spAutoFit/>
          </a:bodyPr>
          <a:lstStyle/>
          <a:p>
            <a:pPr>
              <a:spcAft>
                <a:spcPts val="200"/>
              </a:spcAft>
            </a:pPr>
            <a:r>
              <a:rPr sz="1300" b="1">
                <a:solidFill>
                  <a:schemeClr val="tx1"/>
                </a:solidFill>
              </a:rPr>
              <a:t>National Family Health Survey (NFHS)</a:t>
            </a:r>
          </a:p>
          <a:p>
            <a:pPr>
              <a:spcAft>
                <a:spcPts val="200"/>
              </a:spcAft>
            </a:pPr>
            <a:r>
              <a:rPr sz="1300" b="0">
                <a:solidFill>
                  <a:schemeClr val="tx1"/>
                </a:solidFill>
              </a:rPr>
              <a:t>Demographic, household and health indicators across regions</a:t>
            </a:r>
          </a:p>
        </p:txBody>
      </p:sp>
      <p:sp>
        <p:nvSpPr>
          <p:cNvPr id="31" name="Source card"/>
          <p:cNvSpPr/>
          <p:nvPr/>
        </p:nvSpPr>
        <p:spPr>
          <a:xfrm>
            <a:off x="6629400" y="3429000"/>
            <a:ext cx="4782312" cy="1143000"/>
          </a:xfrm>
          <a:prstGeom prst="roundRect">
            <a:avLst>
              <a:gd name="adj" fmla="val 6000"/>
            </a:avLst>
          </a:prstGeom>
          <a:solidFill>
            <a:schemeClr val="bg1"/>
          </a:solidFill>
          <a:ln>
            <a:noFill/>
          </a:ln>
        </p:spPr>
        <p:txBody>
          <a:bodyPr rtlCol="0" anchor="ctr"/>
          <a:lstStyle/>
          <a:p>
            <a:pPr algn="ctr"/>
          </a:p>
        </p:txBody>
      </p:sp>
      <p:sp>
        <p:nvSpPr>
          <p:cNvPr id="32" name="Number badge"/>
          <p:cNvSpPr/>
          <p:nvPr/>
        </p:nvSpPr>
        <p:spPr>
          <a:xfrm>
            <a:off x="6812280" y="3749040"/>
            <a:ext cx="502920" cy="502920"/>
          </a:xfrm>
          <a:prstGeom prst="ellipse">
            <a:avLst/>
          </a:prstGeom>
          <a:solidFill>
            <a:schemeClr val="accent1"/>
          </a:solidFill>
          <a:ln>
            <a:noFill/>
          </a:ln>
        </p:spPr>
        <p:txBody>
          <a:bodyPr rtlCol="0" anchor="ctr" lIns="0" rIns="0" tIns="0" bIns="0"/>
          <a:lstStyle/>
          <a:p>
            <a:pPr algn="ctr"/>
            <a:r>
              <a:rPr sz="1400" b="1">
                <a:solidFill>
                  <a:schemeClr val="bg1"/>
                </a:solidFill>
              </a:rPr>
              <a:t>2</a:t>
            </a:r>
          </a:p>
        </p:txBody>
      </p:sp>
      <p:sp>
        <p:nvSpPr>
          <p:cNvPr id="33" name="Text"/>
          <p:cNvSpPr txBox="1"/>
          <p:nvPr/>
        </p:nvSpPr>
        <p:spPr>
          <a:xfrm>
            <a:off x="7498080" y="3520440"/>
            <a:ext cx="3730752" cy="960120"/>
          </a:xfrm>
          <a:prstGeom prst="rect">
            <a:avLst/>
          </a:prstGeom>
          <a:noFill/>
        </p:spPr>
        <p:txBody>
          <a:bodyPr wrap="square" lIns="0" rIns="0" tIns="0" bIns="0" anchor="ctr">
            <a:spAutoFit/>
          </a:bodyPr>
          <a:lstStyle/>
          <a:p>
            <a:pPr>
              <a:spcAft>
                <a:spcPts val="200"/>
              </a:spcAft>
            </a:pPr>
            <a:r>
              <a:rPr sz="1300" b="1">
                <a:solidFill>
                  <a:schemeClr val="tx1"/>
                </a:solidFill>
              </a:rPr>
              <a:t>Hospital admission datasets</a:t>
            </a:r>
          </a:p>
          <a:p>
            <a:pPr>
              <a:spcAft>
                <a:spcPts val="200"/>
              </a:spcAft>
            </a:pPr>
            <a:r>
              <a:rPr sz="1300" b="0">
                <a:solidFill>
                  <a:schemeClr val="tx1"/>
                </a:solidFill>
              </a:rPr>
              <a:t>Admission records, diagnoses and patient demographics</a:t>
            </a:r>
          </a:p>
        </p:txBody>
      </p:sp>
      <p:sp>
        <p:nvSpPr>
          <p:cNvPr id="34" name="Source card"/>
          <p:cNvSpPr/>
          <p:nvPr/>
        </p:nvSpPr>
        <p:spPr>
          <a:xfrm>
            <a:off x="6629400" y="4709160"/>
            <a:ext cx="4782312" cy="1143000"/>
          </a:xfrm>
          <a:prstGeom prst="roundRect">
            <a:avLst>
              <a:gd name="adj" fmla="val 6000"/>
            </a:avLst>
          </a:prstGeom>
          <a:solidFill>
            <a:schemeClr val="bg1"/>
          </a:solidFill>
          <a:ln>
            <a:noFill/>
          </a:ln>
        </p:spPr>
        <p:txBody>
          <a:bodyPr rtlCol="0" anchor="ctr"/>
          <a:lstStyle/>
          <a:p>
            <a:pPr algn="ctr"/>
          </a:p>
        </p:txBody>
      </p:sp>
      <p:sp>
        <p:nvSpPr>
          <p:cNvPr id="35" name="Number badge"/>
          <p:cNvSpPr/>
          <p:nvPr/>
        </p:nvSpPr>
        <p:spPr>
          <a:xfrm>
            <a:off x="6812280" y="5029200"/>
            <a:ext cx="502920" cy="502920"/>
          </a:xfrm>
          <a:prstGeom prst="ellipse">
            <a:avLst/>
          </a:prstGeom>
          <a:solidFill>
            <a:schemeClr val="accent1"/>
          </a:solidFill>
          <a:ln>
            <a:noFill/>
          </a:ln>
        </p:spPr>
        <p:txBody>
          <a:bodyPr rtlCol="0" anchor="ctr" lIns="0" rIns="0" tIns="0" bIns="0"/>
          <a:lstStyle/>
          <a:p>
            <a:pPr algn="ctr"/>
            <a:r>
              <a:rPr sz="1400" b="1">
                <a:solidFill>
                  <a:schemeClr val="bg1"/>
                </a:solidFill>
              </a:rPr>
              <a:t>3</a:t>
            </a:r>
          </a:p>
        </p:txBody>
      </p:sp>
      <p:sp>
        <p:nvSpPr>
          <p:cNvPr id="36" name="Text"/>
          <p:cNvSpPr txBox="1"/>
          <p:nvPr/>
        </p:nvSpPr>
        <p:spPr>
          <a:xfrm>
            <a:off x="7498080" y="4800600"/>
            <a:ext cx="3730752" cy="960120"/>
          </a:xfrm>
          <a:prstGeom prst="rect">
            <a:avLst/>
          </a:prstGeom>
          <a:noFill/>
        </p:spPr>
        <p:txBody>
          <a:bodyPr wrap="square" lIns="0" rIns="0" tIns="0" bIns="0" anchor="ctr">
            <a:spAutoFit/>
          </a:bodyPr>
          <a:lstStyle/>
          <a:p>
            <a:pPr>
              <a:spcAft>
                <a:spcPts val="200"/>
              </a:spcAft>
            </a:pPr>
            <a:r>
              <a:rPr sz="1300" b="1">
                <a:solidFill>
                  <a:schemeClr val="tx1"/>
                </a:solidFill>
              </a:rPr>
              <a:t>Disease-specific datasets</a:t>
            </a:r>
          </a:p>
          <a:p>
            <a:pPr>
              <a:spcAft>
                <a:spcPts val="200"/>
              </a:spcAft>
            </a:pPr>
            <a:r>
              <a:rPr sz="1300" b="0">
                <a:solidFill>
                  <a:schemeClr val="tx1"/>
                </a:solidFill>
              </a:rPr>
              <a:t>Clinical risk factors and outcome labels for one disease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Data Preprocessing &amp; Exploratory Analysis</a:t>
            </a:r>
            <a:endParaRPr lang="en-US" sz="3200" dirty="0"/>
          </a:p>
        </p:txBody>
      </p:sp>
      <p:sp>
        <p:nvSpPr>
          <p:cNvPr id="6" name="Card"/>
          <p:cNvSpPr/>
          <p:nvPr/>
        </p:nvSpPr>
        <p:spPr>
          <a:xfrm>
            <a:off x="548640" y="4434840"/>
            <a:ext cx="3520440" cy="1737360"/>
          </a:xfrm>
          <a:prstGeom prst="roundRect">
            <a:avLst>
              <a:gd name="adj" fmla="val 6316"/>
            </a:avLst>
          </a:prstGeom>
          <a:solidFill>
            <a:schemeClr val="bg2"/>
          </a:solidFill>
          <a:ln/>
        </p:spPr>
        <p:txBody>
          <a:bodyPr/>
          <a:lstStyle/>
          <a:p>
            <a:endParaRPr lang="en-IN"/>
          </a:p>
        </p:txBody>
      </p:sp>
      <p:sp>
        <p:nvSpPr>
          <p:cNvPr id="7" name="Icon badge"/>
          <p:cNvSpPr/>
          <p:nvPr/>
        </p:nvSpPr>
        <p:spPr>
          <a:xfrm>
            <a:off x="822960" y="4617720"/>
            <a:ext cx="502920" cy="502920"/>
          </a:xfrm>
          <a:prstGeom prst="ellipse">
            <a:avLst/>
          </a:prstGeom>
          <a:solidFill>
            <a:schemeClr val="accent1"/>
          </a:solidFill>
          <a:ln/>
        </p:spPr>
        <p:txBody>
          <a:bodyPr/>
          <a:lstStyle/>
          <a:p>
            <a:endParaRPr lang="en-IN"/>
          </a:p>
        </p:txBody>
      </p:sp>
      <p:sp>
        <p:nvSpPr>
          <p:cNvPr id="9" name="Text 5"/>
          <p:cNvSpPr txBox="1"/>
          <p:nvPr/>
        </p:nvSpPr>
        <p:spPr>
          <a:xfrm>
            <a:off x="1508760" y="461772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Cleaning</a:t>
            </a:r>
            <a:endParaRPr lang="en-US" sz="1800" dirty="0"/>
          </a:p>
        </p:txBody>
      </p:sp>
      <p:sp>
        <p:nvSpPr>
          <p:cNvPr id="10" name="Text 6"/>
          <p:cNvSpPr txBox="1"/>
          <p:nvPr/>
        </p:nvSpPr>
        <p:spPr>
          <a:xfrm>
            <a:off x="822960" y="5303520"/>
            <a:ext cx="2971800" cy="731520"/>
          </a:xfrm>
          <a:prstGeom prst="rect">
            <a:avLst/>
          </a:prstGeom>
          <a:noFill/>
          <a:ln/>
        </p:spPr>
        <p:txBody>
          <a:bodyPr wrap="square" lIns="0" tIns="0" rIns="0" bIns="0" rtlCol="0" anchor="t"/>
          <a:lstStyle/>
          <a:p>
            <a:pPr marL="0" indent="0">
              <a:buNone/>
            </a:pPr>
            <a:r>
              <a:rPr lang="en-US" sz="1400" dirty="0">
                <a:solidFill>
                  <a:schemeClr val="tx1"/>
                </a:solidFill>
              </a:rPr>
              <a:t>Missing-value handling, duplicate removal and outlier treatment.</a:t>
            </a:r>
            <a:endParaRPr lang="en-US" sz="1400" dirty="0"/>
          </a:p>
        </p:txBody>
      </p:sp>
      <p:sp>
        <p:nvSpPr>
          <p:cNvPr id="11" name="Card"/>
          <p:cNvSpPr/>
          <p:nvPr/>
        </p:nvSpPr>
        <p:spPr>
          <a:xfrm>
            <a:off x="4334256" y="4434840"/>
            <a:ext cx="3520440" cy="1737360"/>
          </a:xfrm>
          <a:prstGeom prst="roundRect">
            <a:avLst>
              <a:gd name="adj" fmla="val 6316"/>
            </a:avLst>
          </a:prstGeom>
          <a:solidFill>
            <a:schemeClr val="bg2"/>
          </a:solidFill>
          <a:ln/>
        </p:spPr>
        <p:txBody>
          <a:bodyPr/>
          <a:lstStyle/>
          <a:p>
            <a:endParaRPr lang="en-IN"/>
          </a:p>
        </p:txBody>
      </p:sp>
      <p:sp>
        <p:nvSpPr>
          <p:cNvPr id="12" name="Icon badge"/>
          <p:cNvSpPr/>
          <p:nvPr/>
        </p:nvSpPr>
        <p:spPr>
          <a:xfrm>
            <a:off x="4608576" y="4617720"/>
            <a:ext cx="502920" cy="502920"/>
          </a:xfrm>
          <a:prstGeom prst="ellipse">
            <a:avLst/>
          </a:prstGeom>
          <a:solidFill>
            <a:schemeClr val="accent1"/>
          </a:solidFill>
          <a:ln/>
        </p:spPr>
        <p:txBody>
          <a:bodyPr/>
          <a:lstStyle/>
          <a:p>
            <a:endParaRPr lang="en-IN"/>
          </a:p>
        </p:txBody>
      </p:sp>
      <p:sp>
        <p:nvSpPr>
          <p:cNvPr id="14" name="Text 9"/>
          <p:cNvSpPr txBox="1"/>
          <p:nvPr/>
        </p:nvSpPr>
        <p:spPr>
          <a:xfrm>
            <a:off x="5294376" y="461772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Transformation</a:t>
            </a:r>
            <a:endParaRPr lang="en-US" sz="1800" dirty="0"/>
          </a:p>
        </p:txBody>
      </p:sp>
      <p:sp>
        <p:nvSpPr>
          <p:cNvPr id="15" name="Text 10"/>
          <p:cNvSpPr txBox="1"/>
          <p:nvPr/>
        </p:nvSpPr>
        <p:spPr>
          <a:xfrm>
            <a:off x="4608576" y="5303520"/>
            <a:ext cx="2971800" cy="731520"/>
          </a:xfrm>
          <a:prstGeom prst="rect">
            <a:avLst/>
          </a:prstGeom>
          <a:noFill/>
          <a:ln/>
        </p:spPr>
        <p:txBody>
          <a:bodyPr wrap="square" lIns="0" tIns="0" rIns="0" bIns="0" rtlCol="0" anchor="t"/>
          <a:lstStyle/>
          <a:p>
            <a:pPr marL="0" indent="0">
              <a:buNone/>
            </a:pPr>
            <a:r>
              <a:rPr lang="en-US" sz="1400" dirty="0">
                <a:solidFill>
                  <a:schemeClr val="tx1"/>
                </a:solidFill>
              </a:rPr>
              <a:t>Encoding of categorical fields, scaling and normalisation.</a:t>
            </a:r>
            <a:endParaRPr lang="en-US" sz="1400" dirty="0"/>
          </a:p>
        </p:txBody>
      </p:sp>
      <p:sp>
        <p:nvSpPr>
          <p:cNvPr id="16" name="Card"/>
          <p:cNvSpPr/>
          <p:nvPr/>
        </p:nvSpPr>
        <p:spPr>
          <a:xfrm>
            <a:off x="8119872" y="4434840"/>
            <a:ext cx="3520440" cy="1737360"/>
          </a:xfrm>
          <a:prstGeom prst="roundRect">
            <a:avLst>
              <a:gd name="adj" fmla="val 6316"/>
            </a:avLst>
          </a:prstGeom>
          <a:solidFill>
            <a:schemeClr val="bg2"/>
          </a:solidFill>
          <a:ln/>
        </p:spPr>
        <p:txBody>
          <a:bodyPr/>
          <a:lstStyle/>
          <a:p>
            <a:endParaRPr lang="en-IN"/>
          </a:p>
        </p:txBody>
      </p:sp>
      <p:sp>
        <p:nvSpPr>
          <p:cNvPr id="17" name="Icon badge"/>
          <p:cNvSpPr/>
          <p:nvPr/>
        </p:nvSpPr>
        <p:spPr>
          <a:xfrm>
            <a:off x="8394192" y="4617720"/>
            <a:ext cx="502920" cy="502920"/>
          </a:xfrm>
          <a:prstGeom prst="ellipse">
            <a:avLst/>
          </a:prstGeom>
          <a:solidFill>
            <a:schemeClr val="accent1"/>
          </a:solidFill>
          <a:ln/>
        </p:spPr>
        <p:txBody>
          <a:bodyPr/>
          <a:lstStyle/>
          <a:p>
            <a:endParaRPr lang="en-IN"/>
          </a:p>
        </p:txBody>
      </p:sp>
      <p:sp>
        <p:nvSpPr>
          <p:cNvPr id="19" name="Text 13"/>
          <p:cNvSpPr txBox="1"/>
          <p:nvPr/>
        </p:nvSpPr>
        <p:spPr>
          <a:xfrm>
            <a:off x="9079992" y="461772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Feature Selection</a:t>
            </a:r>
            <a:endParaRPr lang="en-US" sz="1800" dirty="0"/>
          </a:p>
        </p:txBody>
      </p:sp>
      <p:sp>
        <p:nvSpPr>
          <p:cNvPr id="20" name="Text 14"/>
          <p:cNvSpPr txBox="1"/>
          <p:nvPr/>
        </p:nvSpPr>
        <p:spPr>
          <a:xfrm>
            <a:off x="8394192" y="5303520"/>
            <a:ext cx="2971800" cy="731520"/>
          </a:xfrm>
          <a:prstGeom prst="rect">
            <a:avLst/>
          </a:prstGeom>
          <a:noFill/>
          <a:ln/>
        </p:spPr>
        <p:txBody>
          <a:bodyPr wrap="square" lIns="0" tIns="0" rIns="0" bIns="0" rtlCol="0" anchor="t"/>
          <a:lstStyle/>
          <a:p>
            <a:pPr marL="0" indent="0">
              <a:buNone/>
            </a:pPr>
            <a:r>
              <a:rPr lang="en-US" sz="1400" dirty="0">
                <a:solidFill>
                  <a:schemeClr val="tx1"/>
                </a:solidFill>
              </a:rPr>
              <a:t>Feature engineering and selection of the most informative risk indicators.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
        <p:nvSpPr>
          <p:cNvPr id="26" name="Card"/>
          <p:cNvSpPr/>
          <p:nvPr/>
        </p:nvSpPr>
        <p:spPr>
          <a:xfrm>
            <a:off x="548640" y="1371600"/>
            <a:ext cx="5431536" cy="2834640"/>
          </a:xfrm>
          <a:prstGeom prst="roundRect">
            <a:avLst>
              <a:gd name="adj" fmla="val 6000"/>
            </a:avLst>
          </a:prstGeom>
          <a:solidFill>
            <a:schemeClr val="bg2"/>
          </a:solidFill>
          <a:ln>
            <a:noFill/>
          </a:ln>
        </p:spPr>
        <p:txBody>
          <a:bodyPr rtlCol="0" anchor="ctr"/>
          <a:lstStyle/>
          <a:p>
            <a:pPr algn="ctr"/>
          </a:p>
        </p:txBody>
      </p:sp>
      <p:sp>
        <p:nvSpPr>
          <p:cNvPr id="27" name="Text"/>
          <p:cNvSpPr txBox="1"/>
          <p:nvPr/>
        </p:nvSpPr>
        <p:spPr>
          <a:xfrm>
            <a:off x="822960" y="1554480"/>
            <a:ext cx="4800000" cy="400000"/>
          </a:xfrm>
          <a:prstGeom prst="rect">
            <a:avLst/>
          </a:prstGeom>
          <a:noFill/>
        </p:spPr>
        <p:txBody>
          <a:bodyPr wrap="square" lIns="0" rIns="0" tIns="0" bIns="0" anchor="ctr">
            <a:spAutoFit/>
          </a:bodyPr>
          <a:lstStyle/>
          <a:p>
            <a:pPr>
              <a:spcAft>
                <a:spcPts val="400"/>
              </a:spcAft>
            </a:pPr>
            <a:r>
              <a:rPr sz="1800" b="1">
                <a:solidFill>
                  <a:schemeClr val="tx2"/>
                </a:solidFill>
              </a:rPr>
              <a:t>Exploratory Data Analysis</a:t>
            </a:r>
          </a:p>
        </p:txBody>
      </p:sp>
      <p:sp>
        <p:nvSpPr>
          <p:cNvPr id="28" name="Text"/>
          <p:cNvSpPr txBox="1"/>
          <p:nvPr/>
        </p:nvSpPr>
        <p:spPr>
          <a:xfrm>
            <a:off x="822960" y="2148840"/>
            <a:ext cx="4880000" cy="1900000"/>
          </a:xfrm>
          <a:prstGeom prst="rect">
            <a:avLst/>
          </a:prstGeom>
          <a:noFill/>
        </p:spPr>
        <p:txBody>
          <a:bodyPr wrap="square" lIns="0" rIns="0" tIns="0" bIns="0" anchor="t">
            <a:spAutoFit/>
          </a:bodyPr>
          <a:lstStyle/>
          <a:p>
            <a:pPr marL="228600" indent="-228600">
              <a:spcAft>
                <a:spcPts val="800"/>
              </a:spcAft>
              <a:buChar char="•"/>
            </a:pPr>
            <a:r>
              <a:rPr sz="1400" b="0">
                <a:solidFill>
                  <a:schemeClr val="tx1"/>
                </a:solidFill>
              </a:rPr>
              <a:t>Distributions and summary statistics</a:t>
            </a:r>
          </a:p>
          <a:p>
            <a:pPr marL="228600" indent="-228600">
              <a:spcAft>
                <a:spcPts val="800"/>
              </a:spcAft>
              <a:buChar char="•"/>
            </a:pPr>
            <a:r>
              <a:rPr sz="1400" b="0">
                <a:solidFill>
                  <a:schemeClr val="tx1"/>
                </a:solidFill>
              </a:rPr>
              <a:t>Correlation heatmap of health indicators</a:t>
            </a:r>
          </a:p>
          <a:p>
            <a:pPr marL="228600" indent="-228600">
              <a:spcAft>
                <a:spcPts val="800"/>
              </a:spcAft>
              <a:buChar char="•"/>
            </a:pPr>
            <a:r>
              <a:rPr sz="1400" b="0">
                <a:solidFill>
                  <a:schemeClr val="tx1"/>
                </a:solidFill>
              </a:rPr>
              <a:t>Outlier box-plots</a:t>
            </a:r>
          </a:p>
          <a:p>
            <a:pPr marL="228600" indent="-228600">
              <a:spcAft>
                <a:spcPts val="800"/>
              </a:spcAft>
              <a:buChar char="•"/>
            </a:pPr>
            <a:r>
              <a:rPr sz="1400" b="0">
                <a:solidFill>
                  <a:schemeClr val="tx1"/>
                </a:solidFill>
              </a:rPr>
              <a:t>Demographic and regional trend plots</a:t>
            </a:r>
          </a:p>
        </p:txBody>
      </p:sp>
      <p:sp>
        <p:nvSpPr>
          <p:cNvPr id="29" name="Card"/>
          <p:cNvSpPr/>
          <p:nvPr/>
        </p:nvSpPr>
        <p:spPr>
          <a:xfrm>
            <a:off x="6208776" y="1371600"/>
            <a:ext cx="5431536" cy="2834640"/>
          </a:xfrm>
          <a:prstGeom prst="roundRect">
            <a:avLst>
              <a:gd name="adj" fmla="val 6000"/>
            </a:avLst>
          </a:prstGeom>
          <a:solidFill>
            <a:schemeClr val="bg2"/>
          </a:solidFill>
          <a:ln>
            <a:noFill/>
          </a:ln>
        </p:spPr>
        <p:txBody>
          <a:bodyPr rtlCol="0" anchor="ctr"/>
          <a:lstStyle/>
          <a:p>
            <a:pPr algn="ctr"/>
          </a:p>
        </p:txBody>
      </p:sp>
      <p:sp>
        <p:nvSpPr>
          <p:cNvPr id="30" name="Text"/>
          <p:cNvSpPr txBox="1"/>
          <p:nvPr/>
        </p:nvSpPr>
        <p:spPr>
          <a:xfrm>
            <a:off x="6483096" y="1554480"/>
            <a:ext cx="4800000" cy="400000"/>
          </a:xfrm>
          <a:prstGeom prst="rect">
            <a:avLst/>
          </a:prstGeom>
          <a:noFill/>
        </p:spPr>
        <p:txBody>
          <a:bodyPr wrap="square" lIns="0" rIns="0" tIns="0" bIns="0" anchor="ctr">
            <a:spAutoFit/>
          </a:bodyPr>
          <a:lstStyle/>
          <a:p>
            <a:pPr>
              <a:spcAft>
                <a:spcPts val="400"/>
              </a:spcAft>
            </a:pPr>
            <a:r>
              <a:rPr sz="1800" b="1">
                <a:solidFill>
                  <a:schemeClr val="tx2"/>
                </a:solidFill>
              </a:rPr>
              <a:t>Data Quality Checks</a:t>
            </a:r>
          </a:p>
        </p:txBody>
      </p:sp>
      <p:sp>
        <p:nvSpPr>
          <p:cNvPr id="31" name="Text"/>
          <p:cNvSpPr txBox="1"/>
          <p:nvPr/>
        </p:nvSpPr>
        <p:spPr>
          <a:xfrm>
            <a:off x="6483096" y="2148840"/>
            <a:ext cx="4880000" cy="1900000"/>
          </a:xfrm>
          <a:prstGeom prst="rect">
            <a:avLst/>
          </a:prstGeom>
          <a:noFill/>
        </p:spPr>
        <p:txBody>
          <a:bodyPr wrap="square" lIns="0" rIns="0" tIns="0" bIns="0" anchor="t">
            <a:spAutoFit/>
          </a:bodyPr>
          <a:lstStyle/>
          <a:p>
            <a:pPr marL="228600" indent="-228600">
              <a:spcAft>
                <a:spcPts val="800"/>
              </a:spcAft>
              <a:buChar char="•"/>
            </a:pPr>
            <a:r>
              <a:rPr sz="1400" b="0">
                <a:solidFill>
                  <a:schemeClr val="tx1"/>
                </a:solidFill>
              </a:rPr>
              <a:t>Missing-value profile per feature</a:t>
            </a:r>
          </a:p>
          <a:p>
            <a:pPr marL="228600" indent="-228600">
              <a:spcAft>
                <a:spcPts val="800"/>
              </a:spcAft>
              <a:buChar char="•"/>
            </a:pPr>
            <a:r>
              <a:rPr sz="1400" b="0">
                <a:solidFill>
                  <a:schemeClr val="tx1"/>
                </a:solidFill>
              </a:rPr>
              <a:t>Duplicate record detection</a:t>
            </a:r>
          </a:p>
          <a:p>
            <a:pPr marL="228600" indent="-228600">
              <a:spcAft>
                <a:spcPts val="800"/>
              </a:spcAft>
              <a:buChar char="•"/>
            </a:pPr>
            <a:r>
              <a:rPr sz="1400" b="0">
                <a:solidFill>
                  <a:schemeClr val="tx1"/>
                </a:solidFill>
              </a:rPr>
              <a:t>Outlier detection and treatment</a:t>
            </a:r>
          </a:p>
          <a:p>
            <a:pPr marL="228600" indent="-228600">
              <a:spcAft>
                <a:spcPts val="800"/>
              </a:spcAft>
              <a:buChar char="•"/>
            </a:pPr>
            <a:r>
              <a:rPr sz="1400" b="0">
                <a:solidFill>
                  <a:schemeClr val="tx1"/>
                </a:solidFill>
              </a:rPr>
              <a:t>Target class balance check</a:t>
            </a:r>
          </a:p>
        </p:txBody>
      </p:sp>
      <p:pic>
        <p:nvPicPr>
          <p:cNvPr id="8" name="Image 0" descr="Broom icon"/>
          <p:cNvPicPr>
            <a:picLocks noChangeAspect="1"/>
          </p:cNvPicPr>
          <p:nvPr/>
        </p:nvPicPr>
        <p:blipFill>
          <a:blip r:embed="rId3"/>
          <a:stretch>
            <a:fillRect/>
          </a:stretch>
        </p:blipFill>
        <p:spPr>
          <a:xfrm>
            <a:off x="933602" y="4728362"/>
            <a:ext cx="281635" cy="281635"/>
          </a:xfrm>
          <a:prstGeom prst="rect">
            <a:avLst/>
          </a:prstGeom>
        </p:spPr>
      </p:pic>
      <p:pic>
        <p:nvPicPr>
          <p:cNvPr id="13" name="Image 1" descr="SyncAlt icon"/>
          <p:cNvPicPr>
            <a:picLocks noChangeAspect="1"/>
          </p:cNvPicPr>
          <p:nvPr/>
        </p:nvPicPr>
        <p:blipFill>
          <a:blip r:embed="rId4"/>
          <a:stretch>
            <a:fillRect/>
          </a:stretch>
        </p:blipFill>
        <p:spPr>
          <a:xfrm>
            <a:off x="4719218" y="4728362"/>
            <a:ext cx="281635" cy="281635"/>
          </a:xfrm>
          <a:prstGeom prst="rect">
            <a:avLst/>
          </a:prstGeom>
        </p:spPr>
      </p:pic>
      <p:pic>
        <p:nvPicPr>
          <p:cNvPr id="18" name="Image 2" descr="Filter icon"/>
          <p:cNvPicPr>
            <a:picLocks noChangeAspect="1"/>
          </p:cNvPicPr>
          <p:nvPr/>
        </p:nvPicPr>
        <p:blipFill>
          <a:blip r:embed="rId5"/>
          <a:stretch>
            <a:fillRect/>
          </a:stretch>
        </p:blipFill>
        <p:spPr>
          <a:xfrm>
            <a:off x="8504834" y="4728362"/>
            <a:ext cx="281635" cy="2816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Module-wise Description</a:t>
            </a:r>
            <a:endParaRPr lang="en-US" sz="3200" dirty="0"/>
          </a:p>
        </p:txBody>
      </p:sp>
      <p:sp>
        <p:nvSpPr>
          <p:cNvPr id="4" name="Card"/>
          <p:cNvSpPr/>
          <p:nvPr/>
        </p:nvSpPr>
        <p:spPr>
          <a:xfrm>
            <a:off x="548640" y="1371600"/>
            <a:ext cx="5431536" cy="2240280"/>
          </a:xfrm>
          <a:prstGeom prst="roundRect">
            <a:avLst>
              <a:gd name="adj" fmla="val 4898"/>
            </a:avLst>
          </a:prstGeom>
          <a:solidFill>
            <a:schemeClr val="bg2"/>
          </a:solidFill>
          <a:ln/>
        </p:spPr>
        <p:txBody>
          <a:bodyPr/>
          <a:lstStyle/>
          <a:p>
            <a:endParaRPr lang="en-IN"/>
          </a:p>
        </p:txBody>
      </p:sp>
      <p:sp>
        <p:nvSpPr>
          <p:cNvPr id="5" name="Number badge"/>
          <p:cNvSpPr/>
          <p:nvPr/>
        </p:nvSpPr>
        <p:spPr>
          <a:xfrm>
            <a:off x="822960" y="160020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508760" y="1600200"/>
            <a:ext cx="4206240" cy="502920"/>
          </a:xfrm>
          <a:prstGeom prst="rect">
            <a:avLst/>
          </a:prstGeom>
          <a:noFill/>
          <a:ln/>
        </p:spPr>
        <p:txBody>
          <a:bodyPr wrap="square" lIns="0" tIns="0" rIns="0" bIns="0" rtlCol="0" anchor="ctr"/>
          <a:lstStyle/>
          <a:p>
            <a:pPr marL="0" indent="0">
              <a:buNone/>
            </a:pPr>
            <a:r>
              <a:rPr lang="en-US" sz="1800" b="1" dirty="0">
                <a:solidFill>
                  <a:schemeClr val="tx2"/>
                </a:solidFill>
              </a:rPr>
              <a:t>Data Ingestion &amp; Preprocessing</a:t>
            </a:r>
            <a:endParaRPr lang="en-US" sz="1800" dirty="0"/>
          </a:p>
        </p:txBody>
      </p:sp>
      <p:sp>
        <p:nvSpPr>
          <p:cNvPr id="7" name="Text 4"/>
          <p:cNvSpPr txBox="1"/>
          <p:nvPr/>
        </p:nvSpPr>
        <p:spPr>
          <a:xfrm>
            <a:off x="822960" y="2331720"/>
            <a:ext cx="4937760" cy="1143000"/>
          </a:xfrm>
          <a:prstGeom prst="rect">
            <a:avLst/>
          </a:prstGeom>
          <a:noFill/>
          <a:ln/>
        </p:spPr>
        <p:txBody>
          <a:bodyPr wrap="square" lIns="0" tIns="0" rIns="0" bIns="0" rtlCol="0" anchor="t"/>
          <a:lstStyle/>
          <a:p>
            <a:pPr marL="0" indent="0">
              <a:spcAft>
                <a:spcPts val="600"/>
              </a:spcAft>
              <a:buNone/>
            </a:pPr>
            <a:r>
              <a:rPr lang="en-US" sz="1400" b="1" dirty="0">
                <a:solidFill>
                  <a:schemeClr val="tx1"/>
                </a:solidFill>
              </a:rPr>
              <a:t>Purpose: </a:t>
            </a:r>
            <a:r>
              <a:rPr lang="en-US" sz="1400" dirty="0">
                <a:solidFill>
                  <a:schemeClr val="tx1"/>
                </a:solidFill>
              </a:rPr>
              <a:t>Ingest, clean and validate data</a:t>
            </a:r>
            <a:endParaRPr lang="en-US" sz="1400" dirty="0"/>
          </a:p>
          <a:p>
            <a:pPr marL="0" indent="0">
              <a:spcAft>
                <a:spcPts val="600"/>
              </a:spcAft>
              <a:buNone/>
            </a:pPr>
            <a:r>
              <a:rPr lang="en-US" sz="1400" b="1" dirty="0">
                <a:solidFill>
                  <a:schemeClr val="tx1"/>
                </a:solidFill>
              </a:rPr>
              <a:t>Input → Output: </a:t>
            </a:r>
            <a:r>
              <a:rPr lang="en-US" sz="1400" dirty="0">
                <a:solidFill>
                  <a:schemeClr val="tx1"/>
                </a:solidFill>
              </a:rPr>
              <a:t>Raw datasets → clean dataset</a:t>
            </a:r>
            <a:endParaRPr lang="en-US" sz="1400" dirty="0"/>
          </a:p>
          <a:p>
            <a:pPr marL="0" indent="0">
              <a:spcAft>
                <a:spcPts val="600"/>
              </a:spcAft>
              <a:buNone/>
            </a:pPr>
            <a:r>
              <a:rPr lang="en-US" sz="1400" b="1" dirty="0">
                <a:solidFill>
                  <a:schemeClr val="tx1"/>
                </a:solidFill>
              </a:rPr>
              <a:t>Developed by: </a:t>
            </a:r>
            <a:r>
              <a:rPr lang="en-US" sz="1400" dirty="0">
                <a:solidFill>
                  <a:schemeClr val="tx1"/>
                </a:solidFill>
              </a:rPr>
              <a:t>Siril Punna</a:t>
            </a:r>
            <a:endParaRPr lang="en-US" sz="1400" dirty="0"/>
          </a:p>
        </p:txBody>
      </p:sp>
      <p:sp>
        <p:nvSpPr>
          <p:cNvPr id="8" name="Card"/>
          <p:cNvSpPr/>
          <p:nvPr/>
        </p:nvSpPr>
        <p:spPr>
          <a:xfrm>
            <a:off x="6208776" y="1371600"/>
            <a:ext cx="5431536" cy="2240280"/>
          </a:xfrm>
          <a:prstGeom prst="roundRect">
            <a:avLst>
              <a:gd name="adj" fmla="val 4898"/>
            </a:avLst>
          </a:prstGeom>
          <a:solidFill>
            <a:schemeClr val="bg2"/>
          </a:solidFill>
          <a:ln/>
        </p:spPr>
        <p:txBody>
          <a:bodyPr/>
          <a:lstStyle/>
          <a:p>
            <a:endParaRPr lang="en-IN"/>
          </a:p>
        </p:txBody>
      </p:sp>
      <p:sp>
        <p:nvSpPr>
          <p:cNvPr id="9" name="Number badge"/>
          <p:cNvSpPr/>
          <p:nvPr/>
        </p:nvSpPr>
        <p:spPr>
          <a:xfrm>
            <a:off x="6483096" y="160020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Text 7"/>
          <p:cNvSpPr txBox="1"/>
          <p:nvPr/>
        </p:nvSpPr>
        <p:spPr>
          <a:xfrm>
            <a:off x="7168896" y="1600200"/>
            <a:ext cx="4206240" cy="502920"/>
          </a:xfrm>
          <a:prstGeom prst="rect">
            <a:avLst/>
          </a:prstGeom>
          <a:noFill/>
          <a:ln/>
        </p:spPr>
        <p:txBody>
          <a:bodyPr wrap="square" lIns="0" tIns="0" rIns="0" bIns="0" rtlCol="0" anchor="ctr"/>
          <a:lstStyle/>
          <a:p>
            <a:pPr marL="0" indent="0">
              <a:buNone/>
            </a:pPr>
            <a:r>
              <a:rPr lang="en-US" sz="1800" b="1" dirty="0">
                <a:solidFill>
                  <a:schemeClr val="tx2"/>
                </a:solidFill>
              </a:rPr>
              <a:t>EDA &amp; Feature Engineering</a:t>
            </a:r>
            <a:endParaRPr lang="en-US" sz="1800" dirty="0"/>
          </a:p>
        </p:txBody>
      </p:sp>
      <p:sp>
        <p:nvSpPr>
          <p:cNvPr id="11" name="Text 8"/>
          <p:cNvSpPr txBox="1"/>
          <p:nvPr/>
        </p:nvSpPr>
        <p:spPr>
          <a:xfrm>
            <a:off x="6483096" y="2331720"/>
            <a:ext cx="4937760" cy="1143000"/>
          </a:xfrm>
          <a:prstGeom prst="rect">
            <a:avLst/>
          </a:prstGeom>
          <a:noFill/>
          <a:ln/>
        </p:spPr>
        <p:txBody>
          <a:bodyPr wrap="square" lIns="0" tIns="0" rIns="0" bIns="0" rtlCol="0" anchor="t"/>
          <a:lstStyle/>
          <a:p>
            <a:pPr marL="0" indent="0">
              <a:spcAft>
                <a:spcPts val="600"/>
              </a:spcAft>
              <a:buNone/>
            </a:pPr>
            <a:r>
              <a:rPr lang="en-US" sz="1400" b="1" dirty="0">
                <a:solidFill>
                  <a:schemeClr val="tx1"/>
                </a:solidFill>
              </a:rPr>
              <a:t>Purpose: </a:t>
            </a:r>
            <a:r>
              <a:rPr lang="en-US" sz="1400" dirty="0">
                <a:solidFill>
                  <a:schemeClr val="tx1"/>
                </a:solidFill>
              </a:rPr>
              <a:t>Find patterns, engineer features</a:t>
            </a:r>
            <a:endParaRPr lang="en-US" sz="1400" dirty="0"/>
          </a:p>
          <a:p>
            <a:pPr marL="0" indent="0">
              <a:spcAft>
                <a:spcPts val="600"/>
              </a:spcAft>
              <a:buNone/>
            </a:pPr>
            <a:r>
              <a:rPr lang="en-US" sz="1400" b="1" dirty="0">
                <a:solidFill>
                  <a:schemeClr val="tx1"/>
                </a:solidFill>
              </a:rPr>
              <a:t>Input → Output: </a:t>
            </a:r>
            <a:r>
              <a:rPr lang="en-US" sz="1400" dirty="0">
                <a:solidFill>
                  <a:schemeClr val="tx1"/>
                </a:solidFill>
              </a:rPr>
              <a:t>Clean data → feature set</a:t>
            </a:r>
            <a:endParaRPr lang="en-US" sz="1400" dirty="0"/>
          </a:p>
          <a:p>
            <a:pPr marL="0" indent="0">
              <a:spcAft>
                <a:spcPts val="600"/>
              </a:spcAft>
              <a:buNone/>
            </a:pPr>
            <a:r>
              <a:rPr lang="en-US" sz="1400" b="1" dirty="0">
                <a:solidFill>
                  <a:schemeClr val="tx1"/>
                </a:solidFill>
              </a:rPr>
              <a:t>Developed by: </a:t>
            </a:r>
            <a:r>
              <a:rPr lang="en-US" sz="1400" dirty="0">
                <a:solidFill>
                  <a:schemeClr val="tx1"/>
                </a:solidFill>
              </a:rPr>
              <a:t>D. Dinesh Kumar</a:t>
            </a:r>
            <a:endParaRPr lang="en-US" sz="1400" dirty="0"/>
          </a:p>
        </p:txBody>
      </p:sp>
      <p:sp>
        <p:nvSpPr>
          <p:cNvPr id="12" name="Card"/>
          <p:cNvSpPr/>
          <p:nvPr/>
        </p:nvSpPr>
        <p:spPr>
          <a:xfrm>
            <a:off x="548640" y="3840480"/>
            <a:ext cx="5431536" cy="2240280"/>
          </a:xfrm>
          <a:prstGeom prst="roundRect">
            <a:avLst>
              <a:gd name="adj" fmla="val 4898"/>
            </a:avLst>
          </a:prstGeom>
          <a:solidFill>
            <a:schemeClr val="bg2"/>
          </a:solidFill>
          <a:ln/>
        </p:spPr>
        <p:txBody>
          <a:bodyPr/>
          <a:lstStyle/>
          <a:p>
            <a:endParaRPr lang="en-IN"/>
          </a:p>
        </p:txBody>
      </p:sp>
      <p:sp>
        <p:nvSpPr>
          <p:cNvPr id="13" name="Number badge"/>
          <p:cNvSpPr/>
          <p:nvPr/>
        </p:nvSpPr>
        <p:spPr>
          <a:xfrm>
            <a:off x="822960" y="406908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4" name="Text 11"/>
          <p:cNvSpPr txBox="1"/>
          <p:nvPr/>
        </p:nvSpPr>
        <p:spPr>
          <a:xfrm>
            <a:off x="1508760" y="4069080"/>
            <a:ext cx="4206240" cy="502920"/>
          </a:xfrm>
          <a:prstGeom prst="rect">
            <a:avLst/>
          </a:prstGeom>
          <a:noFill/>
          <a:ln/>
        </p:spPr>
        <p:txBody>
          <a:bodyPr wrap="square" lIns="0" tIns="0" rIns="0" bIns="0" rtlCol="0" anchor="ctr"/>
          <a:lstStyle/>
          <a:p>
            <a:pPr marL="0" indent="0">
              <a:buNone/>
            </a:pPr>
            <a:r>
              <a:rPr lang="en-US" sz="1800" b="1" dirty="0">
                <a:solidFill>
                  <a:schemeClr val="tx2"/>
                </a:solidFill>
              </a:rPr>
              <a:t>ML Modelling &amp; Evaluation</a:t>
            </a:r>
            <a:endParaRPr lang="en-US" sz="1800" dirty="0"/>
          </a:p>
        </p:txBody>
      </p:sp>
      <p:sp>
        <p:nvSpPr>
          <p:cNvPr id="15" name="Text 12"/>
          <p:cNvSpPr txBox="1"/>
          <p:nvPr/>
        </p:nvSpPr>
        <p:spPr>
          <a:xfrm>
            <a:off x="822960" y="4800600"/>
            <a:ext cx="4937760" cy="1143000"/>
          </a:xfrm>
          <a:prstGeom prst="rect">
            <a:avLst/>
          </a:prstGeom>
          <a:noFill/>
          <a:ln/>
        </p:spPr>
        <p:txBody>
          <a:bodyPr wrap="square" lIns="0" tIns="0" rIns="0" bIns="0" rtlCol="0" anchor="t"/>
          <a:lstStyle/>
          <a:p>
            <a:pPr marL="0" indent="0">
              <a:spcAft>
                <a:spcPts val="600"/>
              </a:spcAft>
              <a:buNone/>
            </a:pPr>
            <a:r>
              <a:rPr lang="en-US" sz="1400" b="1" dirty="0">
                <a:solidFill>
                  <a:schemeClr val="tx1"/>
                </a:solidFill>
              </a:rPr>
              <a:t>Purpose: </a:t>
            </a:r>
            <a:r>
              <a:rPr lang="en-US" sz="1400" dirty="0">
                <a:solidFill>
                  <a:schemeClr val="tx1"/>
                </a:solidFill>
              </a:rPr>
              <a:t>Train and compare five models</a:t>
            </a:r>
            <a:endParaRPr lang="en-US" sz="1400" dirty="0"/>
          </a:p>
          <a:p>
            <a:pPr marL="0" indent="0">
              <a:spcAft>
                <a:spcPts val="600"/>
              </a:spcAft>
              <a:buNone/>
            </a:pPr>
            <a:r>
              <a:rPr lang="en-US" sz="1400" b="1" dirty="0">
                <a:solidFill>
                  <a:schemeClr val="tx1"/>
                </a:solidFill>
              </a:rPr>
              <a:t>Input → Output: </a:t>
            </a:r>
            <a:r>
              <a:rPr lang="en-US" sz="1400" dirty="0">
                <a:solidFill>
                  <a:schemeClr val="tx1"/>
                </a:solidFill>
              </a:rPr>
              <a:t>Features → metrics, best model</a:t>
            </a:r>
            <a:endParaRPr lang="en-US" sz="1400" dirty="0"/>
          </a:p>
          <a:p>
            <a:pPr marL="0" indent="0">
              <a:spcAft>
                <a:spcPts val="600"/>
              </a:spcAft>
              <a:buNone/>
            </a:pPr>
            <a:r>
              <a:rPr lang="en-US" sz="1400" b="1" dirty="0">
                <a:solidFill>
                  <a:schemeClr val="tx1"/>
                </a:solidFill>
              </a:rPr>
              <a:t>Developed by: </a:t>
            </a:r>
            <a:r>
              <a:rPr lang="en-US" sz="1400" dirty="0">
                <a:solidFill>
                  <a:schemeClr val="tx1"/>
                </a:solidFill>
              </a:rPr>
              <a:t>T. Sri Vatsav</a:t>
            </a:r>
            <a:endParaRPr lang="en-US" sz="1400" dirty="0"/>
          </a:p>
        </p:txBody>
      </p:sp>
      <p:sp>
        <p:nvSpPr>
          <p:cNvPr id="16" name="Card"/>
          <p:cNvSpPr/>
          <p:nvPr/>
        </p:nvSpPr>
        <p:spPr>
          <a:xfrm>
            <a:off x="6208776" y="3840480"/>
            <a:ext cx="5431536" cy="2240280"/>
          </a:xfrm>
          <a:prstGeom prst="roundRect">
            <a:avLst>
              <a:gd name="adj" fmla="val 4898"/>
            </a:avLst>
          </a:prstGeom>
          <a:solidFill>
            <a:schemeClr val="bg2"/>
          </a:solidFill>
          <a:ln/>
        </p:spPr>
        <p:txBody>
          <a:bodyPr/>
          <a:lstStyle/>
          <a:p>
            <a:endParaRPr lang="en-IN"/>
          </a:p>
        </p:txBody>
      </p:sp>
      <p:sp>
        <p:nvSpPr>
          <p:cNvPr id="17" name="Number badge"/>
          <p:cNvSpPr/>
          <p:nvPr/>
        </p:nvSpPr>
        <p:spPr>
          <a:xfrm>
            <a:off x="6483096" y="406908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8" name="Text 15"/>
          <p:cNvSpPr txBox="1"/>
          <p:nvPr/>
        </p:nvSpPr>
        <p:spPr>
          <a:xfrm>
            <a:off x="7168896" y="4069080"/>
            <a:ext cx="4206240" cy="502920"/>
          </a:xfrm>
          <a:prstGeom prst="rect">
            <a:avLst/>
          </a:prstGeom>
          <a:noFill/>
          <a:ln/>
        </p:spPr>
        <p:txBody>
          <a:bodyPr wrap="square" lIns="0" tIns="0" rIns="0" bIns="0" rtlCol="0" anchor="ctr"/>
          <a:lstStyle/>
          <a:p>
            <a:pPr marL="0" indent="0">
              <a:buNone/>
            </a:pPr>
            <a:r>
              <a:rPr lang="en-US" sz="1800" b="1" dirty="0">
                <a:solidFill>
                  <a:schemeClr val="tx2"/>
                </a:solidFill>
              </a:rPr>
              <a:t>Dashboard &amp; Risk Prediction</a:t>
            </a:r>
            <a:endParaRPr lang="en-US" sz="1800" dirty="0"/>
          </a:p>
        </p:txBody>
      </p:sp>
      <p:sp>
        <p:nvSpPr>
          <p:cNvPr id="19" name="Text 16"/>
          <p:cNvSpPr txBox="1"/>
          <p:nvPr/>
        </p:nvSpPr>
        <p:spPr>
          <a:xfrm>
            <a:off x="6483096" y="4800600"/>
            <a:ext cx="4937760" cy="1143000"/>
          </a:xfrm>
          <a:prstGeom prst="rect">
            <a:avLst/>
          </a:prstGeom>
          <a:noFill/>
          <a:ln/>
        </p:spPr>
        <p:txBody>
          <a:bodyPr wrap="square" lIns="0" tIns="0" rIns="0" bIns="0" rtlCol="0" anchor="t"/>
          <a:lstStyle/>
          <a:p>
            <a:pPr marL="0" indent="0">
              <a:spcAft>
                <a:spcPts val="600"/>
              </a:spcAft>
              <a:buNone/>
            </a:pPr>
            <a:r>
              <a:rPr lang="en-US" sz="1400" b="1" dirty="0">
                <a:solidFill>
                  <a:schemeClr val="tx1"/>
                </a:solidFill>
              </a:rPr>
              <a:t>Purpose: </a:t>
            </a:r>
            <a:r>
              <a:rPr lang="en-US" sz="1400" dirty="0">
                <a:solidFill>
                  <a:schemeClr val="tx1"/>
                </a:solidFill>
              </a:rPr>
              <a:t>Visualise trends, predict risk</a:t>
            </a:r>
            <a:endParaRPr lang="en-US" sz="1400" dirty="0"/>
          </a:p>
          <a:p>
            <a:pPr marL="0" indent="0">
              <a:spcAft>
                <a:spcPts val="600"/>
              </a:spcAft>
              <a:buNone/>
            </a:pPr>
            <a:r>
              <a:rPr lang="en-US" sz="1400" b="1" dirty="0">
                <a:solidFill>
                  <a:schemeClr val="tx1"/>
                </a:solidFill>
              </a:rPr>
              <a:t>Input → Output: </a:t>
            </a:r>
            <a:r>
              <a:rPr lang="en-US" sz="1400" dirty="0">
                <a:solidFill>
                  <a:schemeClr val="tx1"/>
                </a:solidFill>
              </a:rPr>
              <a:t>Inputs + model → risk output</a:t>
            </a:r>
            <a:endParaRPr lang="en-US" sz="1400" dirty="0"/>
          </a:p>
          <a:p>
            <a:pPr marL="0" indent="0">
              <a:spcAft>
                <a:spcPts val="600"/>
              </a:spcAft>
              <a:buNone/>
            </a:pPr>
            <a:r>
              <a:rPr lang="en-US" sz="1400" b="1" dirty="0">
                <a:solidFill>
                  <a:schemeClr val="tx1"/>
                </a:solidFill>
              </a:rPr>
              <a:t>Developed by: </a:t>
            </a:r>
            <a:r>
              <a:rPr lang="en-US" sz="1400" dirty="0">
                <a:solidFill>
                  <a:schemeClr val="tx1"/>
                </a:solidFill>
              </a:rPr>
              <a:t>All team members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Algorithms &amp; Technologies Used</a:t>
            </a:r>
            <a:endParaRPr lang="en-US" sz="3200" dirty="0"/>
          </a:p>
        </p:txBody>
      </p:sp>
      <p:sp>
        <p:nvSpPr>
          <p:cNvPr id="4" name="Card"/>
          <p:cNvSpPr/>
          <p:nvPr/>
        </p:nvSpPr>
        <p:spPr>
          <a:xfrm>
            <a:off x="548640" y="1371600"/>
            <a:ext cx="3520440" cy="3291840"/>
          </a:xfrm>
          <a:prstGeom prst="roundRect">
            <a:avLst>
              <a:gd name="adj" fmla="val 3333"/>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pic>
        <p:nvPicPr>
          <p:cNvPr id="6" name="Image 0" descr="Cogs icon"/>
          <p:cNvPicPr>
            <a:picLocks noChangeAspect="1"/>
          </p:cNvPicPr>
          <p:nvPr/>
        </p:nvPicPr>
        <p:blipFill>
          <a:blip r:embed="rId3"/>
          <a:stretch>
            <a:fillRect/>
          </a:stretch>
        </p:blipFill>
        <p:spPr>
          <a:xfrm>
            <a:off x="933602" y="1665122"/>
            <a:ext cx="281635" cy="281635"/>
          </a:xfrm>
          <a:prstGeom prst="rect">
            <a:avLst/>
          </a:prstGeom>
        </p:spPr>
      </p:pic>
      <p:sp>
        <p:nvSpPr>
          <p:cNvPr id="7" name="Text 3"/>
          <p:cNvSpPr txBox="1"/>
          <p:nvPr/>
        </p:nvSpPr>
        <p:spPr>
          <a:xfrm>
            <a:off x="1508760"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Logistic Regression</a:t>
            </a:r>
            <a:endParaRPr lang="en-US" sz="1800" dirty="0"/>
          </a:p>
        </p:txBody>
      </p:sp>
      <p:sp>
        <p:nvSpPr>
          <p:cNvPr id="8" name="Text 4"/>
          <p:cNvSpPr txBox="1"/>
          <p:nvPr/>
        </p:nvSpPr>
        <p:spPr>
          <a:xfrm>
            <a:off x="822960" y="2240280"/>
            <a:ext cx="2971800" cy="2286000"/>
          </a:xfrm>
          <a:prstGeom prst="rect">
            <a:avLst/>
          </a:prstGeom>
          <a:noFill/>
          <a:ln/>
        </p:spPr>
        <p:txBody>
          <a:bodyPr wrap="square" lIns="0" tIns="0" rIns="0" bIns="0" rtlCol="0" anchor="t"/>
          <a:lstStyle/>
          <a:p>
            <a:pPr marL="0" indent="0">
              <a:buNone/>
            </a:pPr>
            <a:r>
              <a:rPr lang="en-US" sz="1400" b="1" dirty="0">
                <a:solidFill>
                  <a:schemeClr val="tx2"/>
                </a:solidFill>
              </a:rPr>
              <a:t>Why chosen</a:t>
            </a:r>
            <a:endParaRPr lang="en-US" sz="1400" dirty="0"/>
          </a:p>
          <a:p>
            <a:pPr marL="0" indent="0">
              <a:spcAft>
                <a:spcPts val="1200"/>
              </a:spcAft>
              <a:buNone/>
            </a:pPr>
            <a:r>
              <a:rPr lang="en-US" sz="1400" dirty="0">
                <a:solidFill>
                  <a:schemeClr val="tx1"/>
                </a:solidFill>
              </a:rPr>
              <a:t>Simple, interpretable baseline for risk classification</a:t>
            </a:r>
            <a:endParaRPr lang="en-US" sz="1400" dirty="0"/>
          </a:p>
          <a:p>
            <a:pPr marL="0" indent="0">
              <a:buNone/>
            </a:pPr>
            <a:r>
              <a:rPr lang="en-US" sz="1400" b="1" dirty="0">
                <a:solidFill>
                  <a:schemeClr val="tx2"/>
                </a:solidFill>
              </a:rPr>
              <a:t>Key parameters</a:t>
            </a:r>
            <a:endParaRPr lang="en-US" sz="1400" dirty="0"/>
          </a:p>
          <a:p>
            <a:pPr marL="0" indent="0">
              <a:buNone/>
            </a:pPr>
            <a:r>
              <a:rPr lang="en-US" sz="1400" dirty="0">
                <a:solidFill>
                  <a:schemeClr val="tx1"/>
                </a:solidFill>
              </a:rPr>
              <a:t>Regularisation strength (C), solver</a:t>
            </a:r>
            <a:endParaRPr lang="en-US" sz="1400" dirty="0"/>
          </a:p>
        </p:txBody>
      </p:sp>
      <p:sp>
        <p:nvSpPr>
          <p:cNvPr id="9" name="Card"/>
          <p:cNvSpPr/>
          <p:nvPr/>
        </p:nvSpPr>
        <p:spPr>
          <a:xfrm>
            <a:off x="4334256" y="1371600"/>
            <a:ext cx="3520440" cy="3291840"/>
          </a:xfrm>
          <a:prstGeom prst="roundRect">
            <a:avLst>
              <a:gd name="adj" fmla="val 3333"/>
            </a:avLst>
          </a:prstGeom>
          <a:solidFill>
            <a:schemeClr val="bg2"/>
          </a:solidFill>
          <a:ln/>
        </p:spPr>
        <p:txBody>
          <a:bodyPr/>
          <a:lstStyle/>
          <a:p>
            <a:endParaRPr lang="en-IN"/>
          </a:p>
        </p:txBody>
      </p:sp>
      <p:sp>
        <p:nvSpPr>
          <p:cNvPr id="10" name="Icon badge"/>
          <p:cNvSpPr/>
          <p:nvPr/>
        </p:nvSpPr>
        <p:spPr>
          <a:xfrm>
            <a:off x="4608576" y="1554480"/>
            <a:ext cx="502920" cy="502920"/>
          </a:xfrm>
          <a:prstGeom prst="ellipse">
            <a:avLst/>
          </a:prstGeom>
          <a:solidFill>
            <a:schemeClr val="accent1"/>
          </a:solidFill>
          <a:ln/>
        </p:spPr>
        <p:txBody>
          <a:bodyPr/>
          <a:lstStyle/>
          <a:p>
            <a:endParaRPr lang="en-IN"/>
          </a:p>
        </p:txBody>
      </p:sp>
      <p:pic>
        <p:nvPicPr>
          <p:cNvPr id="11" name="Image 1" descr="Cogs icon"/>
          <p:cNvPicPr>
            <a:picLocks noChangeAspect="1"/>
          </p:cNvPicPr>
          <p:nvPr/>
        </p:nvPicPr>
        <p:blipFill>
          <a:blip r:embed="rId3"/>
          <a:stretch>
            <a:fillRect/>
          </a:stretch>
        </p:blipFill>
        <p:spPr>
          <a:xfrm>
            <a:off x="4719218" y="1665122"/>
            <a:ext cx="281635" cy="281635"/>
          </a:xfrm>
          <a:prstGeom prst="rect">
            <a:avLst/>
          </a:prstGeom>
        </p:spPr>
      </p:pic>
      <p:sp>
        <p:nvSpPr>
          <p:cNvPr id="12" name="Text 7"/>
          <p:cNvSpPr txBox="1"/>
          <p:nvPr/>
        </p:nvSpPr>
        <p:spPr>
          <a:xfrm>
            <a:off x="5294376"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Tree-Based Models</a:t>
            </a:r>
            <a:endParaRPr lang="en-US" sz="1800" dirty="0"/>
          </a:p>
        </p:txBody>
      </p:sp>
      <p:sp>
        <p:nvSpPr>
          <p:cNvPr id="13" name="Text 8"/>
          <p:cNvSpPr txBox="1"/>
          <p:nvPr/>
        </p:nvSpPr>
        <p:spPr>
          <a:xfrm>
            <a:off x="4608576" y="2240280"/>
            <a:ext cx="2971800" cy="2286000"/>
          </a:xfrm>
          <a:prstGeom prst="rect">
            <a:avLst/>
          </a:prstGeom>
          <a:noFill/>
          <a:ln/>
        </p:spPr>
        <p:txBody>
          <a:bodyPr wrap="square" lIns="0" tIns="0" rIns="0" bIns="0" rtlCol="0" anchor="t"/>
          <a:lstStyle/>
          <a:p>
            <a:pPr marL="0" indent="0">
              <a:buNone/>
            </a:pPr>
            <a:r>
              <a:rPr lang="en-US" sz="1400" b="1" dirty="0">
                <a:solidFill>
                  <a:schemeClr val="tx2"/>
                </a:solidFill>
              </a:rPr>
              <a:t>Why chosen</a:t>
            </a:r>
            <a:endParaRPr lang="en-US" sz="1400" dirty="0"/>
          </a:p>
          <a:p>
            <a:pPr marL="0" indent="0">
              <a:spcAft>
                <a:spcPts val="1200"/>
              </a:spcAft>
              <a:buNone/>
            </a:pPr>
            <a:r>
              <a:rPr lang="en-US" sz="1400" dirty="0">
                <a:solidFill>
                  <a:schemeClr val="tx1"/>
                </a:solidFill>
              </a:rPr>
              <a:t>Decision Tree and Random Forest capture non-linear patterns; forest ranks features</a:t>
            </a:r>
            <a:endParaRPr lang="en-US" sz="1400" dirty="0"/>
          </a:p>
          <a:p>
            <a:pPr marL="0" indent="0">
              <a:buNone/>
            </a:pPr>
            <a:r>
              <a:rPr lang="en-US" sz="1400" b="1" dirty="0">
                <a:solidFill>
                  <a:schemeClr val="tx2"/>
                </a:solidFill>
              </a:rPr>
              <a:t>Key parameters</a:t>
            </a:r>
            <a:endParaRPr lang="en-US" sz="1400" dirty="0"/>
          </a:p>
          <a:p>
            <a:pPr marL="0" indent="0">
              <a:buNone/>
            </a:pPr>
            <a:r>
              <a:rPr lang="en-US" sz="1400" dirty="0">
                <a:solidFill>
                  <a:schemeClr val="tx1"/>
                </a:solidFill>
              </a:rPr>
              <a:t>max_depth, n_estimators</a:t>
            </a:r>
            <a:endParaRPr lang="en-US" sz="1400" dirty="0"/>
          </a:p>
        </p:txBody>
      </p:sp>
      <p:sp>
        <p:nvSpPr>
          <p:cNvPr id="14" name="Card"/>
          <p:cNvSpPr/>
          <p:nvPr/>
        </p:nvSpPr>
        <p:spPr>
          <a:xfrm>
            <a:off x="8119872" y="1371600"/>
            <a:ext cx="3520440" cy="3291840"/>
          </a:xfrm>
          <a:prstGeom prst="roundRect">
            <a:avLst>
              <a:gd name="adj" fmla="val 3333"/>
            </a:avLst>
          </a:prstGeom>
          <a:solidFill>
            <a:schemeClr val="bg2"/>
          </a:solidFill>
          <a:ln/>
        </p:spPr>
        <p:txBody>
          <a:bodyPr/>
          <a:lstStyle/>
          <a:p>
            <a:endParaRPr lang="en-IN"/>
          </a:p>
        </p:txBody>
      </p:sp>
      <p:sp>
        <p:nvSpPr>
          <p:cNvPr id="15" name="Icon badge"/>
          <p:cNvSpPr/>
          <p:nvPr/>
        </p:nvSpPr>
        <p:spPr>
          <a:xfrm>
            <a:off x="8394192" y="1554480"/>
            <a:ext cx="502920" cy="502920"/>
          </a:xfrm>
          <a:prstGeom prst="ellipse">
            <a:avLst/>
          </a:prstGeom>
          <a:solidFill>
            <a:schemeClr val="accent1"/>
          </a:solidFill>
          <a:ln/>
        </p:spPr>
        <p:txBody>
          <a:bodyPr/>
          <a:lstStyle/>
          <a:p>
            <a:endParaRPr lang="en-IN"/>
          </a:p>
        </p:txBody>
      </p:sp>
      <p:pic>
        <p:nvPicPr>
          <p:cNvPr id="16" name="Image 2" descr="Cogs icon"/>
          <p:cNvPicPr>
            <a:picLocks noChangeAspect="1"/>
          </p:cNvPicPr>
          <p:nvPr/>
        </p:nvPicPr>
        <p:blipFill>
          <a:blip r:embed="rId3"/>
          <a:stretch>
            <a:fillRect/>
          </a:stretch>
        </p:blipFill>
        <p:spPr>
          <a:xfrm>
            <a:off x="8504834" y="1665122"/>
            <a:ext cx="281635" cy="281635"/>
          </a:xfrm>
          <a:prstGeom prst="rect">
            <a:avLst/>
          </a:prstGeom>
        </p:spPr>
      </p:pic>
      <p:sp>
        <p:nvSpPr>
          <p:cNvPr id="17" name="Text 11"/>
          <p:cNvSpPr txBox="1"/>
          <p:nvPr/>
        </p:nvSpPr>
        <p:spPr>
          <a:xfrm>
            <a:off x="9079992"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KNN &amp; Naïve Bayes</a:t>
            </a:r>
            <a:endParaRPr lang="en-US" sz="1800" dirty="0"/>
          </a:p>
        </p:txBody>
      </p:sp>
      <p:sp>
        <p:nvSpPr>
          <p:cNvPr id="18" name="Text 12"/>
          <p:cNvSpPr txBox="1"/>
          <p:nvPr/>
        </p:nvSpPr>
        <p:spPr>
          <a:xfrm>
            <a:off x="8394192" y="2240280"/>
            <a:ext cx="2971800" cy="2286000"/>
          </a:xfrm>
          <a:prstGeom prst="rect">
            <a:avLst/>
          </a:prstGeom>
          <a:noFill/>
          <a:ln/>
        </p:spPr>
        <p:txBody>
          <a:bodyPr wrap="square" lIns="0" tIns="0" rIns="0" bIns="0" rtlCol="0" anchor="t"/>
          <a:lstStyle/>
          <a:p>
            <a:pPr marL="0" indent="0">
              <a:buNone/>
            </a:pPr>
            <a:r>
              <a:rPr lang="en-US" sz="1400" b="1" dirty="0">
                <a:solidFill>
                  <a:schemeClr val="tx2"/>
                </a:solidFill>
              </a:rPr>
              <a:t>Why chosen</a:t>
            </a:r>
            <a:endParaRPr lang="en-US" sz="1400" dirty="0"/>
          </a:p>
          <a:p>
            <a:pPr marL="0" indent="0">
              <a:spcAft>
                <a:spcPts val="1200"/>
              </a:spcAft>
              <a:buNone/>
            </a:pPr>
            <a:r>
              <a:rPr lang="en-US" sz="1400" dirty="0">
                <a:solidFill>
                  <a:schemeClr val="tx1"/>
                </a:solidFill>
              </a:rPr>
              <a:t>Distance-based and probabilistic models for comparison</a:t>
            </a:r>
            <a:endParaRPr lang="en-US" sz="1400" dirty="0"/>
          </a:p>
          <a:p>
            <a:pPr marL="0" indent="0">
              <a:buNone/>
            </a:pPr>
            <a:r>
              <a:rPr lang="en-US" sz="1400" b="1" dirty="0">
                <a:solidFill>
                  <a:schemeClr val="tx2"/>
                </a:solidFill>
              </a:rPr>
              <a:t>Key parameters</a:t>
            </a:r>
            <a:endParaRPr lang="en-US" sz="1400" dirty="0"/>
          </a:p>
          <a:p>
            <a:pPr marL="0" indent="0">
              <a:buNone/>
            </a:pPr>
            <a:r>
              <a:rPr lang="en-US" sz="1400" dirty="0">
                <a:solidFill>
                  <a:schemeClr val="tx1"/>
                </a:solidFill>
              </a:rPr>
              <a:t>k (neighbours), distance metric</a:t>
            </a:r>
            <a:endParaRPr lang="en-US" sz="1400" dirty="0"/>
          </a:p>
        </p:txBody>
      </p:sp>
      <p:sp>
        <p:nvSpPr>
          <p:cNvPr id="19" name="Card"/>
          <p:cNvSpPr/>
          <p:nvPr/>
        </p:nvSpPr>
        <p:spPr>
          <a:xfrm>
            <a:off x="548640" y="4937760"/>
            <a:ext cx="11091672" cy="822960"/>
          </a:xfrm>
          <a:prstGeom prst="roundRect">
            <a:avLst>
              <a:gd name="adj" fmla="val 13333"/>
            </a:avLst>
          </a:prstGeom>
          <a:solidFill>
            <a:schemeClr val="bg2"/>
          </a:solidFill>
          <a:ln/>
        </p:spPr>
        <p:txBody>
          <a:bodyPr/>
          <a:lstStyle/>
          <a:p>
            <a:endParaRPr lang="en-IN"/>
          </a:p>
        </p:txBody>
      </p:sp>
      <p:sp>
        <p:nvSpPr>
          <p:cNvPr id="20" name="Text 14"/>
          <p:cNvSpPr txBox="1"/>
          <p:nvPr/>
        </p:nvSpPr>
        <p:spPr>
          <a:xfrm>
            <a:off x="822960" y="5120640"/>
            <a:ext cx="10543032" cy="502920"/>
          </a:xfrm>
          <a:prstGeom prst="rect">
            <a:avLst/>
          </a:prstGeom>
          <a:noFill/>
          <a:ln/>
        </p:spPr>
        <p:txBody>
          <a:bodyPr wrap="square" lIns="0" tIns="0" rIns="0" bIns="0" rtlCol="0" anchor="ctr"/>
          <a:lstStyle/>
          <a:p>
            <a:pPr marL="0" indent="0">
              <a:buNone/>
            </a:pPr>
            <a:r>
              <a:rPr lang="en-US" sz="1800" b="1" dirty="0">
                <a:solidFill>
                  <a:schemeClr val="tx2"/>
                </a:solidFill>
              </a:rPr>
              <a:t>Selection criteria:  </a:t>
            </a:r>
            <a:r>
              <a:rPr lang="en-US" sz="1800" b="1" dirty="0">
                <a:solidFill>
                  <a:schemeClr val="tx2"/>
                </a:solidFill>
              </a:rPr>
              <a:t>best F1-score and recall on test data, balanced with interpretability and speed</a:t>
            </a:r>
            <a:endParaRPr lang="en-US" sz="1800" dirty="0"/>
          </a:p>
        </p:txBody>
      </p:sp>
      <p:sp>
        <p:nvSpPr>
          <p:cNvPr id="21" name="Text 15"/>
          <p:cNvSpPr txBox="1"/>
          <p:nvPr/>
        </p:nvSpPr>
        <p:spPr>
          <a:xfrm>
            <a:off x="822960" y="5806440"/>
            <a:ext cx="10543032" cy="0"/>
          </a:xfrm>
          <a:prstGeom prst="rect">
            <a:avLst/>
          </a:prstGeom>
          <a:noFill/>
          <a:ln/>
        </p:spPr>
        <p:txBody>
          <a:bodyPr wrap="square" lIns="0" tIns="0" rIns="0" bIns="0" rtlCol="0" anchor="t"/>
          <a:lstStyle/>
          <a:p>
            <a:pPr marL="0" indent="0">
              <a:buNone/>
            </a:pP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Implementation / Model Building</a:t>
            </a:r>
            <a:endParaRPr lang="en-US" sz="3200" dirty="0"/>
          </a:p>
        </p:txBody>
      </p:sp>
      <p:sp>
        <p:nvSpPr>
          <p:cNvPr id="4" name="Card"/>
          <p:cNvSpPr/>
          <p:nvPr/>
        </p:nvSpPr>
        <p:spPr>
          <a:xfrm>
            <a:off x="548640" y="1371600"/>
            <a:ext cx="5394960" cy="1051560"/>
          </a:xfrm>
          <a:prstGeom prst="roundRect">
            <a:avLst>
              <a:gd name="adj" fmla="val 10435"/>
            </a:avLst>
          </a:prstGeom>
          <a:solidFill>
            <a:schemeClr val="bg2"/>
          </a:solidFill>
          <a:ln/>
        </p:spPr>
        <p:txBody>
          <a:bodyPr/>
          <a:lstStyle/>
          <a:p>
            <a:endParaRPr lang="en-IN"/>
          </a:p>
        </p:txBody>
      </p:sp>
      <p:sp>
        <p:nvSpPr>
          <p:cNvPr id="5" name="Text 2"/>
          <p:cNvSpPr txBox="1"/>
          <p:nvPr/>
        </p:nvSpPr>
        <p:spPr>
          <a:xfrm>
            <a:off x="822960" y="1481328"/>
            <a:ext cx="4846320" cy="320040"/>
          </a:xfrm>
          <a:prstGeom prst="rect">
            <a:avLst/>
          </a:prstGeom>
          <a:noFill/>
          <a:ln/>
        </p:spPr>
        <p:txBody>
          <a:bodyPr wrap="square" lIns="0" tIns="0" rIns="0" bIns="0" rtlCol="0" anchor="t"/>
          <a:lstStyle/>
          <a:p>
            <a:pPr marL="0" indent="0">
              <a:buNone/>
            </a:pPr>
            <a:r>
              <a:rPr lang="en-US" sz="1600" b="1" dirty="0">
                <a:solidFill>
                  <a:schemeClr val="tx2"/>
                </a:solidFill>
              </a:rPr>
              <a:t>Feature Selection</a:t>
            </a:r>
            <a:endParaRPr lang="en-US" sz="1600" dirty="0"/>
          </a:p>
        </p:txBody>
      </p:sp>
      <p:sp>
        <p:nvSpPr>
          <p:cNvPr id="6" name="Text 3"/>
          <p:cNvSpPr txBox="1"/>
          <p:nvPr/>
        </p:nvSpPr>
        <p:spPr>
          <a:xfrm>
            <a:off x="822960" y="1847088"/>
            <a:ext cx="4846320" cy="502920"/>
          </a:xfrm>
          <a:prstGeom prst="rect">
            <a:avLst/>
          </a:prstGeom>
          <a:noFill/>
          <a:ln/>
        </p:spPr>
        <p:txBody>
          <a:bodyPr wrap="square" lIns="0" tIns="0" rIns="0" bIns="0" rtlCol="0" anchor="t"/>
          <a:lstStyle/>
          <a:p>
            <a:pPr marL="0" indent="0">
              <a:buNone/>
            </a:pPr>
            <a:r>
              <a:rPr lang="en-US" sz="1400" dirty="0">
                <a:solidFill>
                  <a:schemeClr val="tx1"/>
                </a:solidFill>
              </a:rPr>
              <a:t>Demographic and health indicators selected using correlation and feature importance.</a:t>
            </a:r>
            <a:endParaRPr lang="en-US" sz="1400" dirty="0"/>
          </a:p>
        </p:txBody>
      </p:sp>
      <p:sp>
        <p:nvSpPr>
          <p:cNvPr id="7" name="Card"/>
          <p:cNvSpPr/>
          <p:nvPr/>
        </p:nvSpPr>
        <p:spPr>
          <a:xfrm>
            <a:off x="548640" y="2560320"/>
            <a:ext cx="5394960" cy="1051560"/>
          </a:xfrm>
          <a:prstGeom prst="roundRect">
            <a:avLst>
              <a:gd name="adj" fmla="val 10435"/>
            </a:avLst>
          </a:prstGeom>
          <a:solidFill>
            <a:schemeClr val="bg2"/>
          </a:solidFill>
          <a:ln/>
        </p:spPr>
        <p:txBody>
          <a:bodyPr/>
          <a:lstStyle/>
          <a:p>
            <a:endParaRPr lang="en-IN"/>
          </a:p>
        </p:txBody>
      </p:sp>
      <p:sp>
        <p:nvSpPr>
          <p:cNvPr id="8" name="Text 5"/>
          <p:cNvSpPr txBox="1"/>
          <p:nvPr/>
        </p:nvSpPr>
        <p:spPr>
          <a:xfrm>
            <a:off x="822960" y="2670048"/>
            <a:ext cx="4846320" cy="320040"/>
          </a:xfrm>
          <a:prstGeom prst="rect">
            <a:avLst/>
          </a:prstGeom>
          <a:noFill/>
          <a:ln/>
        </p:spPr>
        <p:txBody>
          <a:bodyPr wrap="square" lIns="0" tIns="0" rIns="0" bIns="0" rtlCol="0" anchor="t"/>
          <a:lstStyle/>
          <a:p>
            <a:pPr marL="0" indent="0">
              <a:buNone/>
            </a:pPr>
            <a:r>
              <a:rPr lang="en-US" sz="1600" b="1" dirty="0">
                <a:solidFill>
                  <a:schemeClr val="tx2"/>
                </a:solidFill>
              </a:rPr>
              <a:t>Preprocessing Pipeline</a:t>
            </a:r>
            <a:endParaRPr lang="en-US" sz="1600" dirty="0"/>
          </a:p>
        </p:txBody>
      </p:sp>
      <p:sp>
        <p:nvSpPr>
          <p:cNvPr id="9" name="Text 6"/>
          <p:cNvSpPr txBox="1"/>
          <p:nvPr/>
        </p:nvSpPr>
        <p:spPr>
          <a:xfrm>
            <a:off x="822960" y="3035808"/>
            <a:ext cx="4846320" cy="502920"/>
          </a:xfrm>
          <a:prstGeom prst="rect">
            <a:avLst/>
          </a:prstGeom>
          <a:noFill/>
          <a:ln/>
        </p:spPr>
        <p:txBody>
          <a:bodyPr wrap="square" lIns="0" tIns="0" rIns="0" bIns="0" rtlCol="0" anchor="t"/>
          <a:lstStyle/>
          <a:p>
            <a:pPr marL="0" indent="0">
              <a:buNone/>
            </a:pPr>
            <a:r>
              <a:rPr lang="en-US" sz="1400" dirty="0">
                <a:solidFill>
                  <a:schemeClr val="tx1"/>
                </a:solidFill>
              </a:rPr>
              <a:t>Ingestion, cleaning, duplicate and outlier treatment, encoding and scaling.</a:t>
            </a:r>
            <a:endParaRPr lang="en-US" sz="1400" dirty="0"/>
          </a:p>
        </p:txBody>
      </p:sp>
      <p:sp>
        <p:nvSpPr>
          <p:cNvPr id="10" name="Card"/>
          <p:cNvSpPr/>
          <p:nvPr/>
        </p:nvSpPr>
        <p:spPr>
          <a:xfrm>
            <a:off x="548640" y="3749040"/>
            <a:ext cx="5394960" cy="1051560"/>
          </a:xfrm>
          <a:prstGeom prst="roundRect">
            <a:avLst>
              <a:gd name="adj" fmla="val 10435"/>
            </a:avLst>
          </a:prstGeom>
          <a:solidFill>
            <a:schemeClr val="bg2"/>
          </a:solidFill>
          <a:ln/>
        </p:spPr>
        <p:txBody>
          <a:bodyPr/>
          <a:lstStyle/>
          <a:p>
            <a:endParaRPr lang="en-IN"/>
          </a:p>
        </p:txBody>
      </p:sp>
      <p:sp>
        <p:nvSpPr>
          <p:cNvPr id="11" name="Text 8"/>
          <p:cNvSpPr txBox="1"/>
          <p:nvPr/>
        </p:nvSpPr>
        <p:spPr>
          <a:xfrm>
            <a:off x="822960" y="3858768"/>
            <a:ext cx="4846320" cy="320040"/>
          </a:xfrm>
          <a:prstGeom prst="rect">
            <a:avLst/>
          </a:prstGeom>
          <a:noFill/>
          <a:ln/>
        </p:spPr>
        <p:txBody>
          <a:bodyPr wrap="square" lIns="0" tIns="0" rIns="0" bIns="0" rtlCol="0" anchor="t"/>
          <a:lstStyle/>
          <a:p>
            <a:pPr marL="0" indent="0">
              <a:buNone/>
            </a:pPr>
            <a:r>
              <a:rPr lang="en-US" sz="1600" b="1" dirty="0">
                <a:solidFill>
                  <a:schemeClr val="tx2"/>
                </a:solidFill>
              </a:rPr>
              <a:t>Data Splitting</a:t>
            </a:r>
            <a:endParaRPr lang="en-US" sz="1600" dirty="0"/>
          </a:p>
        </p:txBody>
      </p:sp>
      <p:sp>
        <p:nvSpPr>
          <p:cNvPr id="12" name="Text 9"/>
          <p:cNvSpPr txBox="1"/>
          <p:nvPr/>
        </p:nvSpPr>
        <p:spPr>
          <a:xfrm>
            <a:off x="822960" y="4224528"/>
            <a:ext cx="4846320" cy="502920"/>
          </a:xfrm>
          <a:prstGeom prst="rect">
            <a:avLst/>
          </a:prstGeom>
          <a:noFill/>
          <a:ln/>
        </p:spPr>
        <p:txBody>
          <a:bodyPr wrap="square" lIns="0" tIns="0" rIns="0" bIns="0" rtlCol="0" anchor="t"/>
          <a:lstStyle/>
          <a:p>
            <a:pPr marL="0" indent="0">
              <a:buNone/>
            </a:pPr>
            <a:r>
              <a:rPr lang="en-US" sz="1400" dirty="0">
                <a:solidFill>
                  <a:schemeClr val="tx1"/>
                </a:solidFill>
              </a:rPr>
              <a:t>80/20 stratified train–test split, with cross-validation for model comparison.</a:t>
            </a:r>
            <a:endParaRPr lang="en-US" sz="1400" dirty="0"/>
          </a:p>
        </p:txBody>
      </p:sp>
      <p:sp>
        <p:nvSpPr>
          <p:cNvPr id="13" name="Card"/>
          <p:cNvSpPr/>
          <p:nvPr/>
        </p:nvSpPr>
        <p:spPr>
          <a:xfrm>
            <a:off x="548640" y="4937760"/>
            <a:ext cx="5394960" cy="1051560"/>
          </a:xfrm>
          <a:prstGeom prst="roundRect">
            <a:avLst>
              <a:gd name="adj" fmla="val 10435"/>
            </a:avLst>
          </a:prstGeom>
          <a:solidFill>
            <a:schemeClr val="bg2"/>
          </a:solidFill>
          <a:ln/>
        </p:spPr>
        <p:txBody>
          <a:bodyPr/>
          <a:lstStyle/>
          <a:p>
            <a:endParaRPr lang="en-IN"/>
          </a:p>
        </p:txBody>
      </p:sp>
      <p:sp>
        <p:nvSpPr>
          <p:cNvPr id="14" name="Text 11"/>
          <p:cNvSpPr txBox="1"/>
          <p:nvPr/>
        </p:nvSpPr>
        <p:spPr>
          <a:xfrm>
            <a:off x="822960" y="5047488"/>
            <a:ext cx="4846320" cy="320040"/>
          </a:xfrm>
          <a:prstGeom prst="rect">
            <a:avLst/>
          </a:prstGeom>
          <a:noFill/>
          <a:ln/>
        </p:spPr>
        <p:txBody>
          <a:bodyPr wrap="square" lIns="0" tIns="0" rIns="0" bIns="0" rtlCol="0" anchor="t"/>
          <a:lstStyle/>
          <a:p>
            <a:pPr marL="0" indent="0">
              <a:buNone/>
            </a:pPr>
            <a:r>
              <a:rPr lang="en-US" sz="1600" b="1" dirty="0">
                <a:solidFill>
                  <a:schemeClr val="tx2"/>
                </a:solidFill>
              </a:rPr>
              <a:t>Configuration</a:t>
            </a:r>
            <a:endParaRPr lang="en-US" sz="1600" dirty="0"/>
          </a:p>
        </p:txBody>
      </p:sp>
      <p:sp>
        <p:nvSpPr>
          <p:cNvPr id="15" name="Text 12"/>
          <p:cNvSpPr txBox="1"/>
          <p:nvPr/>
        </p:nvSpPr>
        <p:spPr>
          <a:xfrm>
            <a:off x="822960" y="5413248"/>
            <a:ext cx="4846320" cy="502920"/>
          </a:xfrm>
          <a:prstGeom prst="rect">
            <a:avLst/>
          </a:prstGeom>
          <a:noFill/>
          <a:ln/>
        </p:spPr>
        <p:txBody>
          <a:bodyPr wrap="square" lIns="0" tIns="0" rIns="0" bIns="0" rtlCol="0" anchor="t"/>
          <a:lstStyle/>
          <a:p>
            <a:pPr marL="0" indent="0">
              <a:buNone/>
            </a:pPr>
            <a:r>
              <a:rPr lang="en-US" sz="1400" dirty="0">
                <a:solidFill>
                  <a:schemeClr val="tx1"/>
                </a:solidFill>
              </a:rPr>
              <a:t>Same split and random seed for all five models, for a fair comparison.</a:t>
            </a:r>
            <a:endParaRPr lang="en-US" sz="1400" dirty="0"/>
          </a:p>
        </p:txBody>
      </p:sp>
      <p:sp>
        <p:nvSpPr>
          <p:cNvPr id="16" name="Code panel"/>
          <p:cNvSpPr/>
          <p:nvPr/>
        </p:nvSpPr>
        <p:spPr>
          <a:xfrm>
            <a:off x="6217920" y="1371600"/>
            <a:ext cx="5422392" cy="4572000"/>
          </a:xfrm>
          <a:prstGeom prst="roundRect">
            <a:avLst>
              <a:gd name="adj" fmla="val 2400"/>
            </a:avLst>
          </a:prstGeom>
          <a:solidFill>
            <a:schemeClr val="tx1"/>
          </a:solidFill>
          <a:ln/>
        </p:spPr>
        <p:txBody>
          <a:bodyPr/>
          <a:lstStyle/>
          <a:p>
            <a:endParaRPr lang="en-IN"/>
          </a:p>
        </p:txBody>
      </p:sp>
      <p:sp>
        <p:nvSpPr>
          <p:cNvPr id="17" name="Text 14"/>
          <p:cNvSpPr txBox="1"/>
          <p:nvPr/>
        </p:nvSpPr>
        <p:spPr>
          <a:xfrm>
            <a:off x="6492240" y="1554480"/>
            <a:ext cx="4846320" cy="274320"/>
          </a:xfrm>
          <a:prstGeom prst="rect">
            <a:avLst/>
          </a:prstGeom>
          <a:noFill/>
          <a:ln/>
        </p:spPr>
        <p:txBody>
          <a:bodyPr wrap="square" lIns="0" tIns="0" rIns="0" bIns="0" rtlCol="0" anchor="t"/>
          <a:lstStyle/>
          <a:p>
            <a:pPr marL="0" indent="0">
              <a:buNone/>
            </a:pPr>
            <a:r>
              <a:rPr lang="en-US" sz="1200" b="1" dirty="0">
                <a:solidFill>
                  <a:schemeClr val="accent2"/>
                </a:solidFill>
              </a:rPr>
              <a:t>Code snippet / pseudocode</a:t>
            </a:r>
            <a:endParaRPr lang="en-US" sz="1200" dirty="0"/>
          </a:p>
        </p:txBody>
      </p:sp>
      <p:sp>
        <p:nvSpPr>
          <p:cNvPr id="18" name="Text 15"/>
          <p:cNvSpPr txBox="1"/>
          <p:nvPr/>
        </p:nvSpPr>
        <p:spPr>
          <a:xfrm>
            <a:off x="6492240" y="1965960"/>
            <a:ext cx="4937760" cy="3749040"/>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 Train and compare the five models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models = {</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"LogReg": LogisticRegression(max_iter=1000),</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"Tree": DecisionTreeClassifier(),</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"Forest": RandomForestClassifier(),</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"KNN": KNeighborsClassifier(),</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"NaiveBayes": GaussianNB()}</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for name, m in models.items():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pipe = Pipeline([("prep", preprocessor),</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("model", m)])</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pipe.fit(X_train, y_train)</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report(name, y_test, pipe.predict(X_test))</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Working Prototype / Output Screens</a:t>
            </a:r>
            <a:endParaRPr lang="en-US" sz="3200" dirty="0"/>
          </a:p>
        </p:txBody>
      </p:sp>
      <p:sp>
        <p:nvSpPr>
          <p:cNvPr id="4" name="Placeholder – replace with picture"/>
          <p:cNvSpPr/>
          <p:nvPr/>
        </p:nvSpPr>
        <p:spPr>
          <a:xfrm>
            <a:off x="548640" y="1371600"/>
            <a:ext cx="3520440" cy="370332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[Paste screenshot: Health Trends Explorer]</a:t>
            </a:r>
            <a:endParaRPr lang="en-US" sz="1400" dirty="0"/>
          </a:p>
        </p:txBody>
      </p:sp>
      <p:sp>
        <p:nvSpPr>
          <p:cNvPr id="5" name="Text 2"/>
          <p:cNvSpPr txBox="1"/>
          <p:nvPr/>
        </p:nvSpPr>
        <p:spPr>
          <a:xfrm>
            <a:off x="548640" y="5257800"/>
            <a:ext cx="3520440" cy="822960"/>
          </a:xfrm>
          <a:prstGeom prst="rect">
            <a:avLst/>
          </a:prstGeom>
          <a:noFill/>
          <a:ln/>
        </p:spPr>
        <p:txBody>
          <a:bodyPr wrap="square" lIns="0" tIns="0" rIns="0" bIns="0" rtlCol="0" anchor="t"/>
          <a:lstStyle/>
          <a:p>
            <a:pPr marL="0" indent="0">
              <a:buNone/>
            </a:pPr>
            <a:r>
              <a:rPr lang="en-US" sz="1400" b="1" dirty="0">
                <a:solidFill>
                  <a:schemeClr val="tx2"/>
                </a:solidFill>
              </a:rPr>
              <a:t>Health Trends Explorer</a:t>
            </a:r>
            <a:endParaRPr lang="en-US" sz="1400" dirty="0"/>
          </a:p>
          <a:p>
            <a:pPr marL="0" indent="0">
              <a:buNone/>
            </a:pPr>
            <a:r>
              <a:rPr lang="en-US" sz="1400" dirty="0">
                <a:solidFill>
                  <a:schemeClr val="tx1"/>
                </a:solidFill>
              </a:rPr>
              <a:t>Filter indicators by region and demographic group</a:t>
            </a:r>
            <a:endParaRPr lang="en-US" sz="1400" dirty="0"/>
          </a:p>
        </p:txBody>
      </p:sp>
      <p:sp>
        <p:nvSpPr>
          <p:cNvPr id="6" name="Placeholder – replace with picture"/>
          <p:cNvSpPr/>
          <p:nvPr/>
        </p:nvSpPr>
        <p:spPr>
          <a:xfrm>
            <a:off x="4334256" y="1371600"/>
            <a:ext cx="3520440" cy="370332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[Paste screenshot: Risk Prediction]</a:t>
            </a:r>
            <a:endParaRPr lang="en-US" sz="1400" dirty="0"/>
          </a:p>
        </p:txBody>
      </p:sp>
      <p:sp>
        <p:nvSpPr>
          <p:cNvPr id="7" name="Text 4"/>
          <p:cNvSpPr txBox="1"/>
          <p:nvPr/>
        </p:nvSpPr>
        <p:spPr>
          <a:xfrm>
            <a:off x="4334256" y="5257800"/>
            <a:ext cx="3520440" cy="822960"/>
          </a:xfrm>
          <a:prstGeom prst="rect">
            <a:avLst/>
          </a:prstGeom>
          <a:noFill/>
          <a:ln/>
        </p:spPr>
        <p:txBody>
          <a:bodyPr wrap="square" lIns="0" tIns="0" rIns="0" bIns="0" rtlCol="0" anchor="t"/>
          <a:lstStyle/>
          <a:p>
            <a:pPr marL="0" indent="0">
              <a:buNone/>
            </a:pPr>
            <a:r>
              <a:rPr lang="en-US" sz="1400" b="1" dirty="0">
                <a:solidFill>
                  <a:schemeClr val="tx2"/>
                </a:solidFill>
              </a:rPr>
              <a:t>Risk Prediction</a:t>
            </a:r>
            <a:endParaRPr lang="en-US" sz="1400" dirty="0"/>
          </a:p>
          <a:p>
            <a:pPr marL="0" indent="0">
              <a:buNone/>
            </a:pPr>
            <a:r>
              <a:rPr lang="en-US" sz="1400" dirty="0">
                <a:solidFill>
                  <a:schemeClr val="tx1"/>
                </a:solidFill>
              </a:rPr>
              <a:t>Enter health parameters to get a predicted risk</a:t>
            </a:r>
            <a:endParaRPr lang="en-US" sz="1400" dirty="0"/>
          </a:p>
        </p:txBody>
      </p:sp>
      <p:sp>
        <p:nvSpPr>
          <p:cNvPr id="8" name="Placeholder – replace with picture"/>
          <p:cNvSpPr/>
          <p:nvPr/>
        </p:nvSpPr>
        <p:spPr>
          <a:xfrm>
            <a:off x="8119872" y="1371600"/>
            <a:ext cx="3520440" cy="370332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[Paste screenshot: Model Performance]</a:t>
            </a:r>
            <a:endParaRPr lang="en-US" sz="1400" dirty="0"/>
          </a:p>
        </p:txBody>
      </p:sp>
      <p:sp>
        <p:nvSpPr>
          <p:cNvPr id="9" name="Text 6"/>
          <p:cNvSpPr txBox="1"/>
          <p:nvPr/>
        </p:nvSpPr>
        <p:spPr>
          <a:xfrm>
            <a:off x="8119872" y="5257800"/>
            <a:ext cx="3520440" cy="822960"/>
          </a:xfrm>
          <a:prstGeom prst="rect">
            <a:avLst/>
          </a:prstGeom>
          <a:noFill/>
          <a:ln/>
        </p:spPr>
        <p:txBody>
          <a:bodyPr wrap="square" lIns="0" tIns="0" rIns="0" bIns="0" rtlCol="0" anchor="t"/>
          <a:lstStyle/>
          <a:p>
            <a:pPr marL="0" indent="0">
              <a:buNone/>
            </a:pPr>
            <a:r>
              <a:rPr lang="en-US" sz="1400" b="1" dirty="0">
                <a:solidFill>
                  <a:schemeClr val="tx2"/>
                </a:solidFill>
              </a:rPr>
              <a:t>Model Performance</a:t>
            </a:r>
            <a:endParaRPr lang="en-US" sz="1400" dirty="0"/>
          </a:p>
          <a:p>
            <a:pPr marL="0" indent="0">
              <a:buNone/>
            </a:pPr>
            <a:r>
              <a:rPr lang="en-US" sz="1400" dirty="0">
                <a:solidFill>
                  <a:schemeClr val="tx1"/>
                </a:solidFill>
              </a:rPr>
              <a:t>Compare accuracy, precision, recall, F1 and confusion matrix</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Results &amp; Performance Comparison</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309360" y="1371600"/>
          <a:ext cx="5330952" cy="2743200"/>
        </p:xfrm>
        <a:graphic>
          <a:graphicData uri="http://schemas.openxmlformats.org/drawingml/2006/table">
            <a:tbl>
              <a:tblPr/>
              <a:tblGrid>
                <a:gridCol w="1600200">
                  <a:extLst>
                    <a:ext uri="{9D8B030D-6E8A-4147-A177-3AD203B41FA5}">
                      <a16:colId xmlns:a16="http://schemas.microsoft.com/office/drawing/2014/main" val="20000"/>
                    </a:ext>
                  </a:extLst>
                </a:gridCol>
                <a:gridCol w="932688">
                  <a:extLst>
                    <a:ext uri="{9D8B030D-6E8A-4147-A177-3AD203B41FA5}">
                      <a16:colId xmlns:a16="http://schemas.microsoft.com/office/drawing/2014/main" val="20001"/>
                    </a:ext>
                  </a:extLst>
                </a:gridCol>
                <a:gridCol w="932688">
                  <a:extLst>
                    <a:ext uri="{9D8B030D-6E8A-4147-A177-3AD203B41FA5}">
                      <a16:colId xmlns:a16="http://schemas.microsoft.com/office/drawing/2014/main" val="20002"/>
                    </a:ext>
                  </a:extLst>
                </a:gridCol>
                <a:gridCol w="932688">
                  <a:extLst>
                    <a:ext uri="{9D8B030D-6E8A-4147-A177-3AD203B41FA5}">
                      <a16:colId xmlns:a16="http://schemas.microsoft.com/office/drawing/2014/main" val="20003"/>
                    </a:ext>
                  </a:extLst>
                </a:gridCol>
                <a:gridCol w="932688"/>
              </a:tblGrid>
              <a:tr h="457200">
                <a:tc>
                  <a:txBody>
                    <a:bodyPr/>
                    <a:lstStyle/>
                    <a:p>
                      <a:pPr marL="0" indent="0">
                        <a:buNone/>
                      </a:pPr>
                      <a:r>
                        <a:rPr lang="en-US" sz="1400" b="1" dirty="0">
                          <a:solidFill>
                            <a:srgbClr val="FFFFFF"/>
                          </a:solidFill>
                        </a:rPr>
                        <a:t>Model</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Accuracy</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Precision</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Recall</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F1-score</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1B1F2A"/>
                          </a:solidFill>
                        </a:rPr>
                        <a:t>Logistic Reg.</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1B1F2A"/>
                          </a:solidFill>
                        </a:rPr>
                        <a:t>Decision Tree</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1B1F2A"/>
                          </a:solidFill>
                        </a:rPr>
                        <a:t>Random Forest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1B1F2A"/>
                          </a:solidFill>
                        </a:rPr>
                        <a:t>KNN</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rgbClr val="1B1F2A"/>
                          </a:solidFill>
                        </a:rPr>
                        <a:t>Naïve Bayes</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rd"/>
          <p:cNvSpPr/>
          <p:nvPr/>
        </p:nvSpPr>
        <p:spPr>
          <a:xfrm>
            <a:off x="6309360" y="4343400"/>
            <a:ext cx="5330952" cy="960120"/>
          </a:xfrm>
          <a:prstGeom prst="roundRect">
            <a:avLst>
              <a:gd name="adj" fmla="val 11429"/>
            </a:avLst>
          </a:prstGeom>
          <a:solidFill>
            <a:schemeClr val="accent1"/>
          </a:solidFill>
          <a:ln/>
        </p:spPr>
        <p:txBody>
          <a:bodyPr/>
          <a:lstStyle/>
          <a:p>
            <a:endParaRPr lang="en-IN"/>
          </a:p>
        </p:txBody>
      </p:sp>
      <p:sp>
        <p:nvSpPr>
          <p:cNvPr id="7" name="Text 2"/>
          <p:cNvSpPr txBox="1"/>
          <p:nvPr/>
        </p:nvSpPr>
        <p:spPr>
          <a:xfrm>
            <a:off x="6583680" y="4526280"/>
            <a:ext cx="3959352" cy="502920"/>
          </a:xfrm>
          <a:prstGeom prst="rect">
            <a:avLst/>
          </a:prstGeom>
          <a:noFill/>
          <a:ln/>
        </p:spPr>
        <p:txBody>
          <a:bodyPr wrap="square" lIns="0" tIns="0" rIns="0" bIns="0" rtlCol="0" anchor="ctr"/>
          <a:lstStyle/>
          <a:p>
            <a:pPr marL="0" indent="0">
              <a:buNone/>
            </a:pPr>
            <a:r>
              <a:rPr lang="en-US" sz="1800" b="1" dirty="0">
                <a:solidFill>
                  <a:schemeClr val="bg1"/>
                </a:solidFill>
              </a:rPr>
              <a:t>Best: model with highest F1-score</a:t>
            </a:r>
            <a:endParaRPr lang="en-US" sz="1800" dirty="0"/>
          </a:p>
        </p:txBody>
      </p:sp>
      <p:sp>
        <p:nvSpPr>
          <p:cNvPr id="8" name="Text 3"/>
          <p:cNvSpPr txBox="1"/>
          <p:nvPr/>
        </p:nvSpPr>
        <p:spPr>
          <a:xfrm>
            <a:off x="6583680" y="5212080"/>
            <a:ext cx="3959352" cy="0"/>
          </a:xfrm>
          <a:prstGeom prst="rect">
            <a:avLst/>
          </a:prstGeom>
          <a:noFill/>
          <a:ln/>
        </p:spPr>
        <p:txBody>
          <a:bodyPr wrap="square" lIns="0" tIns="0" rIns="0" bIns="0" rtlCol="0" anchor="t"/>
          <a:lstStyle/>
          <a:p>
            <a:pPr marL="0" indent="0">
              <a:buNone/>
            </a:pPr>
            <a:endParaRPr lang="en-US" sz="1400" dirty="0"/>
          </a:p>
        </p:txBody>
      </p:sp>
      <p:sp>
        <p:nvSpPr>
          <p:cNvPr id="9" name="Text 4"/>
          <p:cNvSpPr txBox="1"/>
          <p:nvPr/>
        </p:nvSpPr>
        <p:spPr>
          <a:xfrm>
            <a:off x="548640" y="5577840"/>
            <a:ext cx="11091672" cy="320040"/>
          </a:xfrm>
          <a:prstGeom prst="rect">
            <a:avLst/>
          </a:prstGeom>
          <a:noFill/>
          <a:ln/>
        </p:spPr>
        <p:txBody>
          <a:bodyPr wrap="square" lIns="0" tIns="0" rIns="0" bIns="0" rtlCol="0" anchor="t"/>
          <a:lstStyle/>
          <a:p>
            <a:pPr marL="0" indent="0">
              <a:buNone/>
            </a:pPr>
            <a:r>
              <a:rPr lang="en-US" sz="1200" i="1" dirty="0">
                <a:solidFill>
                  <a:schemeClr val="accent5"/>
                </a:solidFill>
              </a:rPr>
              <a:t>Table is populated from the final run on the selected dataset; recall is checked to limit missed high-risk cases.</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
        <p:nvSpPr>
          <p:cNvPr id="26" name="Card"/>
          <p:cNvSpPr/>
          <p:nvPr/>
        </p:nvSpPr>
        <p:spPr>
          <a:xfrm>
            <a:off x="548640" y="1371600"/>
            <a:ext cx="5486400" cy="3931920"/>
          </a:xfrm>
          <a:prstGeom prst="roundRect">
            <a:avLst>
              <a:gd name="adj" fmla="val 6000"/>
            </a:avLst>
          </a:prstGeom>
          <a:solidFill>
            <a:schemeClr val="bg2"/>
          </a:solidFill>
          <a:ln>
            <a:noFill/>
          </a:ln>
        </p:spPr>
        <p:txBody>
          <a:bodyPr rtlCol="0" anchor="ctr"/>
          <a:lstStyle/>
          <a:p>
            <a:pPr algn="ctr"/>
          </a:p>
        </p:txBody>
      </p:sp>
      <p:sp>
        <p:nvSpPr>
          <p:cNvPr id="27" name="Text"/>
          <p:cNvSpPr txBox="1"/>
          <p:nvPr/>
        </p:nvSpPr>
        <p:spPr>
          <a:xfrm>
            <a:off x="822960" y="1554480"/>
            <a:ext cx="4800000" cy="400000"/>
          </a:xfrm>
          <a:prstGeom prst="rect">
            <a:avLst/>
          </a:prstGeom>
          <a:noFill/>
        </p:spPr>
        <p:txBody>
          <a:bodyPr wrap="square" lIns="0" rIns="0" tIns="0" bIns="0" anchor="ctr">
            <a:spAutoFit/>
          </a:bodyPr>
          <a:lstStyle/>
          <a:p>
            <a:pPr>
              <a:spcAft>
                <a:spcPts val="400"/>
              </a:spcAft>
            </a:pPr>
            <a:r>
              <a:rPr sz="1800" b="1">
                <a:solidFill>
                  <a:schemeClr val="tx2"/>
                </a:solidFill>
              </a:rPr>
              <a:t>Evaluation Framework</a:t>
            </a:r>
          </a:p>
        </p:txBody>
      </p:sp>
      <p:sp>
        <p:nvSpPr>
          <p:cNvPr id="28" name="Text"/>
          <p:cNvSpPr txBox="1"/>
          <p:nvPr/>
        </p:nvSpPr>
        <p:spPr>
          <a:xfrm>
            <a:off x="822960" y="2240280"/>
            <a:ext cx="5760720" cy="2900000"/>
          </a:xfrm>
          <a:prstGeom prst="rect">
            <a:avLst/>
          </a:prstGeom>
          <a:noFill/>
        </p:spPr>
        <p:txBody>
          <a:bodyPr wrap="square" lIns="0" rIns="0" tIns="0" bIns="0" anchor="t">
            <a:spAutoFit/>
          </a:bodyPr>
          <a:lstStyle/>
          <a:p>
            <a:pPr>
              <a:spcAft>
                <a:spcPts val="1200"/>
              </a:spcAft>
            </a:pPr>
            <a:r>
              <a:rPr sz="1500" b="1">
                <a:solidFill>
                  <a:schemeClr val="tx1"/>
                </a:solidFill>
              </a:rPr>
              <a:t>Accuracy: </a:t>
            </a:r>
            <a:r>
              <a:rPr sz="1500" b="0">
                <a:solidFill>
                  <a:schemeClr val="tx1"/>
                </a:solidFill>
              </a:rPr>
              <a:t>share of all predictions that are correct</a:t>
            </a:r>
          </a:p>
          <a:p>
            <a:pPr>
              <a:spcAft>
                <a:spcPts val="1200"/>
              </a:spcAft>
            </a:pPr>
            <a:r>
              <a:rPr sz="1500" b="1">
                <a:solidFill>
                  <a:schemeClr val="tx1"/>
                </a:solidFill>
              </a:rPr>
              <a:t>Precision: </a:t>
            </a:r>
            <a:r>
              <a:rPr sz="1500" b="0">
                <a:solidFill>
                  <a:schemeClr val="tx1"/>
                </a:solidFill>
              </a:rPr>
              <a:t>correct share among cases predicted at risk</a:t>
            </a:r>
          </a:p>
          <a:p>
            <a:pPr>
              <a:spcAft>
                <a:spcPts val="1200"/>
              </a:spcAft>
            </a:pPr>
            <a:r>
              <a:rPr sz="1500" b="1">
                <a:solidFill>
                  <a:schemeClr val="tx1"/>
                </a:solidFill>
              </a:rPr>
              <a:t>Recall: </a:t>
            </a:r>
            <a:r>
              <a:rPr sz="1500" b="0">
                <a:solidFill>
                  <a:schemeClr val="tx1"/>
                </a:solidFill>
              </a:rPr>
              <a:t>share of truly at-risk cases that are found</a:t>
            </a:r>
          </a:p>
          <a:p>
            <a:pPr>
              <a:spcAft>
                <a:spcPts val="1200"/>
              </a:spcAft>
            </a:pPr>
            <a:r>
              <a:rPr sz="1500" b="1">
                <a:solidFill>
                  <a:schemeClr val="tx1"/>
                </a:solidFill>
              </a:rPr>
              <a:t>F1-score: </a:t>
            </a:r>
            <a:r>
              <a:rPr sz="1500" b="0">
                <a:solidFill>
                  <a:schemeClr val="tx1"/>
                </a:solidFill>
              </a:rPr>
              <a:t>balance between precision and recall</a:t>
            </a:r>
          </a:p>
          <a:p>
            <a:pPr>
              <a:spcAft>
                <a:spcPts val="1200"/>
              </a:spcAft>
            </a:pPr>
            <a:r>
              <a:rPr sz="1500" b="1">
                <a:solidFill>
                  <a:schemeClr val="tx1"/>
                </a:solidFill>
              </a:rPr>
              <a:t>Confusion matrix: </a:t>
            </a:r>
            <a:r>
              <a:rPr sz="1500" b="0">
                <a:solidFill>
                  <a:schemeClr val="tx1"/>
                </a:solidFill>
              </a:rPr>
              <a:t>true/false positives and negatives per model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Analysis &amp; Key Findings</a:t>
            </a:r>
            <a:endParaRPr lang="en-US" sz="3200" dirty="0"/>
          </a:p>
        </p:txBody>
      </p:sp>
      <p:sp>
        <p:nvSpPr>
          <p:cNvPr id="4" name="Placeholder – replace with picture"/>
          <p:cNvSpPr/>
          <p:nvPr/>
        </p:nvSpPr>
        <p:spPr>
          <a:xfrm>
            <a:off x="548640" y="1371600"/>
            <a:ext cx="5943600" cy="475488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confusion matrix of the best model]</a:t>
            </a:r>
            <a:endParaRPr lang="en-US" sz="1400" dirty="0"/>
          </a:p>
        </p:txBody>
      </p:sp>
      <p:sp>
        <p:nvSpPr>
          <p:cNvPr id="5" name="Card"/>
          <p:cNvSpPr/>
          <p:nvPr/>
        </p:nvSpPr>
        <p:spPr>
          <a:xfrm>
            <a:off x="6766560" y="1371600"/>
            <a:ext cx="4873752" cy="1645920"/>
          </a:xfrm>
          <a:prstGeom prst="roundRect">
            <a:avLst>
              <a:gd name="adj" fmla="val 6667"/>
            </a:avLst>
          </a:prstGeom>
          <a:solidFill>
            <a:schemeClr val="tx2"/>
          </a:solidFill>
          <a:ln/>
        </p:spPr>
        <p:txBody>
          <a:bodyPr/>
          <a:lstStyle/>
          <a:p>
            <a:endParaRPr lang="en-IN"/>
          </a:p>
        </p:txBody>
      </p:sp>
      <p:sp>
        <p:nvSpPr>
          <p:cNvPr id="6" name="Text 3"/>
          <p:cNvSpPr txBox="1"/>
          <p:nvPr/>
        </p:nvSpPr>
        <p:spPr>
          <a:xfrm>
            <a:off x="7040880" y="1508760"/>
            <a:ext cx="4297680" cy="868680"/>
          </a:xfrm>
          <a:prstGeom prst="rect">
            <a:avLst/>
          </a:prstGeom>
          <a:noFill/>
          <a:ln/>
        </p:spPr>
        <p:txBody>
          <a:bodyPr wrap="square" lIns="0" tIns="0" rIns="0" bIns="0" rtlCol="0" anchor="ctr"/>
          <a:lstStyle/>
          <a:p>
            <a:pPr marL="0" indent="0">
              <a:buNone/>
            </a:pPr>
            <a:r>
              <a:rPr lang="en-US" sz="5400" b="1" dirty="0">
                <a:solidFill>
                  <a:schemeClr val="bg1"/>
                </a:solidFill>
                <a:latin typeface="Cambria" pitchFamily="34" charset="0"/>
                <a:ea typeface="Cambria" pitchFamily="34" charset="-122"/>
                <a:cs typeface="Cambria" pitchFamily="34" charset="-120"/>
              </a:rPr>
              <a:t>[XX.X%]</a:t>
            </a:r>
            <a:endParaRPr lang="en-US" sz="5400" dirty="0"/>
          </a:p>
        </p:txBody>
      </p:sp>
      <p:sp>
        <p:nvSpPr>
          <p:cNvPr id="7" name="Text 4"/>
          <p:cNvSpPr txBox="1"/>
          <p:nvPr/>
        </p:nvSpPr>
        <p:spPr>
          <a:xfrm>
            <a:off x="7040880" y="2423160"/>
            <a:ext cx="4297680" cy="457200"/>
          </a:xfrm>
          <a:prstGeom prst="rect">
            <a:avLst/>
          </a:prstGeom>
          <a:noFill/>
          <a:ln/>
        </p:spPr>
        <p:txBody>
          <a:bodyPr wrap="square" lIns="0" tIns="0" rIns="0" bIns="0" rtlCol="0" anchor="t"/>
          <a:lstStyle/>
          <a:p>
            <a:pPr marL="0" indent="0">
              <a:buNone/>
            </a:pPr>
            <a:r>
              <a:rPr lang="en-US" sz="1600" dirty="0">
                <a:solidFill>
                  <a:schemeClr val="bg2"/>
                </a:solidFill>
              </a:rPr>
              <a:t>Best F1-score achieved by [model name]</a:t>
            </a:r>
            <a:endParaRPr lang="en-US" sz="1600" dirty="0"/>
          </a:p>
        </p:txBody>
      </p:sp>
      <p:sp>
        <p:nvSpPr>
          <p:cNvPr id="8" name="Card"/>
          <p:cNvSpPr/>
          <p:nvPr/>
        </p:nvSpPr>
        <p:spPr>
          <a:xfrm>
            <a:off x="6766560" y="3246120"/>
            <a:ext cx="4873752" cy="2880360"/>
          </a:xfrm>
          <a:prstGeom prst="roundRect">
            <a:avLst>
              <a:gd name="adj" fmla="val 3810"/>
            </a:avLst>
          </a:prstGeom>
          <a:solidFill>
            <a:schemeClr val="bg2"/>
          </a:solidFill>
          <a:ln/>
        </p:spPr>
        <p:txBody>
          <a:bodyPr/>
          <a:lstStyle/>
          <a:p>
            <a:endParaRPr lang="en-IN"/>
          </a:p>
        </p:txBody>
      </p:sp>
      <p:sp>
        <p:nvSpPr>
          <p:cNvPr id="9" name="Text 6"/>
          <p:cNvSpPr txBox="1"/>
          <p:nvPr/>
        </p:nvSpPr>
        <p:spPr>
          <a:xfrm>
            <a:off x="7040880" y="3474720"/>
            <a:ext cx="4343400" cy="2468880"/>
          </a:xfrm>
          <a:prstGeom prst="rect">
            <a:avLst/>
          </a:prstGeom>
          <a:noFill/>
          <a:ln/>
        </p:spPr>
        <p:txBody>
          <a:bodyPr wrap="square" lIns="0" tIns="0" rIns="0" bIns="0" rtlCol="0" anchor="t"/>
          <a:lstStyle/>
          <a:p>
            <a:pPr marL="0" indent="0">
              <a:spcAft>
                <a:spcPts val="1000"/>
              </a:spcAft>
              <a:buNone/>
            </a:pPr>
            <a:r>
              <a:rPr lang="en-US" sz="1600" b="1" dirty="0">
                <a:solidFill>
                  <a:schemeClr val="tx2"/>
                </a:solidFill>
              </a:rPr>
              <a:t>Interpretation: </a:t>
            </a:r>
            <a:r>
              <a:rPr lang="en-US" sz="1600" dirty="0">
                <a:solidFill>
                  <a:schemeClr val="tx1"/>
                </a:solidFill>
              </a:rPr>
              <a:t>compare precision and recall to see false alerts versus missed risks</a:t>
            </a:r>
            <a:endParaRPr lang="en-US" sz="1600" dirty="0"/>
          </a:p>
          <a:p>
            <a:pPr marL="0" indent="0">
              <a:spcAft>
                <a:spcPts val="1000"/>
              </a:spcAft>
              <a:buNone/>
            </a:pPr>
            <a:r>
              <a:rPr lang="en-US" sz="1600" b="1" dirty="0">
                <a:solidFill>
                  <a:schemeClr val="tx2"/>
                </a:solidFill>
              </a:rPr>
              <a:t>Error analysis: </a:t>
            </a:r>
            <a:r>
              <a:rPr lang="en-US" sz="1600" dirty="0">
                <a:solidFill>
                  <a:schemeClr val="tx1"/>
                </a:solidFill>
              </a:rPr>
              <a:t>false negatives (missed high-risk cases) are the costliest errors</a:t>
            </a:r>
            <a:endParaRPr lang="en-US" sz="1600" dirty="0"/>
          </a:p>
          <a:p>
            <a:pPr marL="0" indent="0">
              <a:spcAft>
                <a:spcPts val="1000"/>
              </a:spcAft>
              <a:buNone/>
            </a:pPr>
            <a:r>
              <a:rPr lang="en-US" sz="1600" b="1" dirty="0">
                <a:solidFill>
                  <a:schemeClr val="tx2"/>
                </a:solidFill>
              </a:rPr>
              <a:t>Key drivers: </a:t>
            </a:r>
            <a:r>
              <a:rPr lang="en-US" sz="1600" dirty="0">
                <a:solidFill>
                  <a:schemeClr val="tx1"/>
                </a:solidFill>
              </a:rPr>
              <a:t>feature importance from Random Forest and Logistic Regression coefficients</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Testing &amp; Validation</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2468880"/>
        </p:xfrm>
        <a:graphic>
          <a:graphicData uri="http://schemas.openxmlformats.org/drawingml/2006/table">
            <a:tbl>
              <a:tblPr/>
              <a:tblGrid>
                <a:gridCol w="11887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1307592">
                  <a:extLst>
                    <a:ext uri="{9D8B030D-6E8A-4147-A177-3AD203B41FA5}">
                      <a16:colId xmlns:a16="http://schemas.microsoft.com/office/drawing/2014/main" val="20004"/>
                    </a:ext>
                  </a:extLst>
                </a:gridCol>
              </a:tblGrid>
              <a:tr h="457200">
                <a:tc>
                  <a:txBody>
                    <a:bodyPr/>
                    <a:lstStyle/>
                    <a:p>
                      <a:pPr marL="0" indent="0">
                        <a:buNone/>
                      </a:pPr>
                      <a:r>
                        <a:rPr lang="en-US" sz="1400" b="1" dirty="0">
                          <a:solidFill>
                            <a:srgbClr val="FFFFFF"/>
                          </a:solidFill>
                        </a:rPr>
                        <a:t>Test ID</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Test Description</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Expected Result</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Actual Result</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Status</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02920">
                <a:tc>
                  <a:txBody>
                    <a:bodyPr/>
                    <a:lstStyle/>
                    <a:p>
                      <a:pPr marL="0" indent="0" algn="ctr">
                        <a:buNone/>
                      </a:pPr>
                      <a:r>
                        <a:rPr lang="en-US" sz="1400" dirty="0">
                          <a:solidFill>
                            <a:srgbClr val="1B1F2A"/>
                          </a:solidFill>
                        </a:rPr>
                        <a:t>TC-01</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Dataset ingestion</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Data loads with correct schema</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[Record result]</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[Pass / Fail]</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400" dirty="0">
                          <a:solidFill>
                            <a:srgbClr val="1B1F2A"/>
                          </a:solidFill>
                        </a:rPr>
                        <a:t>TC-02</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Missing-value and duplicate handling</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No nulls or duplicates remain</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[Record result]</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[Pass / Fail]</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ctr">
                        <a:buNone/>
                      </a:pPr>
                      <a:r>
                        <a:rPr lang="en-US" sz="1400" dirty="0">
                          <a:solidFill>
                            <a:srgbClr val="1B1F2A"/>
                          </a:solidFill>
                        </a:rPr>
                        <a:t>TC-03</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Training of all five models</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Each model trains and predicts</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[Record result]</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[Pass / Fail]</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lang="en-US" sz="1400" dirty="0">
                          <a:solidFill>
                            <a:srgbClr val="1B1F2A"/>
                          </a:solidFill>
                        </a:rPr>
                        <a:t>TC-04</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Dashboard risk prediction</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Valid risk output for chosen inputs</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[Record result]</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[Pass / Fail]</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Card"/>
          <p:cNvSpPr/>
          <p:nvPr/>
        </p:nvSpPr>
        <p:spPr>
          <a:xfrm>
            <a:off x="548640" y="4297680"/>
            <a:ext cx="3520440" cy="1783080"/>
          </a:xfrm>
          <a:prstGeom prst="roundRect">
            <a:avLst>
              <a:gd name="adj" fmla="val 6154"/>
            </a:avLst>
          </a:prstGeom>
          <a:solidFill>
            <a:schemeClr val="bg2"/>
          </a:solidFill>
          <a:ln/>
        </p:spPr>
        <p:txBody>
          <a:bodyPr/>
          <a:lstStyle/>
          <a:p>
            <a:endParaRPr lang="en-IN"/>
          </a:p>
        </p:txBody>
      </p:sp>
      <p:sp>
        <p:nvSpPr>
          <p:cNvPr id="6" name="Icon badge"/>
          <p:cNvSpPr/>
          <p:nvPr/>
        </p:nvSpPr>
        <p:spPr>
          <a:xfrm>
            <a:off x="822960" y="4480560"/>
            <a:ext cx="502920" cy="502920"/>
          </a:xfrm>
          <a:prstGeom prst="ellipse">
            <a:avLst/>
          </a:prstGeom>
          <a:solidFill>
            <a:schemeClr val="accent1"/>
          </a:solidFill>
          <a:ln/>
        </p:spPr>
        <p:txBody>
          <a:bodyPr/>
          <a:lstStyle/>
          <a:p>
            <a:endParaRPr lang="en-IN"/>
          </a:p>
        </p:txBody>
      </p:sp>
      <p:pic>
        <p:nvPicPr>
          <p:cNvPr id="7" name="Image 0" descr="CheckCircle icon"/>
          <p:cNvPicPr>
            <a:picLocks noChangeAspect="1"/>
          </p:cNvPicPr>
          <p:nvPr/>
        </p:nvPicPr>
        <p:blipFill>
          <a:blip r:embed="rId3"/>
          <a:stretch>
            <a:fillRect/>
          </a:stretch>
        </p:blipFill>
        <p:spPr>
          <a:xfrm>
            <a:off x="933602" y="4591202"/>
            <a:ext cx="281635" cy="281635"/>
          </a:xfrm>
          <a:prstGeom prst="rect">
            <a:avLst/>
          </a:prstGeom>
        </p:spPr>
      </p:pic>
      <p:sp>
        <p:nvSpPr>
          <p:cNvPr id="8" name="Text 3"/>
          <p:cNvSpPr txBox="1"/>
          <p:nvPr/>
        </p:nvSpPr>
        <p:spPr>
          <a:xfrm>
            <a:off x="1508760" y="448056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Functional Testing</a:t>
            </a:r>
            <a:endParaRPr lang="en-US" sz="1800" dirty="0"/>
          </a:p>
        </p:txBody>
      </p:sp>
      <p:sp>
        <p:nvSpPr>
          <p:cNvPr id="9" name="Text 4"/>
          <p:cNvSpPr txBox="1"/>
          <p:nvPr/>
        </p:nvSpPr>
        <p:spPr>
          <a:xfrm>
            <a:off x="822960" y="5166360"/>
            <a:ext cx="2971800" cy="777240"/>
          </a:xfrm>
          <a:prstGeom prst="rect">
            <a:avLst/>
          </a:prstGeom>
          <a:noFill/>
          <a:ln/>
        </p:spPr>
        <p:txBody>
          <a:bodyPr wrap="square" lIns="0" tIns="0" rIns="0" bIns="0" rtlCol="0" anchor="t"/>
          <a:lstStyle/>
          <a:p>
            <a:pPr marL="0" indent="0">
              <a:buNone/>
            </a:pPr>
            <a:r>
              <a:rPr lang="en-US" sz="1400" dirty="0">
                <a:solidFill>
                  <a:schemeClr val="tx1"/>
                </a:solidFill>
              </a:rPr>
              <a:t>Pipeline stages and dashboard inputs tested end to end.</a:t>
            </a:r>
            <a:endParaRPr lang="en-US" sz="1400" dirty="0"/>
          </a:p>
        </p:txBody>
      </p:sp>
      <p:sp>
        <p:nvSpPr>
          <p:cNvPr id="10" name="Card"/>
          <p:cNvSpPr/>
          <p:nvPr/>
        </p:nvSpPr>
        <p:spPr>
          <a:xfrm>
            <a:off x="4334256" y="4297680"/>
            <a:ext cx="3520440" cy="1783080"/>
          </a:xfrm>
          <a:prstGeom prst="roundRect">
            <a:avLst>
              <a:gd name="adj" fmla="val 6154"/>
            </a:avLst>
          </a:prstGeom>
          <a:solidFill>
            <a:schemeClr val="bg2"/>
          </a:solidFill>
          <a:ln/>
        </p:spPr>
        <p:txBody>
          <a:bodyPr/>
          <a:lstStyle/>
          <a:p>
            <a:endParaRPr lang="en-IN"/>
          </a:p>
        </p:txBody>
      </p:sp>
      <p:sp>
        <p:nvSpPr>
          <p:cNvPr id="11" name="Icon badge"/>
          <p:cNvSpPr/>
          <p:nvPr/>
        </p:nvSpPr>
        <p:spPr>
          <a:xfrm>
            <a:off x="4608576" y="4480560"/>
            <a:ext cx="502920" cy="502920"/>
          </a:xfrm>
          <a:prstGeom prst="ellipse">
            <a:avLst/>
          </a:prstGeom>
          <a:solidFill>
            <a:schemeClr val="accent1"/>
          </a:solidFill>
          <a:ln/>
        </p:spPr>
        <p:txBody>
          <a:bodyPr/>
          <a:lstStyle/>
          <a:p>
            <a:endParaRPr lang="en-IN"/>
          </a:p>
        </p:txBody>
      </p:sp>
      <p:pic>
        <p:nvPicPr>
          <p:cNvPr id="12" name="Image 1" descr="SyncAlt icon"/>
          <p:cNvPicPr>
            <a:picLocks noChangeAspect="1"/>
          </p:cNvPicPr>
          <p:nvPr/>
        </p:nvPicPr>
        <p:blipFill>
          <a:blip r:embed="rId4"/>
          <a:stretch>
            <a:fillRect/>
          </a:stretch>
        </p:blipFill>
        <p:spPr>
          <a:xfrm>
            <a:off x="4719218" y="4591202"/>
            <a:ext cx="281635" cy="281635"/>
          </a:xfrm>
          <a:prstGeom prst="rect">
            <a:avLst/>
          </a:prstGeom>
        </p:spPr>
      </p:pic>
      <p:sp>
        <p:nvSpPr>
          <p:cNvPr id="13" name="Text 7"/>
          <p:cNvSpPr txBox="1"/>
          <p:nvPr/>
        </p:nvSpPr>
        <p:spPr>
          <a:xfrm>
            <a:off x="5294376" y="448056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Validation Method</a:t>
            </a:r>
            <a:endParaRPr lang="en-US" sz="1800" dirty="0"/>
          </a:p>
        </p:txBody>
      </p:sp>
      <p:sp>
        <p:nvSpPr>
          <p:cNvPr id="14" name="Text 8"/>
          <p:cNvSpPr txBox="1"/>
          <p:nvPr/>
        </p:nvSpPr>
        <p:spPr>
          <a:xfrm>
            <a:off x="4608576" y="5166360"/>
            <a:ext cx="2971800" cy="777240"/>
          </a:xfrm>
          <a:prstGeom prst="rect">
            <a:avLst/>
          </a:prstGeom>
          <a:noFill/>
          <a:ln/>
        </p:spPr>
        <p:txBody>
          <a:bodyPr wrap="square" lIns="0" tIns="0" rIns="0" bIns="0" rtlCol="0" anchor="t"/>
          <a:lstStyle/>
          <a:p>
            <a:pPr marL="0" indent="0">
              <a:buNone/>
            </a:pPr>
            <a:r>
              <a:rPr lang="en-US" sz="1400" dirty="0">
                <a:solidFill>
                  <a:schemeClr val="tx1"/>
                </a:solidFill>
              </a:rPr>
              <a:t>Train–test split with cross-validation on every model.</a:t>
            </a:r>
            <a:endParaRPr lang="en-US" sz="1400" dirty="0"/>
          </a:p>
        </p:txBody>
      </p:sp>
      <p:sp>
        <p:nvSpPr>
          <p:cNvPr id="15" name="Card"/>
          <p:cNvSpPr/>
          <p:nvPr/>
        </p:nvSpPr>
        <p:spPr>
          <a:xfrm>
            <a:off x="8119872" y="4297680"/>
            <a:ext cx="3520440" cy="1783080"/>
          </a:xfrm>
          <a:prstGeom prst="roundRect">
            <a:avLst>
              <a:gd name="adj" fmla="val 6154"/>
            </a:avLst>
          </a:prstGeom>
          <a:solidFill>
            <a:schemeClr val="bg2"/>
          </a:solidFill>
          <a:ln/>
        </p:spPr>
        <p:txBody>
          <a:bodyPr/>
          <a:lstStyle/>
          <a:p>
            <a:endParaRPr lang="en-IN"/>
          </a:p>
        </p:txBody>
      </p:sp>
      <p:sp>
        <p:nvSpPr>
          <p:cNvPr id="16" name="Icon badge"/>
          <p:cNvSpPr/>
          <p:nvPr/>
        </p:nvSpPr>
        <p:spPr>
          <a:xfrm>
            <a:off x="8394192" y="4480560"/>
            <a:ext cx="502920" cy="502920"/>
          </a:xfrm>
          <a:prstGeom prst="ellipse">
            <a:avLst/>
          </a:prstGeom>
          <a:solidFill>
            <a:schemeClr val="accent1"/>
          </a:solidFill>
          <a:ln/>
        </p:spPr>
        <p:txBody>
          <a:bodyPr/>
          <a:lstStyle/>
          <a:p>
            <a:endParaRPr lang="en-IN"/>
          </a:p>
        </p:txBody>
      </p:sp>
      <p:pic>
        <p:nvPicPr>
          <p:cNvPr id="17" name="Image 2" descr="ChartLine icon"/>
          <p:cNvPicPr>
            <a:picLocks noChangeAspect="1"/>
          </p:cNvPicPr>
          <p:nvPr/>
        </p:nvPicPr>
        <p:blipFill>
          <a:blip r:embed="rId5"/>
          <a:stretch>
            <a:fillRect/>
          </a:stretch>
        </p:blipFill>
        <p:spPr>
          <a:xfrm>
            <a:off x="8504834" y="4591202"/>
            <a:ext cx="281635" cy="281635"/>
          </a:xfrm>
          <a:prstGeom prst="rect">
            <a:avLst/>
          </a:prstGeom>
        </p:spPr>
      </p:pic>
      <p:sp>
        <p:nvSpPr>
          <p:cNvPr id="18" name="Text 11"/>
          <p:cNvSpPr txBox="1"/>
          <p:nvPr/>
        </p:nvSpPr>
        <p:spPr>
          <a:xfrm>
            <a:off x="9079992" y="448056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Performance Testing</a:t>
            </a:r>
            <a:endParaRPr lang="en-US" sz="1800" dirty="0"/>
          </a:p>
        </p:txBody>
      </p:sp>
      <p:sp>
        <p:nvSpPr>
          <p:cNvPr id="3" name="Text 12"/>
          <p:cNvSpPr txBox="1"/>
          <p:nvPr/>
        </p:nvSpPr>
        <p:spPr>
          <a:xfrm>
            <a:off x="8394192" y="5166360"/>
            <a:ext cx="2971800" cy="777240"/>
          </a:xfrm>
          <a:prstGeom prst="rect">
            <a:avLst/>
          </a:prstGeom>
          <a:noFill/>
          <a:ln/>
        </p:spPr>
        <p:txBody>
          <a:bodyPr wrap="square" lIns="0" tIns="0" rIns="0" bIns="0" rtlCol="0" anchor="t"/>
          <a:lstStyle/>
          <a:p>
            <a:pPr marL="0" indent="0">
              <a:buNone/>
            </a:pPr>
            <a:r>
              <a:rPr lang="en-US" sz="1400" dirty="0">
                <a:solidFill>
                  <a:schemeClr val="tx1"/>
                </a:solidFill>
              </a:rPr>
              <a:t>Accuracy, precision, recall, F1-score and confusion matrix.</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Challenges &amp; Limitations</a:t>
            </a:r>
            <a:endParaRPr lang="en-US" sz="3200" dirty="0"/>
          </a:p>
        </p:txBody>
      </p:sp>
      <p:sp>
        <p:nvSpPr>
          <p:cNvPr id="4" name="Card"/>
          <p:cNvSpPr/>
          <p:nvPr/>
        </p:nvSpPr>
        <p:spPr>
          <a:xfrm>
            <a:off x="548640" y="1371600"/>
            <a:ext cx="5431536" cy="3566160"/>
          </a:xfrm>
          <a:prstGeom prst="roundRect">
            <a:avLst>
              <a:gd name="adj" fmla="val 3077"/>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pic>
        <p:nvPicPr>
          <p:cNvPr id="6" name="Image 0" descr="Mountain icon"/>
          <p:cNvPicPr>
            <a:picLocks noChangeAspect="1"/>
          </p:cNvPicPr>
          <p:nvPr/>
        </p:nvPicPr>
        <p:blipFill>
          <a:blip r:embed="rId3"/>
          <a:stretch>
            <a:fillRect/>
          </a:stretch>
        </p:blipFill>
        <p:spPr>
          <a:xfrm>
            <a:off x="933602" y="1665122"/>
            <a:ext cx="281635" cy="281635"/>
          </a:xfrm>
          <a:prstGeom prst="rect">
            <a:avLst/>
          </a:prstGeom>
        </p:spPr>
      </p:pic>
      <p:sp>
        <p:nvSpPr>
          <p:cNvPr id="7" name="Text 3"/>
          <p:cNvSpPr txBox="1"/>
          <p:nvPr/>
        </p:nvSpPr>
        <p:spPr>
          <a:xfrm>
            <a:off x="1508760" y="1554480"/>
            <a:ext cx="4242816" cy="502920"/>
          </a:xfrm>
          <a:prstGeom prst="rect">
            <a:avLst/>
          </a:prstGeom>
          <a:noFill/>
          <a:ln/>
        </p:spPr>
        <p:txBody>
          <a:bodyPr wrap="square" lIns="0" tIns="0" rIns="0" bIns="0" rtlCol="0" anchor="ctr"/>
          <a:lstStyle/>
          <a:p>
            <a:pPr marL="0" indent="0">
              <a:buNone/>
            </a:pPr>
            <a:r>
              <a:rPr lang="en-US" sz="1800" b="1" dirty="0">
                <a:solidFill>
                  <a:schemeClr val="tx2"/>
                </a:solidFill>
              </a:rPr>
              <a:t>Challenges Faced</a:t>
            </a:r>
            <a:endParaRPr lang="en-US" sz="1800" dirty="0"/>
          </a:p>
        </p:txBody>
      </p:sp>
      <p:sp>
        <p:nvSpPr>
          <p:cNvPr id="8" name="Text 4"/>
          <p:cNvSpPr txBox="1"/>
          <p:nvPr/>
        </p:nvSpPr>
        <p:spPr>
          <a:xfrm>
            <a:off x="822960" y="2240280"/>
            <a:ext cx="4882896" cy="25603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Missing values and outliers → imputation and outlier analysis</a:t>
            </a:r>
            <a:endParaRPr lang="en-US" sz="1600" dirty="0"/>
          </a:p>
          <a:p>
            <a:pPr marL="342900" indent="-342900">
              <a:spcAft>
                <a:spcPts val="1400"/>
              </a:spcAft>
              <a:buSzPct val="100000"/>
              <a:buChar char="•"/>
            </a:pPr>
            <a:r>
              <a:rPr lang="en-US" sz="1600" dirty="0">
                <a:solidFill>
                  <a:schemeClr val="tx1"/>
                </a:solidFill>
              </a:rPr>
              <a:t>Imbalanced risk classes → stratified split, F1 and recall focus</a:t>
            </a:r>
            <a:endParaRPr lang="en-US" sz="1600" dirty="0"/>
          </a:p>
          <a:p>
            <a:pPr marL="342900" indent="-342900">
              <a:spcAft>
                <a:spcPts val="1400"/>
              </a:spcAft>
              <a:buSzPct val="100000"/>
              <a:buChar char="•"/>
            </a:pPr>
            <a:r>
              <a:rPr lang="en-US" sz="1600" dirty="0">
                <a:solidFill>
                  <a:schemeClr val="tx1"/>
                </a:solidFill>
              </a:rPr>
              <a:t>Choosing among five models → compared on common metrics</a:t>
            </a:r>
            <a:endParaRPr lang="en-US" sz="1600" dirty="0"/>
          </a:p>
        </p:txBody>
      </p:sp>
      <p:sp>
        <p:nvSpPr>
          <p:cNvPr id="9" name="Card"/>
          <p:cNvSpPr/>
          <p:nvPr/>
        </p:nvSpPr>
        <p:spPr>
          <a:xfrm>
            <a:off x="6208776" y="1371600"/>
            <a:ext cx="5431536" cy="3566160"/>
          </a:xfrm>
          <a:prstGeom prst="roundRect">
            <a:avLst>
              <a:gd name="adj" fmla="val 3077"/>
            </a:avLst>
          </a:prstGeom>
          <a:solidFill>
            <a:schemeClr val="bg2"/>
          </a:solidFill>
          <a:ln/>
        </p:spPr>
        <p:txBody>
          <a:bodyPr/>
          <a:lstStyle/>
          <a:p>
            <a:endParaRPr lang="en-IN"/>
          </a:p>
        </p:txBody>
      </p:sp>
      <p:sp>
        <p:nvSpPr>
          <p:cNvPr id="10" name="Icon badge"/>
          <p:cNvSpPr/>
          <p:nvPr/>
        </p:nvSpPr>
        <p:spPr>
          <a:xfrm>
            <a:off x="6483096" y="1554480"/>
            <a:ext cx="502920" cy="502920"/>
          </a:xfrm>
          <a:prstGeom prst="ellipse">
            <a:avLst/>
          </a:prstGeom>
          <a:solidFill>
            <a:schemeClr val="accent4"/>
          </a:solidFill>
          <a:ln/>
        </p:spPr>
        <p:txBody>
          <a:bodyPr/>
          <a:lstStyle/>
          <a:p>
            <a:endParaRPr lang="en-IN"/>
          </a:p>
        </p:txBody>
      </p:sp>
      <p:pic>
        <p:nvPicPr>
          <p:cNvPr id="11" name="Image 1" descr="Ban icon"/>
          <p:cNvPicPr>
            <a:picLocks noChangeAspect="1"/>
          </p:cNvPicPr>
          <p:nvPr/>
        </p:nvPicPr>
        <p:blipFill>
          <a:blip r:embed="rId4"/>
          <a:stretch>
            <a:fillRect/>
          </a:stretch>
        </p:blipFill>
        <p:spPr>
          <a:xfrm>
            <a:off x="6593738" y="1665122"/>
            <a:ext cx="281635" cy="281635"/>
          </a:xfrm>
          <a:prstGeom prst="rect">
            <a:avLst/>
          </a:prstGeom>
        </p:spPr>
      </p:pic>
      <p:sp>
        <p:nvSpPr>
          <p:cNvPr id="12" name="Text 7"/>
          <p:cNvSpPr txBox="1"/>
          <p:nvPr/>
        </p:nvSpPr>
        <p:spPr>
          <a:xfrm>
            <a:off x="7168896" y="1554480"/>
            <a:ext cx="4242816" cy="502920"/>
          </a:xfrm>
          <a:prstGeom prst="rect">
            <a:avLst/>
          </a:prstGeom>
          <a:noFill/>
          <a:ln/>
        </p:spPr>
        <p:txBody>
          <a:bodyPr wrap="square" lIns="0" tIns="0" rIns="0" bIns="0" rtlCol="0" anchor="ctr"/>
          <a:lstStyle/>
          <a:p>
            <a:pPr marL="0" indent="0">
              <a:buNone/>
            </a:pPr>
            <a:r>
              <a:rPr lang="en-US" sz="1800" b="1" dirty="0">
                <a:solidFill>
                  <a:schemeClr val="tx2"/>
                </a:solidFill>
              </a:rPr>
              <a:t>Limitations</a:t>
            </a:r>
            <a:endParaRPr lang="en-US" sz="1800" dirty="0"/>
          </a:p>
        </p:txBody>
      </p:sp>
      <p:sp>
        <p:nvSpPr>
          <p:cNvPr id="13" name="Text 8"/>
          <p:cNvSpPr txBox="1"/>
          <p:nvPr/>
        </p:nvSpPr>
        <p:spPr>
          <a:xfrm>
            <a:off x="6483096" y="2240280"/>
            <a:ext cx="4882896" cy="25603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Relies on public datasets; survey data may be self-reported</a:t>
            </a:r>
            <a:endParaRPr lang="en-US" sz="1600" dirty="0"/>
          </a:p>
          <a:p>
            <a:pPr marL="342900" indent="-342900">
              <a:spcAft>
                <a:spcPts val="1400"/>
              </a:spcAft>
              <a:buSzPct val="100000"/>
              <a:buChar char="•"/>
            </a:pPr>
            <a:r>
              <a:rPr lang="en-US" sz="1600" dirty="0">
                <a:solidFill>
                  <a:schemeClr val="tx1"/>
                </a:solidFill>
              </a:rPr>
              <a:t>Predictions are risk indicators, not clinical diagnoses</a:t>
            </a:r>
            <a:endParaRPr lang="en-US" sz="1600" dirty="0"/>
          </a:p>
          <a:p>
            <a:pPr marL="342900" indent="-342900">
              <a:spcAft>
                <a:spcPts val="1400"/>
              </a:spcAft>
              <a:buSzPct val="100000"/>
              <a:buChar char="•"/>
            </a:pPr>
            <a:r>
              <a:rPr lang="en-US" sz="1600" dirty="0">
                <a:solidFill>
                  <a:schemeClr val="tx1"/>
                </a:solidFill>
              </a:rPr>
              <a:t>No live hospital or wearable data feeds yet</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Conclusion</a:t>
            </a:r>
            <a:endParaRPr lang="en-US" sz="3200" dirty="0"/>
          </a:p>
        </p:txBody>
      </p:sp>
      <p:sp>
        <p:nvSpPr>
          <p:cNvPr id="4" name="Card"/>
          <p:cNvSpPr/>
          <p:nvPr/>
        </p:nvSpPr>
        <p:spPr>
          <a:xfrm>
            <a:off x="548640" y="1371600"/>
            <a:ext cx="6766560" cy="1417320"/>
          </a:xfrm>
          <a:prstGeom prst="roundRect">
            <a:avLst>
              <a:gd name="adj" fmla="val 7742"/>
            </a:avLst>
          </a:prstGeom>
          <a:solidFill>
            <a:schemeClr val="bg2"/>
          </a:solidFill>
          <a:ln/>
        </p:spPr>
        <p:txBody>
          <a:bodyPr/>
          <a:lstStyle/>
          <a:p>
            <a:endParaRPr lang="en-IN"/>
          </a:p>
        </p:txBody>
      </p:sp>
      <p:sp>
        <p:nvSpPr>
          <p:cNvPr id="5" name="Number badge"/>
          <p:cNvSpPr/>
          <p:nvPr/>
        </p:nvSpPr>
        <p:spPr>
          <a:xfrm>
            <a:off x="822960" y="182880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600200" y="1508760"/>
            <a:ext cx="5486400" cy="1143000"/>
          </a:xfrm>
          <a:prstGeom prst="rect">
            <a:avLst/>
          </a:prstGeom>
          <a:noFill/>
          <a:ln/>
        </p:spPr>
        <p:txBody>
          <a:bodyPr wrap="square" lIns="0" tIns="0" rIns="0" bIns="0" rtlCol="0" anchor="ctr"/>
          <a:lstStyle/>
          <a:p>
            <a:pPr marL="0" indent="0">
              <a:buNone/>
            </a:pPr>
            <a:r>
              <a:rPr lang="en-US" sz="1600" dirty="0">
                <a:solidFill>
                  <a:schemeClr val="tx1"/>
                </a:solidFill>
              </a:rPr>
              <a:t>HealthScope is an end-to-end public health analytics system built in Python on public datasets such as NFHS.</a:t>
            </a:r>
            <a:endParaRPr lang="en-US" sz="1600" dirty="0"/>
          </a:p>
        </p:txBody>
      </p:sp>
      <p:sp>
        <p:nvSpPr>
          <p:cNvPr id="7" name="Card"/>
          <p:cNvSpPr/>
          <p:nvPr/>
        </p:nvSpPr>
        <p:spPr>
          <a:xfrm>
            <a:off x="548640" y="2971800"/>
            <a:ext cx="6766560" cy="1417320"/>
          </a:xfrm>
          <a:prstGeom prst="roundRect">
            <a:avLst>
              <a:gd name="adj" fmla="val 7742"/>
            </a:avLst>
          </a:prstGeom>
          <a:solidFill>
            <a:schemeClr val="bg2"/>
          </a:solidFill>
          <a:ln/>
        </p:spPr>
        <p:txBody>
          <a:bodyPr/>
          <a:lstStyle/>
          <a:p>
            <a:endParaRPr lang="en-IN"/>
          </a:p>
        </p:txBody>
      </p:sp>
      <p:sp>
        <p:nvSpPr>
          <p:cNvPr id="8" name="Number badge"/>
          <p:cNvSpPr/>
          <p:nvPr/>
        </p:nvSpPr>
        <p:spPr>
          <a:xfrm>
            <a:off x="822960" y="342900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ext 6"/>
          <p:cNvSpPr txBox="1"/>
          <p:nvPr/>
        </p:nvSpPr>
        <p:spPr>
          <a:xfrm>
            <a:off x="1600200" y="3108960"/>
            <a:ext cx="5486400" cy="1143000"/>
          </a:xfrm>
          <a:prstGeom prst="rect">
            <a:avLst/>
          </a:prstGeom>
          <a:noFill/>
          <a:ln/>
        </p:spPr>
        <p:txBody>
          <a:bodyPr wrap="square" lIns="0" tIns="0" rIns="0" bIns="0" rtlCol="0" anchor="ctr"/>
          <a:lstStyle/>
          <a:p>
            <a:pPr marL="0" indent="0">
              <a:buNone/>
            </a:pPr>
            <a:r>
              <a:rPr lang="en-US" sz="1600" dirty="0">
                <a:solidFill>
                  <a:schemeClr val="tx1"/>
                </a:solidFill>
              </a:rPr>
              <a:t>Five classifiers are trained and compared on accuracy, precision, recall, F1-score and confusion matrix.</a:t>
            </a:r>
            <a:endParaRPr lang="en-US" sz="1600" dirty="0"/>
          </a:p>
        </p:txBody>
      </p:sp>
      <p:sp>
        <p:nvSpPr>
          <p:cNvPr id="10" name="Card"/>
          <p:cNvSpPr/>
          <p:nvPr/>
        </p:nvSpPr>
        <p:spPr>
          <a:xfrm>
            <a:off x="548640" y="4572000"/>
            <a:ext cx="6766560" cy="1417320"/>
          </a:xfrm>
          <a:prstGeom prst="roundRect">
            <a:avLst>
              <a:gd name="adj" fmla="val 7742"/>
            </a:avLst>
          </a:prstGeom>
          <a:solidFill>
            <a:schemeClr val="bg2"/>
          </a:solidFill>
          <a:ln/>
        </p:spPr>
        <p:txBody>
          <a:bodyPr/>
          <a:lstStyle/>
          <a:p>
            <a:endParaRPr lang="en-IN"/>
          </a:p>
        </p:txBody>
      </p:sp>
      <p:sp>
        <p:nvSpPr>
          <p:cNvPr id="11" name="Number badge"/>
          <p:cNvSpPr/>
          <p:nvPr/>
        </p:nvSpPr>
        <p:spPr>
          <a:xfrm>
            <a:off x="822960" y="502920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2" name="Text 9"/>
          <p:cNvSpPr txBox="1"/>
          <p:nvPr/>
        </p:nvSpPr>
        <p:spPr>
          <a:xfrm>
            <a:off x="1600200" y="4709160"/>
            <a:ext cx="5486400" cy="1143000"/>
          </a:xfrm>
          <a:prstGeom prst="rect">
            <a:avLst/>
          </a:prstGeom>
          <a:noFill/>
          <a:ln/>
        </p:spPr>
        <p:txBody>
          <a:bodyPr wrap="square" lIns="0" tIns="0" rIns="0" bIns="0" rtlCol="0" anchor="ctr"/>
          <a:lstStyle/>
          <a:p>
            <a:pPr marL="0" indent="0">
              <a:buNone/>
            </a:pPr>
            <a:r>
              <a:rPr lang="en-US" sz="1600" dirty="0">
                <a:solidFill>
                  <a:schemeClr val="tx1"/>
                </a:solidFill>
              </a:rPr>
              <a:t>An interactive dashboard turns results into trends, risk factors and risk predictions for decision-making.</a:t>
            </a:r>
            <a:endParaRPr lang="en-US" sz="1600" dirty="0"/>
          </a:p>
        </p:txBody>
      </p:sp>
      <p:sp>
        <p:nvSpPr>
          <p:cNvPr id="13" name="Card"/>
          <p:cNvSpPr/>
          <p:nvPr/>
        </p:nvSpPr>
        <p:spPr>
          <a:xfrm>
            <a:off x="7589520" y="1371600"/>
            <a:ext cx="4050792" cy="4617720"/>
          </a:xfrm>
          <a:prstGeom prst="roundRect">
            <a:avLst>
              <a:gd name="adj" fmla="val 2709"/>
            </a:avLst>
          </a:prstGeom>
          <a:solidFill>
            <a:schemeClr val="accent1"/>
          </a:solidFill>
          <a:ln/>
        </p:spPr>
        <p:txBody>
          <a:bodyPr/>
          <a:lstStyle/>
          <a:p>
            <a:endParaRPr lang="en-IN"/>
          </a:p>
        </p:txBody>
      </p:sp>
      <p:sp>
        <p:nvSpPr>
          <p:cNvPr id="14" name="Icon badge"/>
          <p:cNvSpPr/>
          <p:nvPr/>
        </p:nvSpPr>
        <p:spPr>
          <a:xfrm>
            <a:off x="7909560" y="1691640"/>
            <a:ext cx="640080" cy="640080"/>
          </a:xfrm>
          <a:prstGeom prst="ellipse">
            <a:avLst/>
          </a:prstGeom>
          <a:solidFill>
            <a:schemeClr val="accent2"/>
          </a:solidFill>
          <a:ln/>
        </p:spPr>
        <p:txBody>
          <a:bodyPr/>
          <a:lstStyle/>
          <a:p>
            <a:endParaRPr lang="en-IN"/>
          </a:p>
        </p:txBody>
      </p:sp>
      <p:pic>
        <p:nvPicPr>
          <p:cNvPr id="15" name="Image 0" descr="Bullseye icon"/>
          <p:cNvPicPr>
            <a:picLocks noChangeAspect="1"/>
          </p:cNvPicPr>
          <p:nvPr/>
        </p:nvPicPr>
        <p:blipFill>
          <a:blip r:embed="rId3"/>
          <a:stretch>
            <a:fillRect/>
          </a:stretch>
        </p:blipFill>
        <p:spPr>
          <a:xfrm>
            <a:off x="8050378" y="1832458"/>
            <a:ext cx="358445" cy="358445"/>
          </a:xfrm>
          <a:prstGeom prst="rect">
            <a:avLst/>
          </a:prstGeom>
        </p:spPr>
      </p:pic>
      <p:sp>
        <p:nvSpPr>
          <p:cNvPr id="16" name="Text 12"/>
          <p:cNvSpPr txBox="1"/>
          <p:nvPr/>
        </p:nvSpPr>
        <p:spPr>
          <a:xfrm>
            <a:off x="7909560" y="2560320"/>
            <a:ext cx="3474720" cy="365760"/>
          </a:xfrm>
          <a:prstGeom prst="rect">
            <a:avLst/>
          </a:prstGeom>
          <a:noFill/>
          <a:ln/>
        </p:spPr>
        <p:txBody>
          <a:bodyPr wrap="square" lIns="0" tIns="0" rIns="0" bIns="0" rtlCol="0" anchor="t"/>
          <a:lstStyle/>
          <a:p>
            <a:pPr marL="0" indent="0">
              <a:buNone/>
            </a:pPr>
            <a:r>
              <a:rPr lang="en-US" sz="2000" b="1" dirty="0">
                <a:solidFill>
                  <a:schemeClr val="bg1"/>
                </a:solidFill>
              </a:rPr>
              <a:t>Final Outcome</a:t>
            </a:r>
            <a:endParaRPr lang="en-US" sz="2000" dirty="0"/>
          </a:p>
        </p:txBody>
      </p:sp>
      <p:sp>
        <p:nvSpPr>
          <p:cNvPr id="17" name="Text 13"/>
          <p:cNvSpPr txBox="1"/>
          <p:nvPr/>
        </p:nvSpPr>
        <p:spPr>
          <a:xfrm>
            <a:off x="7909560" y="3017520"/>
            <a:ext cx="3474720" cy="914400"/>
          </a:xfrm>
          <a:prstGeom prst="rect">
            <a:avLst/>
          </a:prstGeom>
          <a:noFill/>
          <a:ln/>
        </p:spPr>
        <p:txBody>
          <a:bodyPr wrap="square" lIns="0" tIns="0" rIns="0" bIns="0" rtlCol="0" anchor="ctr"/>
          <a:lstStyle/>
          <a:p>
            <a:pPr marL="0" indent="0">
              <a:buNone/>
            </a:pPr>
            <a:r>
              <a:rPr lang="en-US" sz="5400" b="1" dirty="0">
                <a:solidFill>
                  <a:schemeClr val="bg1"/>
                </a:solidFill>
                <a:latin typeface="Cambria" pitchFamily="34" charset="0"/>
                <a:ea typeface="Cambria" pitchFamily="34" charset="-122"/>
                <a:cs typeface="Cambria" pitchFamily="34" charset="-120"/>
              </a:rPr>
              <a:t>5 Models</a:t>
            </a:r>
            <a:endParaRPr lang="en-US" sz="5400" dirty="0"/>
          </a:p>
        </p:txBody>
      </p:sp>
      <p:sp>
        <p:nvSpPr>
          <p:cNvPr id="18" name="Text 14"/>
          <p:cNvSpPr txBox="1"/>
          <p:nvPr/>
        </p:nvSpPr>
        <p:spPr>
          <a:xfrm>
            <a:off x="7909560" y="4114800"/>
            <a:ext cx="3474720" cy="1097280"/>
          </a:xfrm>
          <a:prstGeom prst="rect">
            <a:avLst/>
          </a:prstGeom>
          <a:noFill/>
          <a:ln/>
        </p:spPr>
        <p:txBody>
          <a:bodyPr wrap="square" lIns="0" tIns="0" rIns="0" bIns="0" rtlCol="0" anchor="t"/>
          <a:lstStyle/>
          <a:p>
            <a:pPr marL="0" indent="0">
              <a:buNone/>
            </a:pPr>
            <a:r>
              <a:rPr lang="en-US" sz="1600" dirty="0">
                <a:solidFill>
                  <a:schemeClr val="bg1"/>
                </a:solidFill>
              </a:rPr>
              <a:t>Compared on 5 evaluation metrics inside one end-to-end dashboard platform</a:t>
            </a:r>
            <a:endParaRPr lang="en-US" sz="1600" dirty="0"/>
          </a:p>
          <a:p>
            <a:pPr marL="0" indent="0">
              <a:buNone/>
            </a:pPr>
            <a:r>
              <a:rPr lang="en-US" sz="1600" dirty="0">
                <a:solidFill>
                  <a:schemeClr val="bg1"/>
                </a:solidFill>
              </a:rPr>
              <a:t>Objectives addressed: 4 of 4</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Future Scope &amp; Applications</a:t>
            </a:r>
            <a:endParaRPr lang="en-US" sz="3200" dirty="0"/>
          </a:p>
        </p:txBody>
      </p:sp>
      <p:sp>
        <p:nvSpPr>
          <p:cNvPr id="4" name="Card"/>
          <p:cNvSpPr/>
          <p:nvPr/>
        </p:nvSpPr>
        <p:spPr>
          <a:xfrm>
            <a:off x="548640" y="1371600"/>
            <a:ext cx="6766560" cy="1051560"/>
          </a:xfrm>
          <a:prstGeom prst="roundRect">
            <a:avLst>
              <a:gd name="adj" fmla="val 10435"/>
            </a:avLst>
          </a:prstGeom>
          <a:solidFill>
            <a:schemeClr val="bg2"/>
          </a:solidFill>
          <a:ln/>
        </p:spPr>
        <p:txBody>
          <a:bodyPr/>
          <a:lstStyle/>
          <a:p>
            <a:endParaRPr lang="en-IN"/>
          </a:p>
        </p:txBody>
      </p:sp>
      <p:sp>
        <p:nvSpPr>
          <p:cNvPr id="5" name="Icon badge"/>
          <p:cNvSpPr/>
          <p:nvPr/>
        </p:nvSpPr>
        <p:spPr>
          <a:xfrm>
            <a:off x="822960" y="1645920"/>
            <a:ext cx="502920" cy="502920"/>
          </a:xfrm>
          <a:prstGeom prst="ellipse">
            <a:avLst/>
          </a:prstGeom>
          <a:solidFill>
            <a:schemeClr val="accent1"/>
          </a:solidFill>
          <a:ln/>
        </p:spPr>
        <p:txBody>
          <a:bodyPr/>
          <a:lstStyle/>
          <a:p>
            <a:endParaRPr lang="en-IN"/>
          </a:p>
        </p:txBody>
      </p:sp>
      <p:pic>
        <p:nvPicPr>
          <p:cNvPr id="6" name="Image 0" descr="ChartLine icon"/>
          <p:cNvPicPr>
            <a:picLocks noChangeAspect="1"/>
          </p:cNvPicPr>
          <p:nvPr/>
        </p:nvPicPr>
        <p:blipFill>
          <a:blip r:embed="rId3"/>
          <a:stretch>
            <a:fillRect/>
          </a:stretch>
        </p:blipFill>
        <p:spPr>
          <a:xfrm>
            <a:off x="933602" y="1756562"/>
            <a:ext cx="281635" cy="281635"/>
          </a:xfrm>
          <a:prstGeom prst="rect">
            <a:avLst/>
          </a:prstGeom>
        </p:spPr>
      </p:pic>
      <p:sp>
        <p:nvSpPr>
          <p:cNvPr id="7" name="Text 3"/>
          <p:cNvSpPr txBox="1"/>
          <p:nvPr/>
        </p:nvSpPr>
        <p:spPr>
          <a:xfrm>
            <a:off x="1600200" y="1463040"/>
            <a:ext cx="5486400" cy="868680"/>
          </a:xfrm>
          <a:prstGeom prst="rect">
            <a:avLst/>
          </a:prstGeom>
          <a:noFill/>
          <a:ln/>
        </p:spPr>
        <p:txBody>
          <a:bodyPr wrap="square" lIns="0" tIns="0" rIns="0" bIns="0" rtlCol="0" anchor="ctr"/>
          <a:lstStyle/>
          <a:p>
            <a:pPr marL="0" indent="0">
              <a:buNone/>
            </a:pPr>
            <a:r>
              <a:rPr lang="en-US" sz="1800" b="1" dirty="0">
                <a:solidFill>
                  <a:schemeClr val="tx2"/>
                </a:solidFill>
              </a:rPr>
              <a:t>Improve Performance</a:t>
            </a:r>
            <a:endParaRPr lang="en-US" sz="1400" dirty="0"/>
          </a:p>
          <a:p>
            <a:pPr marL="0" indent="0">
              <a:buNone/>
            </a:pPr>
            <a:r>
              <a:rPr lang="en-US" sz="1400" dirty="0">
                <a:solidFill>
                  <a:schemeClr val="tx1"/>
                </a:solidFill>
              </a:rPr>
              <a:t>Hyperparameter tuning and boosting or ensemble models</a:t>
            </a:r>
            <a:endParaRPr lang="en-US" sz="1400" dirty="0"/>
          </a:p>
        </p:txBody>
      </p:sp>
      <p:sp>
        <p:nvSpPr>
          <p:cNvPr id="8" name="Card"/>
          <p:cNvSpPr/>
          <p:nvPr/>
        </p:nvSpPr>
        <p:spPr>
          <a:xfrm>
            <a:off x="548640" y="2560320"/>
            <a:ext cx="6766560" cy="1051560"/>
          </a:xfrm>
          <a:prstGeom prst="roundRect">
            <a:avLst>
              <a:gd name="adj" fmla="val 10435"/>
            </a:avLst>
          </a:prstGeom>
          <a:solidFill>
            <a:schemeClr val="bg2"/>
          </a:solidFill>
          <a:ln/>
        </p:spPr>
        <p:txBody>
          <a:bodyPr/>
          <a:lstStyle/>
          <a:p>
            <a:endParaRPr lang="en-IN"/>
          </a:p>
        </p:txBody>
      </p:sp>
      <p:sp>
        <p:nvSpPr>
          <p:cNvPr id="9" name="Icon badge"/>
          <p:cNvSpPr/>
          <p:nvPr/>
        </p:nvSpPr>
        <p:spPr>
          <a:xfrm>
            <a:off x="822960" y="2834640"/>
            <a:ext cx="502920" cy="502920"/>
          </a:xfrm>
          <a:prstGeom prst="ellipse">
            <a:avLst/>
          </a:prstGeom>
          <a:solidFill>
            <a:schemeClr val="accent1"/>
          </a:solidFill>
          <a:ln/>
        </p:spPr>
        <p:txBody>
          <a:bodyPr/>
          <a:lstStyle/>
          <a:p>
            <a:endParaRPr lang="en-IN"/>
          </a:p>
        </p:txBody>
      </p:sp>
      <p:pic>
        <p:nvPicPr>
          <p:cNvPr id="10" name="Image 1" descr="Database icon"/>
          <p:cNvPicPr>
            <a:picLocks noChangeAspect="1"/>
          </p:cNvPicPr>
          <p:nvPr/>
        </p:nvPicPr>
        <p:blipFill>
          <a:blip r:embed="rId4"/>
          <a:stretch>
            <a:fillRect/>
          </a:stretch>
        </p:blipFill>
        <p:spPr>
          <a:xfrm>
            <a:off x="933602" y="2945282"/>
            <a:ext cx="281635" cy="281635"/>
          </a:xfrm>
          <a:prstGeom prst="rect">
            <a:avLst/>
          </a:prstGeom>
        </p:spPr>
      </p:pic>
      <p:sp>
        <p:nvSpPr>
          <p:cNvPr id="11" name="Text 6"/>
          <p:cNvSpPr txBox="1"/>
          <p:nvPr/>
        </p:nvSpPr>
        <p:spPr>
          <a:xfrm>
            <a:off x="1600200" y="2651760"/>
            <a:ext cx="5486400" cy="868680"/>
          </a:xfrm>
          <a:prstGeom prst="rect">
            <a:avLst/>
          </a:prstGeom>
          <a:noFill/>
          <a:ln/>
        </p:spPr>
        <p:txBody>
          <a:bodyPr wrap="square" lIns="0" tIns="0" rIns="0" bIns="0" rtlCol="0" anchor="ctr"/>
          <a:lstStyle/>
          <a:p>
            <a:pPr marL="0" indent="0">
              <a:buNone/>
            </a:pPr>
            <a:r>
              <a:rPr lang="en-US" sz="1800" b="1" dirty="0">
                <a:solidFill>
                  <a:schemeClr val="tx2"/>
                </a:solidFill>
              </a:rPr>
              <a:t>Expand Data / Features</a:t>
            </a:r>
            <a:endParaRPr lang="en-US" sz="1400" dirty="0"/>
          </a:p>
          <a:p>
            <a:pPr marL="0" indent="0">
              <a:buNone/>
            </a:pPr>
            <a:r>
              <a:rPr lang="en-US" sz="1400" dirty="0">
                <a:solidFill>
                  <a:schemeClr val="tx1"/>
                </a:solidFill>
              </a:rPr>
              <a:t>More NFHS rounds, diseases and regions</a:t>
            </a:r>
            <a:endParaRPr lang="en-US" sz="1400" dirty="0"/>
          </a:p>
        </p:txBody>
      </p:sp>
      <p:sp>
        <p:nvSpPr>
          <p:cNvPr id="12" name="Card"/>
          <p:cNvSpPr/>
          <p:nvPr/>
        </p:nvSpPr>
        <p:spPr>
          <a:xfrm>
            <a:off x="548640" y="3749040"/>
            <a:ext cx="6766560" cy="1051560"/>
          </a:xfrm>
          <a:prstGeom prst="roundRect">
            <a:avLst>
              <a:gd name="adj" fmla="val 10435"/>
            </a:avLst>
          </a:prstGeom>
          <a:solidFill>
            <a:schemeClr val="bg2"/>
          </a:solidFill>
          <a:ln/>
        </p:spPr>
        <p:txBody>
          <a:bodyPr/>
          <a:lstStyle/>
          <a:p>
            <a:endParaRPr lang="en-IN"/>
          </a:p>
        </p:txBody>
      </p:sp>
      <p:sp>
        <p:nvSpPr>
          <p:cNvPr id="13" name="Icon badge"/>
          <p:cNvSpPr/>
          <p:nvPr/>
        </p:nvSpPr>
        <p:spPr>
          <a:xfrm>
            <a:off x="822960" y="4023360"/>
            <a:ext cx="502920" cy="502920"/>
          </a:xfrm>
          <a:prstGeom prst="ellipse">
            <a:avLst/>
          </a:prstGeom>
          <a:solidFill>
            <a:schemeClr val="accent1"/>
          </a:solidFill>
          <a:ln/>
        </p:spPr>
        <p:txBody>
          <a:bodyPr/>
          <a:lstStyle/>
          <a:p>
            <a:endParaRPr lang="en-IN"/>
          </a:p>
        </p:txBody>
      </p:sp>
      <p:pic>
        <p:nvPicPr>
          <p:cNvPr id="14" name="Image 2" descr="Desktop icon"/>
          <p:cNvPicPr>
            <a:picLocks noChangeAspect="1"/>
          </p:cNvPicPr>
          <p:nvPr/>
        </p:nvPicPr>
        <p:blipFill>
          <a:blip r:embed="rId5"/>
          <a:stretch>
            <a:fillRect/>
          </a:stretch>
        </p:blipFill>
        <p:spPr>
          <a:xfrm>
            <a:off x="933602" y="4134002"/>
            <a:ext cx="281635" cy="281635"/>
          </a:xfrm>
          <a:prstGeom prst="rect">
            <a:avLst/>
          </a:prstGeom>
        </p:spPr>
      </p:pic>
      <p:sp>
        <p:nvSpPr>
          <p:cNvPr id="15" name="Text 9"/>
          <p:cNvSpPr txBox="1"/>
          <p:nvPr/>
        </p:nvSpPr>
        <p:spPr>
          <a:xfrm>
            <a:off x="1600200" y="3840480"/>
            <a:ext cx="5486400" cy="868680"/>
          </a:xfrm>
          <a:prstGeom prst="rect">
            <a:avLst/>
          </a:prstGeom>
          <a:noFill/>
          <a:ln/>
        </p:spPr>
        <p:txBody>
          <a:bodyPr wrap="square" lIns="0" tIns="0" rIns="0" bIns="0" rtlCol="0" anchor="ctr"/>
          <a:lstStyle/>
          <a:p>
            <a:pPr marL="0" indent="0">
              <a:buNone/>
            </a:pPr>
            <a:r>
              <a:rPr lang="en-US" sz="1800" b="1" dirty="0">
                <a:solidFill>
                  <a:schemeClr val="tx2"/>
                </a:solidFill>
              </a:rPr>
              <a:t>Deploy &amp; Build an Interface</a:t>
            </a:r>
            <a:endParaRPr lang="en-US" sz="1400" dirty="0"/>
          </a:p>
          <a:p>
            <a:pPr marL="0" indent="0">
              <a:buNone/>
            </a:pPr>
            <a:r>
              <a:rPr lang="en-US" sz="1400" dirty="0">
                <a:solidFill>
                  <a:schemeClr val="tx1"/>
                </a:solidFill>
              </a:rPr>
              <a:t>Public web dashboard with role-based access and alerts</a:t>
            </a:r>
            <a:endParaRPr lang="en-US" sz="1400" dirty="0"/>
          </a:p>
        </p:txBody>
      </p:sp>
      <p:sp>
        <p:nvSpPr>
          <p:cNvPr id="16" name="Card"/>
          <p:cNvSpPr/>
          <p:nvPr/>
        </p:nvSpPr>
        <p:spPr>
          <a:xfrm>
            <a:off x="548640" y="4937760"/>
            <a:ext cx="6766560" cy="1051560"/>
          </a:xfrm>
          <a:prstGeom prst="roundRect">
            <a:avLst>
              <a:gd name="adj" fmla="val 10435"/>
            </a:avLst>
          </a:prstGeom>
          <a:solidFill>
            <a:schemeClr val="bg2"/>
          </a:solidFill>
          <a:ln/>
        </p:spPr>
        <p:txBody>
          <a:bodyPr/>
          <a:lstStyle/>
          <a:p>
            <a:endParaRPr lang="en-IN"/>
          </a:p>
        </p:txBody>
      </p:sp>
      <p:sp>
        <p:nvSpPr>
          <p:cNvPr id="17" name="Icon badge"/>
          <p:cNvSpPr/>
          <p:nvPr/>
        </p:nvSpPr>
        <p:spPr>
          <a:xfrm>
            <a:off x="822960" y="5212080"/>
            <a:ext cx="502920" cy="502920"/>
          </a:xfrm>
          <a:prstGeom prst="ellipse">
            <a:avLst/>
          </a:prstGeom>
          <a:solidFill>
            <a:schemeClr val="accent1"/>
          </a:solidFill>
          <a:ln/>
        </p:spPr>
        <p:txBody>
          <a:bodyPr/>
          <a:lstStyle/>
          <a:p>
            <a:endParaRPr lang="en-IN"/>
          </a:p>
        </p:txBody>
      </p:sp>
      <p:pic>
        <p:nvPicPr>
          <p:cNvPr id="18" name="Image 3" descr="ShieldAlt icon"/>
          <p:cNvPicPr>
            <a:picLocks noChangeAspect="1"/>
          </p:cNvPicPr>
          <p:nvPr/>
        </p:nvPicPr>
        <p:blipFill>
          <a:blip r:embed="rId6"/>
          <a:stretch>
            <a:fillRect/>
          </a:stretch>
        </p:blipFill>
        <p:spPr>
          <a:xfrm>
            <a:off x="933602" y="5322722"/>
            <a:ext cx="281635" cy="281635"/>
          </a:xfrm>
          <a:prstGeom prst="rect">
            <a:avLst/>
          </a:prstGeom>
        </p:spPr>
      </p:pic>
      <p:sp>
        <p:nvSpPr>
          <p:cNvPr id="19" name="Text 12"/>
          <p:cNvSpPr txBox="1"/>
          <p:nvPr/>
        </p:nvSpPr>
        <p:spPr>
          <a:xfrm>
            <a:off x="1600200" y="5029200"/>
            <a:ext cx="5486400" cy="868680"/>
          </a:xfrm>
          <a:prstGeom prst="rect">
            <a:avLst/>
          </a:prstGeom>
          <a:noFill/>
          <a:ln/>
        </p:spPr>
        <p:txBody>
          <a:bodyPr wrap="square" lIns="0" tIns="0" rIns="0" bIns="0" rtlCol="0" anchor="ctr"/>
          <a:lstStyle/>
          <a:p>
            <a:pPr marL="0" indent="0">
              <a:buNone/>
            </a:pPr>
            <a:r>
              <a:rPr lang="en-US" sz="1800" b="1" dirty="0">
                <a:solidFill>
                  <a:schemeClr val="tx2"/>
                </a:solidFill>
              </a:rPr>
              <a:t>Scale &amp; Secure</a:t>
            </a:r>
            <a:endParaRPr lang="en-US" sz="1400" dirty="0"/>
          </a:p>
          <a:p>
            <a:pPr marL="0" indent="0">
              <a:buNone/>
            </a:pPr>
            <a:r>
              <a:rPr lang="en-US" sz="1400" dirty="0">
                <a:solidFill>
                  <a:schemeClr val="tx1"/>
                </a:solidFill>
              </a:rPr>
              <a:t>Cloud deployment, data privacy and Spark for scale</a:t>
            </a:r>
            <a:endParaRPr lang="en-US" sz="1400" dirty="0"/>
          </a:p>
        </p:txBody>
      </p:sp>
      <p:sp>
        <p:nvSpPr>
          <p:cNvPr id="20" name="Card"/>
          <p:cNvSpPr/>
          <p:nvPr/>
        </p:nvSpPr>
        <p:spPr>
          <a:xfrm>
            <a:off x="7589520" y="1371600"/>
            <a:ext cx="4050792" cy="4617720"/>
          </a:xfrm>
          <a:prstGeom prst="roundRect">
            <a:avLst>
              <a:gd name="adj" fmla="val 2709"/>
            </a:avLst>
          </a:prstGeom>
          <a:solidFill>
            <a:schemeClr val="bg2"/>
          </a:solidFill>
          <a:ln/>
        </p:spPr>
        <p:txBody>
          <a:bodyPr/>
          <a:lstStyle/>
          <a:p>
            <a:endParaRPr lang="en-IN"/>
          </a:p>
        </p:txBody>
      </p:sp>
      <p:sp>
        <p:nvSpPr>
          <p:cNvPr id="21" name="Icon badge"/>
          <p:cNvSpPr/>
          <p:nvPr/>
        </p:nvSpPr>
        <p:spPr>
          <a:xfrm>
            <a:off x="7863840" y="1554480"/>
            <a:ext cx="502920" cy="502920"/>
          </a:xfrm>
          <a:prstGeom prst="ellipse">
            <a:avLst/>
          </a:prstGeom>
          <a:solidFill>
            <a:schemeClr val="accent1"/>
          </a:solidFill>
          <a:ln/>
        </p:spPr>
        <p:txBody>
          <a:bodyPr/>
          <a:lstStyle/>
          <a:p>
            <a:endParaRPr lang="en-IN"/>
          </a:p>
        </p:txBody>
      </p:sp>
      <p:pic>
        <p:nvPicPr>
          <p:cNvPr id="22" name="Image 4" descr="Globe icon"/>
          <p:cNvPicPr>
            <a:picLocks noChangeAspect="1"/>
          </p:cNvPicPr>
          <p:nvPr/>
        </p:nvPicPr>
        <p:blipFill>
          <a:blip r:embed="rId7"/>
          <a:stretch>
            <a:fillRect/>
          </a:stretch>
        </p:blipFill>
        <p:spPr>
          <a:xfrm>
            <a:off x="7974482" y="1665122"/>
            <a:ext cx="281635" cy="281635"/>
          </a:xfrm>
          <a:prstGeom prst="rect">
            <a:avLst/>
          </a:prstGeom>
        </p:spPr>
      </p:pic>
      <p:sp>
        <p:nvSpPr>
          <p:cNvPr id="23" name="Text 15"/>
          <p:cNvSpPr txBox="1"/>
          <p:nvPr/>
        </p:nvSpPr>
        <p:spPr>
          <a:xfrm>
            <a:off x="8549640" y="1554480"/>
            <a:ext cx="2862072" cy="502920"/>
          </a:xfrm>
          <a:prstGeom prst="rect">
            <a:avLst/>
          </a:prstGeom>
          <a:noFill/>
          <a:ln/>
        </p:spPr>
        <p:txBody>
          <a:bodyPr wrap="square" lIns="0" tIns="0" rIns="0" bIns="0" rtlCol="0" anchor="ctr"/>
          <a:lstStyle/>
          <a:p>
            <a:pPr marL="0" indent="0">
              <a:buNone/>
            </a:pPr>
            <a:r>
              <a:rPr lang="en-US" sz="1800" b="1" dirty="0">
                <a:solidFill>
                  <a:schemeClr val="tx2"/>
                </a:solidFill>
              </a:rPr>
              <a:t>Applications</a:t>
            </a:r>
            <a:endParaRPr lang="en-US" sz="1800" dirty="0"/>
          </a:p>
        </p:txBody>
      </p:sp>
      <p:sp>
        <p:nvSpPr>
          <p:cNvPr id="24" name="Text 16"/>
          <p:cNvSpPr txBox="1"/>
          <p:nvPr/>
        </p:nvSpPr>
        <p:spPr>
          <a:xfrm>
            <a:off x="7863840" y="2240280"/>
            <a:ext cx="3502152" cy="36118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Public health monitoring by health officials</a:t>
            </a:r>
            <a:endParaRPr lang="en-US" sz="1600" dirty="0"/>
          </a:p>
          <a:p>
            <a:pPr marL="342900" indent="-342900">
              <a:spcAft>
                <a:spcPts val="1200"/>
              </a:spcAft>
              <a:buSzPct val="100000"/>
              <a:buChar char="•"/>
            </a:pPr>
            <a:r>
              <a:rPr lang="en-US" sz="1600" dirty="0">
                <a:solidFill>
                  <a:schemeClr val="tx1"/>
                </a:solidFill>
              </a:rPr>
              <a:t>Early risk screening for communities</a:t>
            </a:r>
            <a:endParaRPr lang="en-US" sz="1600" dirty="0"/>
          </a:p>
          <a:p>
            <a:pPr marL="342900" indent="-342900">
              <a:spcAft>
                <a:spcPts val="1200"/>
              </a:spcAft>
              <a:buSzPct val="100000"/>
              <a:buChar char="•"/>
            </a:pPr>
            <a:r>
              <a:rPr lang="en-US" sz="1600" dirty="0">
                <a:solidFill>
                  <a:schemeClr val="tx1"/>
                </a:solidFill>
              </a:rPr>
              <a:t>Policy planning and resource allocation</a:t>
            </a:r>
            <a:endParaRPr lang="en-US" sz="1600" dirty="0"/>
          </a:p>
          <a:p>
            <a:pPr marL="342900" indent="-342900">
              <a:spcAft>
                <a:spcPts val="1200"/>
              </a:spcAft>
              <a:buSzPct val="100000"/>
              <a:buChar char="•"/>
            </a:pPr>
            <a:r>
              <a:rPr lang="en-US" sz="1600" dirty="0">
                <a:solidFill>
                  <a:schemeClr val="tx1"/>
                </a:solidFill>
              </a:rPr>
              <a:t>Adopters: health departments, NGOs, researchers</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Team Contribution</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280678673"/>
              </p:ext>
            </p:extLst>
          </p:nvPr>
        </p:nvGraphicFramePr>
        <p:xfrm>
          <a:off x="698269" y="2015837"/>
          <a:ext cx="11091672" cy="1975104"/>
        </p:xfrm>
        <a:graphic>
          <a:graphicData uri="http://schemas.openxmlformats.org/drawingml/2006/table">
            <a:tbl>
              <a:tblPr/>
              <a:tblGrid>
                <a:gridCol w="22860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5788152">
                  <a:extLst>
                    <a:ext uri="{9D8B030D-6E8A-4147-A177-3AD203B41FA5}">
                      <a16:colId xmlns:a16="http://schemas.microsoft.com/office/drawing/2014/main" val="20002"/>
                    </a:ext>
                  </a:extLst>
                </a:gridCol>
              </a:tblGrid>
              <a:tr h="457200">
                <a:tc>
                  <a:txBody>
                    <a:bodyPr/>
                    <a:lstStyle/>
                    <a:p>
                      <a:pPr marL="0" indent="0">
                        <a:buNone/>
                      </a:pPr>
                      <a:r>
                        <a:rPr lang="en-US" sz="1400" b="1" dirty="0">
                          <a:solidFill>
                            <a:srgbClr val="FFFFFF"/>
                          </a:solidFill>
                        </a:rPr>
                        <a:t>Reg. No.</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Name</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Contribution / Modules Handled</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rgbClr val="1B1F2A"/>
                          </a:solidFill>
                        </a:rPr>
                        <a:t>2420030300</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Siril Punna</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Data ingestion and preprocessing module; data and methodology report sections</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rgbClr val="1B1F2A"/>
                          </a:solidFill>
                        </a:rPr>
                        <a:t>2420030169</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D. Dinesh Kumar</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EDA and feature engineering module; visualisations and report sections</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400" dirty="0">
                          <a:solidFill>
                            <a:srgbClr val="1B1F2A"/>
                          </a:solidFill>
                        </a:rPr>
                        <a:t>2420030320</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T. Sri Vatsav</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ML modelling and evaluation module; dashboard integration and results</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References</a:t>
            </a:r>
            <a:endParaRPr lang="en-US" sz="3200" dirty="0"/>
          </a:p>
        </p:txBody>
      </p:sp>
      <p:sp>
        <p:nvSpPr>
          <p:cNvPr id="4" name="Text 1"/>
          <p:cNvSpPr txBox="1"/>
          <p:nvPr/>
        </p:nvSpPr>
        <p:spPr>
          <a:xfrm>
            <a:off x="548640" y="1371600"/>
            <a:ext cx="6949440" cy="4663440"/>
          </a:xfrm>
          <a:prstGeom prst="rect">
            <a:avLst/>
          </a:prstGeom>
          <a:noFill/>
          <a:ln/>
        </p:spPr>
        <p:txBody>
          <a:bodyPr wrap="square" lIns="0" tIns="0" rIns="0" bIns="0" rtlCol="0" anchor="t"/>
          <a:lstStyle/>
          <a:p>
            <a:pPr marL="0" indent="0">
              <a:spcAft>
                <a:spcPts val="1200"/>
              </a:spcAft>
              <a:buNone/>
            </a:pPr>
            <a:r>
              <a:rPr lang="en-US" sz="1600" dirty="0">
                <a:solidFill>
                  <a:schemeClr val="tx1"/>
                </a:solidFill>
              </a:rPr>
              <a:t>[1] Wang, Song, and Bi, “Optimizing public health management with predictive analytics: Leveraging the power of random forest,” 2025.</a:t>
            </a:r>
            <a:endParaRPr lang="en-US" sz="1600" dirty="0"/>
          </a:p>
          <a:p>
            <a:pPr marL="0" indent="0">
              <a:spcAft>
                <a:spcPts val="1200"/>
              </a:spcAft>
              <a:buNone/>
            </a:pPr>
            <a:r>
              <a:rPr lang="en-US" sz="1600" dirty="0">
                <a:solidFill>
                  <a:schemeClr val="tx1"/>
                </a:solidFill>
              </a:rPr>
              <a:t>[2] Chen and Long, “Predicting arthritis risk with machine learning: Insights from the 2023 National Health Interview Survey data,” 2025.</a:t>
            </a:r>
            <a:endParaRPr lang="en-US" sz="1600" dirty="0"/>
          </a:p>
          <a:p>
            <a:pPr marL="0" indent="0">
              <a:spcAft>
                <a:spcPts val="1200"/>
              </a:spcAft>
              <a:buNone/>
            </a:pPr>
            <a:r>
              <a:rPr lang="en-US" sz="1600" dirty="0">
                <a:solidFill>
                  <a:schemeClr val="tx1"/>
                </a:solidFill>
              </a:rPr>
              <a:t>[3] Liu, Krentz, Lu, and Curcin, “Machine learning based prediction models for cardiovascular disease risk using electronic health records data: Systematic review and meta-analysis,” 2025.</a:t>
            </a:r>
            <a:endParaRPr lang="en-US" sz="1600" dirty="0"/>
          </a:p>
          <a:p>
            <a:pPr marL="0" indent="0">
              <a:spcAft>
                <a:spcPts val="1200"/>
              </a:spcAft>
              <a:buNone/>
            </a:pPr>
            <a:r>
              <a:rPr lang="en-US" sz="1600" dirty="0">
                <a:solidFill>
                  <a:schemeClr val="tx1"/>
                </a:solidFill>
              </a:rPr>
              <a:t>[4] Dhanda et al., “Advancement in public health through machine learning: A narrative review of opportunities and ethical considerations,” 2025.</a:t>
            </a:r>
            <a:endParaRPr lang="en-US" sz="1600" dirty="0"/>
          </a:p>
          <a:p>
            <a:pPr marL="0" indent="0">
              <a:spcAft>
                <a:spcPts val="1200"/>
              </a:spcAft>
              <a:buNone/>
            </a:pPr>
            <a:r>
              <a:rPr lang="en-US" sz="1600" dirty="0">
                <a:solidFill>
                  <a:schemeClr val="tx1"/>
                </a:solidFill>
              </a:rPr>
              <a:t>[5] International Institute for Population Sciences, “National Family Health Survey (NFHS),” [Online]. Available: http://rchiips.org/nfhs</a:t>
            </a:r>
            <a:endParaRPr lang="en-US" sz="1600" dirty="0"/>
          </a:p>
        </p:txBody>
      </p:sp>
      <p:sp>
        <p:nvSpPr>
          <p:cNvPr id="5" name="Card"/>
          <p:cNvSpPr/>
          <p:nvPr/>
        </p:nvSpPr>
        <p:spPr>
          <a:xfrm>
            <a:off x="7772400" y="1371600"/>
            <a:ext cx="3867912" cy="4663440"/>
          </a:xfrm>
          <a:prstGeom prst="roundRect">
            <a:avLst>
              <a:gd name="adj" fmla="val 2837"/>
            </a:avLst>
          </a:prstGeom>
          <a:solidFill>
            <a:schemeClr val="bg2"/>
          </a:solidFill>
          <a:ln/>
        </p:spPr>
        <p:txBody>
          <a:bodyPr/>
          <a:lstStyle/>
          <a:p>
            <a:endParaRPr lang="en-IN"/>
          </a:p>
        </p:txBody>
      </p:sp>
      <p:sp>
        <p:nvSpPr>
          <p:cNvPr id="6" name="Icon badge"/>
          <p:cNvSpPr/>
          <p:nvPr/>
        </p:nvSpPr>
        <p:spPr>
          <a:xfrm>
            <a:off x="8046720" y="1554480"/>
            <a:ext cx="502920" cy="502920"/>
          </a:xfrm>
          <a:prstGeom prst="ellipse">
            <a:avLst/>
          </a:prstGeom>
          <a:solidFill>
            <a:schemeClr val="accent1"/>
          </a:solidFill>
          <a:ln/>
        </p:spPr>
        <p:txBody>
          <a:bodyPr/>
          <a:lstStyle/>
          <a:p>
            <a:endParaRPr lang="en-IN"/>
          </a:p>
        </p:txBody>
      </p:sp>
      <p:pic>
        <p:nvPicPr>
          <p:cNvPr id="7" name="Image 0" descr="Link icon"/>
          <p:cNvPicPr>
            <a:picLocks noChangeAspect="1"/>
          </p:cNvPicPr>
          <p:nvPr/>
        </p:nvPicPr>
        <p:blipFill>
          <a:blip r:embed="rId3"/>
          <a:stretch>
            <a:fillRect/>
          </a:stretch>
        </p:blipFill>
        <p:spPr>
          <a:xfrm>
            <a:off x="8157362" y="1665122"/>
            <a:ext cx="281635" cy="281635"/>
          </a:xfrm>
          <a:prstGeom prst="rect">
            <a:avLst/>
          </a:prstGeom>
        </p:spPr>
      </p:pic>
      <p:sp>
        <p:nvSpPr>
          <p:cNvPr id="8" name="Text 4"/>
          <p:cNvSpPr txBox="1"/>
          <p:nvPr/>
        </p:nvSpPr>
        <p:spPr>
          <a:xfrm>
            <a:off x="8732520" y="1554480"/>
            <a:ext cx="2743200" cy="502920"/>
          </a:xfrm>
          <a:prstGeom prst="rect">
            <a:avLst/>
          </a:prstGeom>
          <a:noFill/>
          <a:ln/>
        </p:spPr>
        <p:txBody>
          <a:bodyPr wrap="square" lIns="0" tIns="0" rIns="0" bIns="0" rtlCol="0" anchor="ctr"/>
          <a:lstStyle/>
          <a:p>
            <a:pPr marL="0" indent="0">
              <a:buNone/>
            </a:pPr>
            <a:r>
              <a:rPr lang="en-US" sz="1800" b="1" dirty="0">
                <a:solidFill>
                  <a:schemeClr val="tx2"/>
                </a:solidFill>
              </a:rPr>
              <a:t>Project Links</a:t>
            </a:r>
            <a:endParaRPr lang="en-US" sz="1800" dirty="0"/>
          </a:p>
        </p:txBody>
      </p:sp>
      <p:sp>
        <p:nvSpPr>
          <p:cNvPr id="9" name="Text 5"/>
          <p:cNvSpPr txBox="1"/>
          <p:nvPr/>
        </p:nvSpPr>
        <p:spPr>
          <a:xfrm>
            <a:off x="8046720" y="2286000"/>
            <a:ext cx="3383280" cy="1280160"/>
          </a:xfrm>
          <a:prstGeom prst="rect">
            <a:avLst/>
          </a:prstGeom>
          <a:noFill/>
          <a:ln/>
        </p:spPr>
        <p:txBody>
          <a:bodyPr wrap="square" lIns="0" tIns="0" rIns="0" bIns="0" rtlCol="0" anchor="t"/>
          <a:lstStyle/>
          <a:p>
            <a:pPr marL="0" indent="0">
              <a:buNone/>
            </a:pPr>
            <a:r>
              <a:rPr lang="en-US" sz="1400" b="1" dirty="0">
                <a:solidFill>
                  <a:schemeClr val="tx1"/>
                </a:solidFill>
              </a:rPr>
              <a:t>GitHub: </a:t>
            </a:r>
            <a:r>
              <a:rPr lang="en-US" sz="1400" dirty="0">
                <a:solidFill>
                  <a:schemeClr val="tx1"/>
                </a:solidFill>
              </a:rPr>
              <a:t>[URL]</a:t>
            </a:r>
            <a:endParaRPr lang="en-US" sz="1400" dirty="0"/>
          </a:p>
          <a:p>
            <a:pPr marL="0" indent="0">
              <a:buNone/>
            </a:pPr>
            <a:r>
              <a:rPr lang="en-US" sz="1400" b="1" dirty="0">
                <a:solidFill>
                  <a:schemeClr val="tx1"/>
                </a:solidFill>
              </a:rPr>
              <a:t>Dataset: </a:t>
            </a:r>
            <a:r>
              <a:rPr lang="en-US" sz="1400" dirty="0">
                <a:solidFill>
                  <a:schemeClr val="tx1"/>
                </a:solidFill>
              </a:rPr>
              <a:t>NFHS (rchiips.org/nfhs)</a:t>
            </a:r>
            <a:endParaRPr lang="en-US" sz="1400" dirty="0"/>
          </a:p>
          <a:p>
            <a:pPr marL="0" indent="0">
              <a:buNone/>
            </a:pPr>
            <a:r>
              <a:rPr lang="en-US" sz="1400" b="1" dirty="0">
                <a:solidFill>
                  <a:schemeClr val="tx1"/>
                </a:solidFill>
              </a:rPr>
              <a:t>Demo video: </a:t>
            </a:r>
            <a:r>
              <a:rPr lang="en-US" sz="1400" dirty="0">
                <a:solidFill>
                  <a:schemeClr val="tx1"/>
                </a:solidFill>
              </a:rPr>
              <a:t>[URL]</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731520" y="2011680"/>
            <a:ext cx="7680960" cy="1188720"/>
          </a:xfrm>
          <a:prstGeom prst="rect">
            <a:avLst/>
          </a:prstGeom>
          <a:noFill/>
          <a:ln/>
        </p:spPr>
        <p:txBody>
          <a:bodyPr wrap="square" lIns="0" tIns="0" rIns="0" bIns="0" rtlCol="0" anchor="b"/>
          <a:lstStyle/>
          <a:p>
            <a:pPr marL="0" indent="0" algn="l">
              <a:buNone/>
            </a:pPr>
            <a:r>
              <a:rPr lang="en-US" sz="5400" b="1" dirty="0">
                <a:solidFill>
                  <a:schemeClr val="bg1"/>
                </a:solidFill>
              </a:rPr>
              <a:t>THANK YOU</a:t>
            </a:r>
            <a:endParaRPr lang="en-US" sz="5400" dirty="0"/>
          </a:p>
        </p:txBody>
      </p:sp>
      <p:sp>
        <p:nvSpPr>
          <p:cNvPr id="3" name="Text 1"/>
          <p:cNvSpPr>
            <a:spLocks noGrp="1"/>
          </p:cNvSpPr>
          <p:nvPr>
            <p:ph type="body" idx="103" hasCustomPrompt="1"/>
          </p:nvPr>
        </p:nvSpPr>
        <p:spPr>
          <a:xfrm>
            <a:off x="731520" y="3383280"/>
            <a:ext cx="7680960" cy="548640"/>
          </a:xfrm>
          <a:prstGeom prst="rect">
            <a:avLst/>
          </a:prstGeom>
          <a:noFill/>
          <a:ln/>
        </p:spPr>
        <p:txBody>
          <a:bodyPr wrap="square" lIns="0" tIns="0" rIns="0" bIns="0" rtlCol="0"/>
          <a:lstStyle/>
          <a:p>
            <a:pPr marL="0" indent="0">
              <a:buNone/>
            </a:pPr>
            <a:r>
              <a:rPr lang="en-US" sz="2400" dirty="0">
                <a:solidFill>
                  <a:schemeClr val="bg2"/>
                </a:solidFill>
              </a:rPr>
              <a:t>Questions &amp; Discussion</a:t>
            </a:r>
            <a:endParaRPr lang="en-US" sz="2400" dirty="0"/>
          </a:p>
        </p:txBody>
      </p:sp>
      <p:sp>
        <p:nvSpPr>
          <p:cNvPr id="4" name="Text 1"/>
          <p:cNvSpPr>
            <a:spLocks noGrp="1"/>
          </p:cNvSpPr>
          <p:nvPr>
            <p:ph type="body" idx="104" hasCustomPrompt="1"/>
          </p:nvPr>
        </p:nvSpPr>
        <p:spPr>
          <a:xfrm>
            <a:off x="731520" y="4297680"/>
            <a:ext cx="6949440" cy="1463040"/>
          </a:xfrm>
          <a:prstGeom prst="rect">
            <a:avLst/>
          </a:prstGeom>
          <a:noFill/>
          <a:ln/>
        </p:spPr>
        <p:txBody>
          <a:bodyPr wrap="square" lIns="0" tIns="0" rIns="0" bIns="0" rtlCol="0" anchor="t"/>
          <a:lstStyle/>
          <a:p>
            <a:pPr marL="0" indent="0">
              <a:spcAft>
                <a:spcPts val="600"/>
              </a:spcAft>
              <a:buNone/>
            </a:pPr>
            <a:r>
              <a:rPr lang="en-US" sz="1600" dirty="0">
                <a:solidFill>
                  <a:schemeClr val="bg1"/>
                </a:solidFill>
              </a:rPr>
              <a:t>Team 20: Siril Punna  |  D. Dinesh Kumar  |  T. Sri Vatsav</a:t>
            </a:r>
            <a:endParaRPr lang="en-US" sz="1600" dirty="0"/>
          </a:p>
          <a:p>
            <a:pPr marL="0" indent="0">
              <a:spcAft>
                <a:spcPts val="600"/>
              </a:spcAft>
              <a:buNone/>
            </a:pPr>
            <a:r>
              <a:rPr lang="en-US" sz="1600" dirty="0">
                <a:solidFill>
                  <a:schemeClr val="bg1"/>
                </a:solidFill>
              </a:rPr>
              <a:t>Guide: Dr. N. Sunanda, Dept. of CSE, KLH Bowrampet Campus</a:t>
            </a:r>
            <a:endParaRPr lang="en-US" sz="1600" dirty="0"/>
          </a:p>
        </p:txBody>
      </p:sp>
    </p:spTree>
  </p:cSld>
  <p:clrMapOvr>
    <a:masterClrMapping/>
  </p:clrMapOvr>
</p:sld>
</file>

<file path=ppt/theme/theme1.xml><?xml version="1.0" encoding="utf-8"?>
<a:theme xmlns:a="http://schemas.openxmlformats.org/drawingml/2006/main" name="Project Review">
  <a:themeElements>
    <a:clrScheme name="Project Review">
      <a:dk1>
        <a:srgbClr val="1B1F2A"/>
      </a:dk1>
      <a:lt1>
        <a:srgbClr val="FFFFFF"/>
      </a:lt1>
      <a:dk2>
        <a:srgbClr val="0B3C5D"/>
      </a:dk2>
      <a:lt2>
        <a:srgbClr val="EEF3F7"/>
      </a:lt2>
      <a:accent1>
        <a:srgbClr val="0B7A75"/>
      </a:accent1>
      <a:accent2>
        <a:srgbClr val="E58E2A"/>
      </a:accent2>
      <a:accent3>
        <a:srgbClr val="3E7CB1"/>
      </a:accent3>
      <a:accent4>
        <a:srgbClr val="C8434F"/>
      </a:accent4>
      <a:accent5>
        <a:srgbClr val="5F6B76"/>
      </a:accent5>
      <a:accent6>
        <a:srgbClr val="7A9E9F"/>
      </a:accent6>
      <a:hlink>
        <a:srgbClr val="0B7A75"/>
      </a:hlink>
      <a:folHlink>
        <a:srgbClr val="5F6B76"/>
      </a:folHlink>
    </a:clrScheme>
    <a:fontScheme name="Project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2447</Words>
  <Application>Microsoft Office PowerPoint</Application>
  <PresentationFormat>Widescreen</PresentationFormat>
  <Paragraphs>392</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Courier New</vt:lpstr>
      <vt:lpstr>Project Review</vt:lpstr>
      <vt:lpstr>[PROJECT TITLE IN CAPITALS – MAX 2 LINES]</vt:lpstr>
      <vt:lpstr>Introduction &amp; Problem Statement</vt:lpstr>
      <vt:lpstr>Objectives &amp; Scope</vt:lpstr>
      <vt:lpstr>Literature Survey</vt:lpstr>
      <vt:lpstr>Proposed System &amp; Methodology</vt:lpstr>
      <vt:lpstr>System Architecture</vt:lpstr>
      <vt:lpstr>Hardware &amp; Software Requirements</vt:lpstr>
      <vt:lpstr>Dataset / Data Understanding</vt:lpstr>
      <vt:lpstr>Data Preprocessing &amp; Exploratory Analysis</vt:lpstr>
      <vt:lpstr>Module-wise Description</vt:lpstr>
      <vt:lpstr>Algorithms &amp; Technologies Used</vt:lpstr>
      <vt:lpstr>Implementation / Model Building</vt:lpstr>
      <vt:lpstr>Working Prototype / Output Screens</vt:lpstr>
      <vt:lpstr>Results &amp; Performance Comparison</vt:lpstr>
      <vt:lpstr>Analysis &amp; Key Findings</vt:lpstr>
      <vt:lpstr>Testing &amp; Validation</vt:lpstr>
      <vt:lpstr>Challenges &amp; Limitations</vt:lpstr>
      <vt:lpstr>Conclusion</vt:lpstr>
      <vt:lpstr>Future Scope &amp; Applications</vt:lpstr>
      <vt:lpstr>Team Contribution</vt:lpstr>
      <vt:lpstr>References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Presentation Template</dc:title>
  <dc:subject>PptxGenJS Presentation</dc:subject>
  <dc:creator>PptxGenJS</dc:creator>
  <cp:lastModifiedBy>SAI  KRISHNA</cp:lastModifiedBy>
  <cp:revision>2</cp:revision>
  <dcterms:created xsi:type="dcterms:W3CDTF">2026-10-27T09:31:48Z</dcterms:created>
  <dcterms:modified xsi:type="dcterms:W3CDTF">2026-10-27T09:36:49Z</dcterms:modified>
</cp:coreProperties>
</file>